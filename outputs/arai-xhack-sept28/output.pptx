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1f2ad79585486e" /><Relationship Type="http://schemas.openxmlformats.org/officeDocument/2006/relationships/extended-properties" Target="/docProps/app.xml" Id="R3930234db14f4603" /><Relationship Type="http://schemas.openxmlformats.org/officeDocument/2006/relationships/officeDocument" Target="/ppt/presentation.xml" Id="R63f2778770a347d8" /></Relationships>
</file>

<file path=ppt/presentation.xml><?xml version="1.0" encoding="utf-8"?>
<p:presentation xmlns:p="http://schemas.openxmlformats.org/presentationml/2006/main">
  <p:sldMasterIdLst>
    <p:sldMasterId xmlns:r="http://schemas.openxmlformats.org/officeDocument/2006/relationships" id="2147483648" r:id="Rdcecf53805e6407b"/>
  </p:sldMasterIdLst>
  <p:notesMasterIdLst>
    <p:notesMasterId xmlns:r="http://schemas.openxmlformats.org/officeDocument/2006/relationships" r:id="R5e1e4edef2e743b5"/>
  </p:notesMasterIdLst>
  <p:sldIdLst>
    <p:sldId xmlns:r="http://schemas.openxmlformats.org/officeDocument/2006/relationships" id="256" r:id="Rcc72108a74cb42d2"/>
    <p:sldId xmlns:r="http://schemas.openxmlformats.org/officeDocument/2006/relationships" id="257" r:id="R9b2dfee804ed4571"/>
    <p:sldId xmlns:r="http://schemas.openxmlformats.org/officeDocument/2006/relationships" id="258" r:id="R0a96e1436615491b"/>
    <p:sldId xmlns:r="http://schemas.openxmlformats.org/officeDocument/2006/relationships" id="259" r:id="R5a0f4a60145e4ce8"/>
    <p:sldId xmlns:r="http://schemas.openxmlformats.org/officeDocument/2006/relationships" id="260" r:id="Rd8eaa3bcb445415a"/>
    <p:sldId xmlns:r="http://schemas.openxmlformats.org/officeDocument/2006/relationships" id="261" r:id="Rc21c5aca480541f8"/>
    <p:sldId xmlns:r="http://schemas.openxmlformats.org/officeDocument/2006/relationships" id="262" r:id="R9d0b5f3790934005"/>
    <p:sldId xmlns:r="http://schemas.openxmlformats.org/officeDocument/2006/relationships" id="263" r:id="Rcd82a064c5ab450f"/>
    <p:sldId xmlns:r="http://schemas.openxmlformats.org/officeDocument/2006/relationships" id="264" r:id="Rf374d852da6942a7"/>
    <p:sldId xmlns:r="http://schemas.openxmlformats.org/officeDocument/2006/relationships" id="265" r:id="R44180f3979894377"/>
    <p:sldId xmlns:r="http://schemas.openxmlformats.org/officeDocument/2006/relationships" id="266" r:id="R72bcd86fe6e34c29"/>
    <p:sldId xmlns:r="http://schemas.openxmlformats.org/officeDocument/2006/relationships" id="267" r:id="Rdde503be310e4797"/>
    <p:sldId xmlns:r="http://schemas.openxmlformats.org/officeDocument/2006/relationships" id="268" r:id="R1d77e8fd50d441bf"/>
    <p:sldId xmlns:r="http://schemas.openxmlformats.org/officeDocument/2006/relationships" id="269" r:id="R871f982189424e3d"/>
    <p:sldId xmlns:r="http://schemas.openxmlformats.org/officeDocument/2006/relationships" id="270" r:id="R55aa59fd481c4ee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cecf53805e6407b" /><Relationship Type="http://schemas.openxmlformats.org/officeDocument/2006/relationships/theme" Target="/ppt/theme/theme1.xml" Id="R3f2ec18dd2ea421b" /><Relationship Type="http://schemas.openxmlformats.org/officeDocument/2006/relationships/notesMaster" Target="/ppt/notesMasters/notesMaster1.xml" Id="R5e1e4edef2e743b5" /><Relationship Type="http://schemas.openxmlformats.org/officeDocument/2006/relationships/presProps" Target="/ppt/presProps.xml" Id="R3fbf6e7357fd4491" /><Relationship Type="http://schemas.openxmlformats.org/officeDocument/2006/relationships/viewProps" Target="/ppt/viewProps.xml" Id="R12a8a6c45f7a4906" /><Relationship Type="http://schemas.openxmlformats.org/officeDocument/2006/relationships/tableStyles" Target="/ppt/tableStyles.xml" Id="Ra55c026e77504ddc" /><Relationship Type="http://schemas.openxmlformats.org/officeDocument/2006/relationships/slide" Target="/ppt/slides/slide1.xml" Id="Rcc72108a74cb42d2" /><Relationship Type="http://schemas.openxmlformats.org/officeDocument/2006/relationships/slide" Target="/ppt/slides/slide2.xml" Id="R9b2dfee804ed4571" /><Relationship Type="http://schemas.openxmlformats.org/officeDocument/2006/relationships/slide" Target="/ppt/slides/slide3.xml" Id="R0a96e1436615491b" /><Relationship Type="http://schemas.openxmlformats.org/officeDocument/2006/relationships/slide" Target="/ppt/slides/slide4.xml" Id="R5a0f4a60145e4ce8" /><Relationship Type="http://schemas.openxmlformats.org/officeDocument/2006/relationships/slide" Target="/ppt/slides/slide5.xml" Id="Rd8eaa3bcb445415a" /><Relationship Type="http://schemas.openxmlformats.org/officeDocument/2006/relationships/slide" Target="/ppt/slides/slide6.xml" Id="Rc21c5aca480541f8" /><Relationship Type="http://schemas.openxmlformats.org/officeDocument/2006/relationships/slide" Target="/ppt/slides/slide7.xml" Id="R9d0b5f3790934005" /><Relationship Type="http://schemas.openxmlformats.org/officeDocument/2006/relationships/slide" Target="/ppt/slides/slide8.xml" Id="Rcd82a064c5ab450f" /><Relationship Type="http://schemas.openxmlformats.org/officeDocument/2006/relationships/slide" Target="/ppt/slides/slide9.xml" Id="Rf374d852da6942a7" /><Relationship Type="http://schemas.openxmlformats.org/officeDocument/2006/relationships/slide" Target="/ppt/slides/slide10.xml" Id="R44180f3979894377" /><Relationship Type="http://schemas.openxmlformats.org/officeDocument/2006/relationships/slide" Target="/ppt/slides/slide11.xml" Id="R72bcd86fe6e34c29" /><Relationship Type="http://schemas.openxmlformats.org/officeDocument/2006/relationships/slide" Target="/ppt/slides/slide12.xml" Id="Rdde503be310e4797" /><Relationship Type="http://schemas.openxmlformats.org/officeDocument/2006/relationships/slide" Target="/ppt/slides/slide13.xml" Id="R1d77e8fd50d441bf" /><Relationship Type="http://schemas.openxmlformats.org/officeDocument/2006/relationships/slide" Target="/ppt/slides/slide14.xml" Id="R871f982189424e3d" /><Relationship Type="http://schemas.openxmlformats.org/officeDocument/2006/relationships/slide" Target="/ppt/slides/slide15.xml" Id="R55aa59fd481c4e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3b26ebd4f7a40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256c0065a9411f" /><Relationship Type="http://schemas.openxmlformats.org/officeDocument/2006/relationships/notesMaster" Target="/ppt/notesMasters/notesMaster1.xml" Id="R4b533e4271884d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25acb95eb84705" /><Relationship Type="http://schemas.openxmlformats.org/officeDocument/2006/relationships/notesMaster" Target="/ppt/notesMasters/notesMaster1.xml" Id="Ra3416e9b8a674a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3b5e62a90f43ac" /><Relationship Type="http://schemas.openxmlformats.org/officeDocument/2006/relationships/notesMaster" Target="/ppt/notesMasters/notesMaster1.xml" Id="R756fd66f26054e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000b4a26e94fa8" /><Relationship Type="http://schemas.openxmlformats.org/officeDocument/2006/relationships/notesMaster" Target="/ppt/notesMasters/notesMaster1.xml" Id="R088b97bc05394b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fe98c42ce44a1e" /><Relationship Type="http://schemas.openxmlformats.org/officeDocument/2006/relationships/notesMaster" Target="/ppt/notesMasters/notesMaster1.xml" Id="R899e8e884c6444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6e546f39284b58" /><Relationship Type="http://schemas.openxmlformats.org/officeDocument/2006/relationships/notesMaster" Target="/ppt/notesMasters/notesMaster1.xml" Id="R1374683bdc0d4c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a95295461a4129" /><Relationship Type="http://schemas.openxmlformats.org/officeDocument/2006/relationships/notesMaster" Target="/ppt/notesMasters/notesMaster1.xml" Id="R42956d5b61274c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6d8c9b89934ba9" /><Relationship Type="http://schemas.openxmlformats.org/officeDocument/2006/relationships/notesMaster" Target="/ppt/notesMasters/notesMaster1.xml" Id="R6b661ba4e6e84c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4e1cd5f06e40a7" /><Relationship Type="http://schemas.openxmlformats.org/officeDocument/2006/relationships/notesMaster" Target="/ppt/notesMasters/notesMaster1.xml" Id="Rda31394f5f184e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4717b7734c40dc" /><Relationship Type="http://schemas.openxmlformats.org/officeDocument/2006/relationships/notesMaster" Target="/ppt/notesMasters/notesMaster1.xml" Id="R7a9d90c3736a44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ca73b4d9db4c0a" /><Relationship Type="http://schemas.openxmlformats.org/officeDocument/2006/relationships/notesMaster" Target="/ppt/notesMasters/notesMaster1.xml" Id="Red3f457e6d4d42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2f71375f4c4a7d" /><Relationship Type="http://schemas.openxmlformats.org/officeDocument/2006/relationships/notesMaster" Target="/ppt/notesMasters/notesMaster1.xml" Id="Rc88a91a11d3a45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eda8b42d05d484e" /><Relationship Type="http://schemas.openxmlformats.org/officeDocument/2006/relationships/notesMaster" Target="/ppt/notesMasters/notesMaster1.xml" Id="R3793d126eb8f47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87e4e67b7c4a1b" /><Relationship Type="http://schemas.openxmlformats.org/officeDocument/2006/relationships/notesMaster" Target="/ppt/notesMasters/notesMaster1.xml" Id="Rf62787c01a3d47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d948eda6354086" /><Relationship Type="http://schemas.openxmlformats.org/officeDocument/2006/relationships/notesMaster" Target="/ppt/notesMasters/notesMaster1.xml" Id="Rd5fdf77b19dd4e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distinction: a return is an event, not proof of abuse. ARAI is a proposed investigation workbench for online apparel. The goal of this meeting is to align on a feasible design and delivery plan. Suggested main presentation time is 10–12 minutes; slides 13–15 are backup.</a:t>
            </a:r>
          </a:p>
          <a:p xmlns:a="http://schemas.openxmlformats.org/drawingml/2006/main">
            <a:r>
              <a:t/>
            </a:r>
          </a:p>
          <a:p xmlns:a="http://schemas.openxmlformats.org/drawingml/2006/main">
            <a:r>
              <a:t>Design baseline: components/01-goals-and-scope.md; components/13-react-vite-ui.md</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ambiguity before introducing any model. We do not claim a quantified business loss because no verified business dataset or cost model exists in this baseline. Benign heavy returners, defect-driven buyers and shared households are explicit controls in evaluation.</a:t>
            </a:r>
          </a:p>
          <a:p xmlns:a="http://schemas.openxmlformats.org/drawingml/2006/main">
            <a:r>
              <a:t/>
            </a:r>
          </a:p>
          <a:p xmlns:a="http://schemas.openxmlformats.org/drawingml/2006/main">
            <a:r>
              <a:t>Design baseline: components/01-goals-and-scope.md; components/02-synthetic-data-generation.md; components/08-model-evaluation.md</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produces one investigation ranking. Individual signal panels do not claim that a model predicted an abuse type. The fallback preserves a demonstrable end-to-end product even if no candidate clears the evaluation gate. This is a design choice, not a claim that a model has already passed.</a:t>
            </a:r>
          </a:p>
          <a:p xmlns:a="http://schemas.openxmlformats.org/drawingml/2006/main">
            <a:r>
              <a:t/>
            </a:r>
          </a:p>
          <a:p xmlns:a="http://schemas.openxmlformats.org/drawingml/2006/main">
            <a:r>
              <a:t>Design baseline: components/01-goals-and-scope.md; components/09-model-selection.md; components/11-inference-service.md</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fourth view is a category-relative timing indicator. It does not establish physical wear or proven wardrobing. Relationship evidence requires multiple identifier types and excludes high-fanout identifiers. The UI exposes context so an analyst can challenge the ranking.</a:t>
            </a:r>
          </a:p>
          <a:p xmlns:a="http://schemas.openxmlformats.org/drawingml/2006/main">
            <a:r>
              <a:t/>
            </a:r>
          </a:p>
          <a:p xmlns:a="http://schemas.openxmlformats.org/drawingml/2006/main">
            <a:r>
              <a:t>Design baseline: components/06-feature-engineering.md; components/13-react-vite-ui.md</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lane: construct deterministic worlds, validate data, compute features, train and compare candidates, then export an immutable inference bundle. Bottom lane: the client calls FastAPI; a single worker reads the bundle and operational tables, then records metadata and publishes artifacts atomically. The service accesses both the frozen bundle and storage; these are dependencies, not a serial bundle-to-database transform. Private truth is separated physically and contractually from inference input.</a:t>
            </a:r>
          </a:p>
          <a:p xmlns:a="http://schemas.openxmlformats.org/drawingml/2006/main">
            <a:r>
              <a:t/>
            </a:r>
          </a:p>
          <a:p xmlns:a="http://schemas.openxmlformats.org/drawingml/2006/main">
            <a:r>
              <a:t>Design baseline: components/03-data-contracts.md; components/10-artifacts-and-versioning.md; components/11-inference-service.md; components/12-fastapi-and-api-contract.md; components/14-storage-and-audit.md</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Catalog input contains 300 SKUs and 37 styles. Ten thousand profiles per world is the planned generator scale, not a completed dataset claim. The reference history is 10 September 2025 to 9 September 2026, cutoff 23:59:59 IST. Honest activity is created first; reserved units receive explicit abuse actions. Labels derive from completed submitted deception or temporary use, not from persona names or return volume.</a:t>
            </a:r>
          </a:p>
          <a:p xmlns:a="http://schemas.openxmlformats.org/drawingml/2006/main">
            <a:r>
              <a:t/>
            </a:r>
          </a:p>
          <a:p xmlns:a="http://schemas.openxmlformats.org/drawingml/2006/main">
            <a:r>
              <a:t>Design baseline: components/02-synthetic-data-generation.md; components/03-data-contracts.md; contracts/generator-config.yaml; contracts/private-truth.yaml</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five candidates use the same eligible population, features and review budget. Select on validation precision, then worst benign-group false-positive rate, then fixed ordinal. Freeze the selected fit and test once; do not search for a runner-up after test failure. Each validation benign group requires at least 200 pooled negatives. Sensitivity checks use 1% and 10% budgets. Three fixture worlds and seven stress worlds bring the overall seed plan to 31 distinct seeds. No performance results exist yet.</a:t>
            </a:r>
          </a:p>
          <a:p xmlns:a="http://schemas.openxmlformats.org/drawingml/2006/main">
            <a:r>
              <a:t/>
            </a:r>
          </a:p>
          <a:p xmlns:a="http://schemas.openxmlformats.org/drawingml/2006/main">
            <a:r>
              <a:t>Design baseline: components/07-training-and-validation.md; components/08-model-evaluation.md; components/09-model-selection.md; contracts/experiment.yaml</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image comes from the revised standalone wireframe already included in the portable spec. Its numbers are fixtures, not experiment outcomes. Key corrections from the original PDF are INR, apparel context, percentile rather than confidence, separate overall and wardrobing scores, product context and analyst notes. The wireframe can be demonstrated offline separately from this slide; no laptop-specific hyperlink is required by this PowerPoint.</a:t>
            </a:r>
          </a:p>
          <a:p xmlns:a="http://schemas.openxmlformats.org/drawingml/2006/main">
            <a:r>
              <a:t/>
            </a:r>
          </a:p>
          <a:p xmlns:a="http://schemas.openxmlformats.org/drawingml/2006/main">
            <a:r>
              <a:t>Design baseline: components/13-react-vite-ui.md; wireframe/index.html; verification/wireframe-case.png</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stack is specified, not installed or deployed as a completed system. Local-first packaging supports development on another machine. Secrets stay outside the portable spec. Optional VM hosting adds TLS, access control and private database networking after the local rehearsal works. Do not expand this slide into unverified performance or compatibility claims.</a:t>
            </a:r>
          </a:p>
          <a:p xmlns:a="http://schemas.openxmlformats.org/drawingml/2006/main">
            <a:r>
              <a:t/>
            </a:r>
          </a:p>
          <a:p xmlns:a="http://schemas.openxmlformats.org/drawingml/2006/main">
            <a:r>
              <a:t>Design baseline: components/07-training-and-validation.md; components/12-fastapi-and-api-contract.md; components/13-react-vite-ui.md; components/15-security-deployment-portability.md</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schedule is a proposal, not a claim that owners or deadlines have already been committed. Suggested ownership lanes are data/ML, backend/runtime and frontend/integration, with shared acceptance checks. Bootstrap a small fixture world, then prove a baseline-driven complete workflow before running the full experiment. Preserve the specified evaluation protocol; reduce presentation polish or defer cloud hosting if time is tight. Confirm the actual demo day within the existing November 1–14 target.</a:t>
            </a:r>
          </a:p>
          <a:p xmlns:a="http://schemas.openxmlformats.org/drawingml/2006/main">
            <a:r>
              <a:t/>
            </a:r>
          </a:p>
          <a:p xmlns:a="http://schemas.openxmlformats.org/drawingml/2006/main">
            <a:r>
              <a:t>Design baseline: components/16-testing-and-delivery.md; components/15-security-deployment-portability.md</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success establishes behavior within controlled worlds, not proven fraud detection in production. The baseline fallback is an intentional feasibility mechanism. Application failure handling includes idempotent submissions, stable run states, recoverable publication and durable audit records. Cloud deployment is optional after rehearsal.</a:t>
            </a:r>
          </a:p>
          <a:p xmlns:a="http://schemas.openxmlformats.org/drawingml/2006/main">
            <a:r>
              <a:t/>
            </a:r>
          </a:p>
          <a:p xmlns:a="http://schemas.openxmlformats.org/drawingml/2006/main">
            <a:r>
              <a:t>Design baseline: components/08-model-evaluation.md; components/11-inference-service.md; components/14-storage-and-audit.md; components/16-testing-and-delivery.md</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the main presentation here. The specifications and wireframe are ready; the 90 runtime acceptance criteria have not yet been executed against an implementation. We have not yet built or trained the product. Ask the reviewers to align on scope and architecture, assign owners and confirm the demo date. The next concrete milestone is a small reproducible world connected to the baseline-driven UI. Backup slides follow only if questions require them.</a:t>
            </a:r>
          </a:p>
          <a:p xmlns:a="http://schemas.openxmlformats.org/drawingml/2006/main">
            <a:r>
              <a:t/>
            </a:r>
          </a:p>
          <a:p xmlns:a="http://schemas.openxmlformats.org/drawingml/2006/main">
            <a:r>
              <a:t>Design baseline: README.md; components/16-testing-and-delivery.md; wireframe/index.html</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Maturity depends on delivery plus the captured return window being no later than the cutoff. Use customer-excluding hierarchical expectations to avoid using the customer to explain their own behavior. Graph evidence requires two types of shared identifiers and removes high-fanout identifiers. Category-relative timing supports a separate wardrobing indicator and does not infer physical condition.</a:t>
            </a:r>
          </a:p>
          <a:p xmlns:a="http://schemas.openxmlformats.org/drawingml/2006/main">
            <a:r>
              <a:t/>
            </a:r>
          </a:p>
          <a:p xmlns:a="http://schemas.openxmlformats.org/drawingml/2006/main">
            <a:r>
              <a:t>Design baseline: components/06-feature-engineering.md; contracts/features.yaml</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Histogram boosting has early stopping disabled. Supervised percentile references use grouped-world out-of-fold training scores; Isolation Forest uses in-sample training references. Select by validation top-budget precision, then worst benign-group FPR, then candidate ordinal. Freeze and evaluate once on held-out test worlds. No runtime training and no runner-up substitution after a failed test.</a:t>
            </a:r>
          </a:p>
          <a:p xmlns:a="http://schemas.openxmlformats.org/drawingml/2006/main">
            <a:r>
              <a:t/>
            </a:r>
          </a:p>
          <a:p xmlns:a="http://schemas.openxmlformats.org/drawingml/2006/main">
            <a:r>
              <a:t>Design baseline: components/07-training-and-validation.md; components/09-model-selection.md; contracts/experiment.yaml</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inference service independent of private truth. An idempotency key prevents accidental duplicate execution; durable status and atomic result publication handle failures consistently. Bundle versions tie together preprocessing, model and reference distribution. PostgreSQL holds metadata and audit; files hold immutable tabular results. Develop from the portable specification on another machine with no fixed author-laptop paths. Optional VM hosting comes after a working local rehearsal.</a:t>
            </a:r>
          </a:p>
          <a:p xmlns:a="http://schemas.openxmlformats.org/drawingml/2006/main">
            <a:r>
              <a:t/>
            </a:r>
          </a:p>
          <a:p xmlns:a="http://schemas.openxmlformats.org/drawingml/2006/main">
            <a:r>
              <a:t>Design baseline: components/10-artifacts-and-versioning.md; components/11-inference-service.md; components/12-fastapi-and-api-contract.md; components/14-storage-and-audit.md; components/15-security-deployment-portability.md</a:t>
            </a:r>
          </a:p>
          <a:p xmlns:a="http://schemas.openxmlformats.org/drawingml/2006/main">
            <a:r>
              <a:t>Status: proposed implementation unless explicitly marked ready. UI numbers are illustrative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01b3ed045548da"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7BAD5734-7BF7-4C3C-8FF5-FE810383CCED}"/>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BACF1208-0593-40D0-A1D1-AEB2F194F43C}"/>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B9FC9091-305A-46DC-94B8-7501DB678A1D}"/>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E76E77CF-E4FA-4FC9-8992-36F00E3EB9F7}"/>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C079EEF5-93DB-4637-85FD-B7D69086F5FA}"/>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dc16fb0819be4e76" /><Relationship Type="http://schemas.openxmlformats.org/officeDocument/2006/relationships/slideLayout" Target="/ppt/slideLayouts/slideLayout2.xml" Id="Rbbfc1d69ea2b43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7490BF0-E712-4D6E-B970-1332E62E0C1A}"/>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fc1d69ea2b43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dc4844f62b364329" /><Relationship Type="http://schemas.openxmlformats.org/officeDocument/2006/relationships/notesSlide" Target="/ppt/notesSlides/notesSlide1.xml" Id="Rccf3a4be62024d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3f3aeedbea345d1" /><Relationship Type="http://schemas.openxmlformats.org/officeDocument/2006/relationships/notesSlide" Target="/ppt/notesSlides/notesSlide2.xml" Id="Rfe01f46c7c3c45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bcdb5dcd7b74d25" /><Relationship Type="http://schemas.openxmlformats.org/officeDocument/2006/relationships/notesSlide" Target="/ppt/notesSlides/notesSlide3.xml" Id="R0cc313fd5ea14b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85bdccff8c549fb" /><Relationship Type="http://schemas.openxmlformats.org/officeDocument/2006/relationships/notesSlide" Target="/ppt/notesSlides/notesSlide4.xml" Id="Rf559b86551a741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81c0c6840754cb9" /><Relationship Type="http://schemas.openxmlformats.org/officeDocument/2006/relationships/notesSlide" Target="/ppt/notesSlides/notesSlide5.xml" Id="R8f8b1963170a4d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985583d4bb0414c" /><Relationship Type="http://schemas.openxmlformats.org/officeDocument/2006/relationships/notesSlide" Target="/ppt/notesSlides/notesSlide6.xml" Id="R9e18056ffba346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e9fb10fedaf4155" /><Relationship Type="http://schemas.openxmlformats.org/officeDocument/2006/relationships/notesSlide" Target="/ppt/notesSlides/notesSlide7.xml" Id="R831c5389db6d4d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4087ff394364685" /><Relationship Type="http://schemas.openxmlformats.org/officeDocument/2006/relationships/image" Target="/ppt/media/image.png" Id="R3cf32abd65b3427e" /><Relationship Type="http://schemas.openxmlformats.org/officeDocument/2006/relationships/notesSlide" Target="/ppt/notesSlides/notesSlide8.xml" Id="R136a69809d3047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758c7011bfc4be0" /><Relationship Type="http://schemas.openxmlformats.org/officeDocument/2006/relationships/notesSlide" Target="/ppt/notesSlides/notesSlide9.xml" Id="R32bce91726b241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4cdfac06a82429c" /><Relationship Type="http://schemas.openxmlformats.org/officeDocument/2006/relationships/notesSlide" Target="/ppt/notesSlides/notesSlide10.xml" Id="R6bb73101d39346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2bb6b413e9740ba" /><Relationship Type="http://schemas.openxmlformats.org/officeDocument/2006/relationships/notesSlide" Target="/ppt/notesSlides/notesSlide11.xml" Id="R5cda0974a12b4e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7706e3f646d48df" /><Relationship Type="http://schemas.openxmlformats.org/officeDocument/2006/relationships/notesSlide" Target="/ppt/notesSlides/notesSlide12.xml" Id="R85b8282bfc5641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d44ffab31e04821" /><Relationship Type="http://schemas.openxmlformats.org/officeDocument/2006/relationships/notesSlide" Target="/ppt/notesSlides/notesSlide13.xml" Id="Red0aeb9d0c0349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532c58ecab47430b" /><Relationship Type="http://schemas.openxmlformats.org/officeDocument/2006/relationships/notesSlide" Target="/ppt/notesSlides/notesSlide14.xml" Id="Rf0bcf580b7954b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11f55a47582a4dcb" /><Relationship Type="http://schemas.openxmlformats.org/officeDocument/2006/relationships/notesSlide" Target="/ppt/notesSlides/notesSlide15.xml" Id="Rf4ae4e050d824d9a" /></Relationships>
</file>

<file path=ppt/slides/slide1.xml><?xml version="1.0" encoding="utf-8"?>
<p:sld xmlns:p="http://schemas.openxmlformats.org/presentationml/2006/main">
  <p:cSld>
    <p:bg>
      <p:bgPr>
        <a:solidFill xmlns:a="http://schemas.openxmlformats.org/drawingml/2006/main">
          <a:srgbClr val="153C32"/>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F0A1E269-B671-487C-93B8-E714D15FE465}"/>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DDEBDD"/>
                </a:solidFill>
              </a:rPr>
              <a:t>ARAI  /  XHACK 2026</a:t>
            </a:r>
          </a:p>
        </p:txBody>
      </p:sp>
      <p:sp>
        <p:nvSpPr>
          <p:cNvPr id="3" name="">
            <a:extLst xmlns:a="http://schemas.openxmlformats.org/drawingml/2006/main">
              <a:ext uri="{FF2B5EF4-FFF2-40B4-BE49-F238E27FC236}">
                <a16:creationId xmlns:a16="http://schemas.microsoft.com/office/drawing/2014/main" id="{9134D896-4E57-48A7-BF4C-B8B6A41CC34D}"/>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DDEBDD"/>
                </a:solidFill>
              </a:rPr>
              <a:t>DESIGN REVIEW</a:t>
            </a:r>
          </a:p>
        </p:txBody>
      </p:sp>
      <p:sp>
        <p:nvSpPr>
          <p:cNvPr id="4" name="">
            <a:extLst xmlns:a="http://schemas.openxmlformats.org/drawingml/2006/main">
              <a:ext uri="{FF2B5EF4-FFF2-40B4-BE49-F238E27FC236}">
                <a16:creationId xmlns:a16="http://schemas.microsoft.com/office/drawing/2014/main" id="{56EAD9C1-5274-463B-9A6D-DB944D6A3BC2}"/>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396052"/>
          </a:solidFill>
          <a:ln xmlns:a="http://schemas.openxmlformats.org/drawingml/2006/main" w="9525">
            <a:solidFill>
              <a:srgbClr val="396052"/>
            </a:solidFill>
            <a:prstDash val="solid"/>
          </a:ln>
        </p:spPr>
      </p:sp>
      <p:sp>
        <p:nvSpPr>
          <p:cNvPr id="5" name="">
            <a:extLst xmlns:a="http://schemas.openxmlformats.org/drawingml/2006/main">
              <a:ext uri="{FF2B5EF4-FFF2-40B4-BE49-F238E27FC236}">
                <a16:creationId xmlns:a16="http://schemas.microsoft.com/office/drawing/2014/main" id="{F92D1AA3-9053-4B6D-90DD-AB20A54D59BA}"/>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DDEBDD"/>
                </a:solidFill>
              </a:rPr>
              <a:t>DESIGN PRESENTATION  •  28 SEPTEMBER 2026</a:t>
            </a:r>
          </a:p>
        </p:txBody>
      </p:sp>
      <p:sp>
        <p:nvSpPr>
          <p:cNvPr id="6" name="">
            <a:extLst xmlns:a="http://schemas.openxmlformats.org/drawingml/2006/main">
              <a:ext uri="{FF2B5EF4-FFF2-40B4-BE49-F238E27FC236}">
                <a16:creationId xmlns:a16="http://schemas.microsoft.com/office/drawing/2014/main" id="{37BE8209-AD80-4F99-A1EA-6C4972933E4B}"/>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DDEBDD"/>
                </a:solidFill>
              </a:rPr>
              <a:t>01</a:t>
            </a:r>
          </a:p>
        </p:txBody>
      </p:sp>
      <p:sp>
        <p:nvSpPr>
          <p:cNvPr id="7" name="">
            <a:extLst xmlns:a="http://schemas.openxmlformats.org/drawingml/2006/main">
              <a:ext uri="{FF2B5EF4-FFF2-40B4-BE49-F238E27FC236}">
                <a16:creationId xmlns:a16="http://schemas.microsoft.com/office/drawing/2014/main" id="{C1CB4F91-2912-4DF1-BEF5-8D5A734F300A}"/>
              </a:ext>
            </a:extLst>
          </p:cNvPr>
          <p:cNvSpPr>
            <a:spLocks xmlns:a="http://schemas.openxmlformats.org/drawingml/2006/main" noGrp="1"/>
          </p:cNvSpPr>
          <p:nvPr/>
        </p:nvSpPr>
        <p:spPr>
          <a:xfrm xmlns:a="http://schemas.openxmlformats.org/drawingml/2006/main">
            <a:off x="533400" y="1190625"/>
            <a:ext cx="7048500" cy="109537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6600" b="1">
                <a:solidFill>
                  <a:srgbClr val="FFFFFF"/>
                </a:solidFill>
              </a:rPr>
              <a:t>ARAI</a:t>
            </a:r>
          </a:p>
        </p:txBody>
      </p:sp>
      <p:sp>
        <p:nvSpPr>
          <p:cNvPr id="8" name="">
            <a:extLst xmlns:a="http://schemas.openxmlformats.org/drawingml/2006/main">
              <a:ext uri="{FF2B5EF4-FFF2-40B4-BE49-F238E27FC236}">
                <a16:creationId xmlns:a16="http://schemas.microsoft.com/office/drawing/2014/main" id="{297DA27E-5FD9-4DAB-A162-37978760D124}"/>
              </a:ext>
            </a:extLst>
          </p:cNvPr>
          <p:cNvSpPr>
            <a:spLocks xmlns:a="http://schemas.openxmlformats.org/drawingml/2006/main" noGrp="1"/>
          </p:cNvSpPr>
          <p:nvPr/>
        </p:nvSpPr>
        <p:spPr>
          <a:xfrm xmlns:a="http://schemas.openxmlformats.org/drawingml/2006/main">
            <a:off x="571500" y="2390775"/>
            <a:ext cx="6572250" cy="952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2850" b="1">
                <a:solidFill>
                  <a:srgbClr val="DDEBDD"/>
                </a:solidFill>
              </a:rPr>
              <a:t>Adaptive Return</a:t>
            </a:r>
          </a:p>
          <a:p xmlns:a="http://schemas.openxmlformats.org/drawingml/2006/main">
            <a:r>
              <a:rPr sz="2850" b="1">
                <a:solidFill>
                  <a:srgbClr val="DDEBDD"/>
                </a:solidFill>
              </a:rPr>
              <a:t>Abuse Intelligence</a:t>
            </a:r>
          </a:p>
        </p:txBody>
      </p:sp>
      <p:sp>
        <p:nvSpPr>
          <p:cNvPr id="9" name="">
            <a:extLst xmlns:a="http://schemas.openxmlformats.org/drawingml/2006/main">
              <a:ext uri="{FF2B5EF4-FFF2-40B4-BE49-F238E27FC236}">
                <a16:creationId xmlns:a16="http://schemas.microsoft.com/office/drawing/2014/main" id="{8FD775EC-D93D-4894-BDCD-4DDCE065E48E}"/>
              </a:ext>
            </a:extLst>
          </p:cNvPr>
          <p:cNvSpPr>
            <a:spLocks xmlns:a="http://schemas.openxmlformats.org/drawingml/2006/main" noGrp="1"/>
          </p:cNvSpPr>
          <p:nvPr/>
        </p:nvSpPr>
        <p:spPr>
          <a:xfrm xmlns:a="http://schemas.openxmlformats.org/drawingml/2006/main">
            <a:off x="571500" y="3743325"/>
            <a:ext cx="6667500" cy="952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2175" b="0">
                <a:solidFill>
                  <a:srgbClr val="FFFFFF"/>
                </a:solidFill>
              </a:rPr>
              <a:t>Investigate suspicious returns.</a:t>
            </a:r>
          </a:p>
          <a:p xmlns:a="http://schemas.openxmlformats.org/drawingml/2006/main">
            <a:r>
              <a:rPr sz="2175" b="0">
                <a:solidFill>
                  <a:srgbClr val="FFFFFF"/>
                </a:solidFill>
              </a:rPr>
              <a:t>Understand legitimate explanations.</a:t>
            </a:r>
          </a:p>
        </p:txBody>
      </p:sp>
      <p:sp>
        <p:nvSpPr>
          <p:cNvPr id="10" name="">
            <a:extLst xmlns:a="http://schemas.openxmlformats.org/drawingml/2006/main">
              <a:ext uri="{FF2B5EF4-FFF2-40B4-BE49-F238E27FC236}">
                <a16:creationId xmlns:a16="http://schemas.microsoft.com/office/drawing/2014/main" id="{350AEA5D-5B64-4AED-B543-49F101234DDA}"/>
              </a:ext>
            </a:extLst>
          </p:cNvPr>
          <p:cNvSpPr>
            <a:spLocks xmlns:a="http://schemas.openxmlformats.org/drawingml/2006/main" noGrp="1"/>
          </p:cNvSpPr>
          <p:nvPr/>
        </p:nvSpPr>
        <p:spPr>
          <a:xfrm xmlns:a="http://schemas.openxmlformats.org/drawingml/2006/main">
            <a:off x="571500" y="5400675"/>
            <a:ext cx="6762750" cy="3810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DDEBDD"/>
                </a:solidFill>
              </a:rPr>
              <a:t>Indian online apparel  •  Analyst decision support</a:t>
            </a:r>
          </a:p>
        </p:txBody>
      </p:sp>
      <p:sp>
        <p:nvSpPr>
          <p:cNvPr id="11" name="">
            <a:extLst xmlns:a="http://schemas.openxmlformats.org/drawingml/2006/main">
              <a:ext uri="{FF2B5EF4-FFF2-40B4-BE49-F238E27FC236}">
                <a16:creationId xmlns:a16="http://schemas.microsoft.com/office/drawing/2014/main" id="{F82ECEDC-8679-4AF5-94F3-BB56D753752D}"/>
              </a:ext>
            </a:extLst>
          </p:cNvPr>
          <p:cNvSpPr>
            <a:spLocks xmlns:a="http://schemas.openxmlformats.org/drawingml/2006/main" noGrp="1"/>
          </p:cNvSpPr>
          <p:nvPr/>
        </p:nvSpPr>
        <p:spPr>
          <a:xfrm xmlns:a="http://schemas.openxmlformats.org/drawingml/2006/main">
            <a:off x="7810500" y="1200150"/>
            <a:ext cx="3848100" cy="4572000"/>
          </a:xfrm>
          <a:prstGeom xmlns:a="http://schemas.openxmlformats.org/drawingml/2006/main" prst="roundRect">
            <a:avLst>
              <a:gd name="adj" fmla="val 1980"/>
            </a:avLst>
          </a:prstGeom>
          <a:solidFill xmlns:a="http://schemas.openxmlformats.org/drawingml/2006/main">
            <a:srgbClr val="234C3F"/>
          </a:solidFill>
          <a:ln xmlns:a="http://schemas.openxmlformats.org/drawingml/2006/main" w="9525">
            <a:solidFill>
              <a:srgbClr val="396052"/>
            </a:solidFill>
            <a:prstDash val="solid"/>
          </a:ln>
        </p:spPr>
      </p:sp>
      <p:sp>
        <p:nvSpPr>
          <p:cNvPr id="12" name="">
            <a:extLst xmlns:a="http://schemas.openxmlformats.org/drawingml/2006/main">
              <a:ext uri="{FF2B5EF4-FFF2-40B4-BE49-F238E27FC236}">
                <a16:creationId xmlns:a16="http://schemas.microsoft.com/office/drawing/2014/main" id="{6958A484-65ED-455A-9960-0751A00AC83F}"/>
              </a:ext>
            </a:extLst>
          </p:cNvPr>
          <p:cNvSpPr>
            <a:spLocks xmlns:a="http://schemas.openxmlformats.org/drawingml/2006/main" noGrp="1"/>
          </p:cNvSpPr>
          <p:nvPr/>
        </p:nvSpPr>
        <p:spPr>
          <a:xfrm xmlns:a="http://schemas.openxmlformats.org/drawingml/2006/main">
            <a:off x="8048625" y="1504950"/>
            <a:ext cx="523875" cy="3429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ABD3A6"/>
                </a:solidFill>
              </a:rPr>
              <a:t>01</a:t>
            </a:r>
          </a:p>
        </p:txBody>
      </p:sp>
      <p:sp>
        <p:nvSpPr>
          <p:cNvPr id="13" name="">
            <a:extLst xmlns:a="http://schemas.openxmlformats.org/drawingml/2006/main">
              <a:ext uri="{FF2B5EF4-FFF2-40B4-BE49-F238E27FC236}">
                <a16:creationId xmlns:a16="http://schemas.microsoft.com/office/drawing/2014/main" id="{DD9EEFE1-7099-4E6D-8DB9-EF92F1901779}"/>
              </a:ext>
            </a:extLst>
          </p:cNvPr>
          <p:cNvSpPr>
            <a:spLocks xmlns:a="http://schemas.openxmlformats.org/drawingml/2006/main" noGrp="1"/>
          </p:cNvSpPr>
          <p:nvPr/>
        </p:nvSpPr>
        <p:spPr>
          <a:xfrm xmlns:a="http://schemas.openxmlformats.org/drawingml/2006/main">
            <a:off x="8648700" y="1504950"/>
            <a:ext cx="2686050" cy="4000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2175" b="1">
                <a:solidFill>
                  <a:srgbClr val="FFFFFF"/>
                </a:solidFill>
              </a:rPr>
              <a:t>Observe</a:t>
            </a:r>
          </a:p>
        </p:txBody>
      </p:sp>
      <p:sp>
        <p:nvSpPr>
          <p:cNvPr id="14" name="">
            <a:extLst xmlns:a="http://schemas.openxmlformats.org/drawingml/2006/main">
              <a:ext uri="{FF2B5EF4-FFF2-40B4-BE49-F238E27FC236}">
                <a16:creationId xmlns:a16="http://schemas.microsoft.com/office/drawing/2014/main" id="{0F65C744-1A38-4890-8E3A-8DDFECD1D506}"/>
              </a:ext>
            </a:extLst>
          </p:cNvPr>
          <p:cNvSpPr>
            <a:spLocks xmlns:a="http://schemas.openxmlformats.org/drawingml/2006/main" noGrp="1"/>
          </p:cNvSpPr>
          <p:nvPr/>
        </p:nvSpPr>
        <p:spPr>
          <a:xfrm xmlns:a="http://schemas.openxmlformats.org/drawingml/2006/main">
            <a:off x="8648700" y="1971675"/>
            <a:ext cx="2619375" cy="590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650" b="0">
                <a:solidFill>
                  <a:srgbClr val="DDEBDD"/>
                </a:solidFill>
              </a:rPr>
              <a:t>Return behavior over time</a:t>
            </a:r>
          </a:p>
        </p:txBody>
      </p:sp>
      <p:sp>
        <p:nvSpPr>
          <p:cNvPr id="15" name="">
            <a:extLst xmlns:a="http://schemas.openxmlformats.org/drawingml/2006/main">
              <a:ext uri="{FF2B5EF4-FFF2-40B4-BE49-F238E27FC236}">
                <a16:creationId xmlns:a16="http://schemas.microsoft.com/office/drawing/2014/main" id="{BF0BD4CB-9652-4BFC-8225-B68B983D86E3}"/>
              </a:ext>
            </a:extLst>
          </p:cNvPr>
          <p:cNvSpPr>
            <a:spLocks xmlns:a="http://schemas.openxmlformats.org/drawingml/2006/main" noGrp="1"/>
          </p:cNvSpPr>
          <p:nvPr/>
        </p:nvSpPr>
        <p:spPr>
          <a:xfrm xmlns:a="http://schemas.openxmlformats.org/drawingml/2006/main">
            <a:off x="8058150" y="2571750"/>
            <a:ext cx="3286125" cy="9525"/>
          </a:xfrm>
          <a:prstGeom xmlns:a="http://schemas.openxmlformats.org/drawingml/2006/main" prst="rect">
            <a:avLst/>
          </a:prstGeom>
          <a:solidFill xmlns:a="http://schemas.openxmlformats.org/drawingml/2006/main">
            <a:srgbClr val="396052"/>
          </a:solidFill>
          <a:ln xmlns:a="http://schemas.openxmlformats.org/drawingml/2006/main" w="9525">
            <a:solidFill>
              <a:srgbClr val="396052"/>
            </a:solidFill>
            <a:prstDash val="solid"/>
          </a:ln>
        </p:spPr>
      </p:sp>
      <p:sp>
        <p:nvSpPr>
          <p:cNvPr id="16" name="">
            <a:extLst xmlns:a="http://schemas.openxmlformats.org/drawingml/2006/main">
              <a:ext uri="{FF2B5EF4-FFF2-40B4-BE49-F238E27FC236}">
                <a16:creationId xmlns:a16="http://schemas.microsoft.com/office/drawing/2014/main" id="{6DBDCDDF-38A9-46A5-BBD8-788788E5C3D2}"/>
              </a:ext>
            </a:extLst>
          </p:cNvPr>
          <p:cNvSpPr>
            <a:spLocks xmlns:a="http://schemas.openxmlformats.org/drawingml/2006/main" noGrp="1"/>
          </p:cNvSpPr>
          <p:nvPr/>
        </p:nvSpPr>
        <p:spPr>
          <a:xfrm xmlns:a="http://schemas.openxmlformats.org/drawingml/2006/main">
            <a:off x="8048625" y="2857500"/>
            <a:ext cx="523875" cy="3429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ABD3A6"/>
                </a:solidFill>
              </a:rPr>
              <a:t>02</a:t>
            </a:r>
          </a:p>
        </p:txBody>
      </p:sp>
      <p:sp>
        <p:nvSpPr>
          <p:cNvPr id="17" name="">
            <a:extLst xmlns:a="http://schemas.openxmlformats.org/drawingml/2006/main">
              <a:ext uri="{FF2B5EF4-FFF2-40B4-BE49-F238E27FC236}">
                <a16:creationId xmlns:a16="http://schemas.microsoft.com/office/drawing/2014/main" id="{B2B38618-B88D-4740-84B5-11CE34050574}"/>
              </a:ext>
            </a:extLst>
          </p:cNvPr>
          <p:cNvSpPr>
            <a:spLocks xmlns:a="http://schemas.openxmlformats.org/drawingml/2006/main" noGrp="1"/>
          </p:cNvSpPr>
          <p:nvPr/>
        </p:nvSpPr>
        <p:spPr>
          <a:xfrm xmlns:a="http://schemas.openxmlformats.org/drawingml/2006/main">
            <a:off x="8648700" y="2857500"/>
            <a:ext cx="2686050" cy="4000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2175" b="1">
                <a:solidFill>
                  <a:srgbClr val="FFFFFF"/>
                </a:solidFill>
              </a:rPr>
              <a:t>Explain</a:t>
            </a:r>
          </a:p>
        </p:txBody>
      </p:sp>
      <p:sp>
        <p:nvSpPr>
          <p:cNvPr id="18" name="">
            <a:extLst xmlns:a="http://schemas.openxmlformats.org/drawingml/2006/main">
              <a:ext uri="{FF2B5EF4-FFF2-40B4-BE49-F238E27FC236}">
                <a16:creationId xmlns:a16="http://schemas.microsoft.com/office/drawing/2014/main" id="{01F5FA21-FBBA-455E-9120-0171C5CC8E96}"/>
              </a:ext>
            </a:extLst>
          </p:cNvPr>
          <p:cNvSpPr>
            <a:spLocks xmlns:a="http://schemas.openxmlformats.org/drawingml/2006/main" noGrp="1"/>
          </p:cNvSpPr>
          <p:nvPr/>
        </p:nvSpPr>
        <p:spPr>
          <a:xfrm xmlns:a="http://schemas.openxmlformats.org/drawingml/2006/main">
            <a:off x="8648700" y="3324225"/>
            <a:ext cx="2619375" cy="590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650" b="0">
                <a:solidFill>
                  <a:srgbClr val="DDEBDD"/>
                </a:solidFill>
              </a:rPr>
              <a:t>Product and relationship context</a:t>
            </a:r>
          </a:p>
        </p:txBody>
      </p:sp>
      <p:sp>
        <p:nvSpPr>
          <p:cNvPr id="19" name="">
            <a:extLst xmlns:a="http://schemas.openxmlformats.org/drawingml/2006/main">
              <a:ext uri="{FF2B5EF4-FFF2-40B4-BE49-F238E27FC236}">
                <a16:creationId xmlns:a16="http://schemas.microsoft.com/office/drawing/2014/main" id="{8AA502FA-1D6C-482D-9A23-481C1032869B}"/>
              </a:ext>
            </a:extLst>
          </p:cNvPr>
          <p:cNvSpPr>
            <a:spLocks xmlns:a="http://schemas.openxmlformats.org/drawingml/2006/main" noGrp="1"/>
          </p:cNvSpPr>
          <p:nvPr/>
        </p:nvSpPr>
        <p:spPr>
          <a:xfrm xmlns:a="http://schemas.openxmlformats.org/drawingml/2006/main">
            <a:off x="8058150" y="3924300"/>
            <a:ext cx="3286125" cy="9525"/>
          </a:xfrm>
          <a:prstGeom xmlns:a="http://schemas.openxmlformats.org/drawingml/2006/main" prst="rect">
            <a:avLst/>
          </a:prstGeom>
          <a:solidFill xmlns:a="http://schemas.openxmlformats.org/drawingml/2006/main">
            <a:srgbClr val="396052"/>
          </a:solidFill>
          <a:ln xmlns:a="http://schemas.openxmlformats.org/drawingml/2006/main" w="9525">
            <a:solidFill>
              <a:srgbClr val="396052"/>
            </a:solidFill>
            <a:prstDash val="solid"/>
          </a:ln>
        </p:spPr>
      </p:sp>
      <p:sp>
        <p:nvSpPr>
          <p:cNvPr id="20" name="">
            <a:extLst xmlns:a="http://schemas.openxmlformats.org/drawingml/2006/main">
              <a:ext uri="{FF2B5EF4-FFF2-40B4-BE49-F238E27FC236}">
                <a16:creationId xmlns:a16="http://schemas.microsoft.com/office/drawing/2014/main" id="{E624A5D7-7E2E-4143-A96A-DE2D649AF25C}"/>
              </a:ext>
            </a:extLst>
          </p:cNvPr>
          <p:cNvSpPr>
            <a:spLocks xmlns:a="http://schemas.openxmlformats.org/drawingml/2006/main" noGrp="1"/>
          </p:cNvSpPr>
          <p:nvPr/>
        </p:nvSpPr>
        <p:spPr>
          <a:xfrm xmlns:a="http://schemas.openxmlformats.org/drawingml/2006/main">
            <a:off x="8048625" y="4210050"/>
            <a:ext cx="523875" cy="3429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ABD3A6"/>
                </a:solidFill>
              </a:rPr>
              <a:t>03</a:t>
            </a:r>
          </a:p>
        </p:txBody>
      </p:sp>
      <p:sp>
        <p:nvSpPr>
          <p:cNvPr id="21" name="">
            <a:extLst xmlns:a="http://schemas.openxmlformats.org/drawingml/2006/main">
              <a:ext uri="{FF2B5EF4-FFF2-40B4-BE49-F238E27FC236}">
                <a16:creationId xmlns:a16="http://schemas.microsoft.com/office/drawing/2014/main" id="{B39A4734-3C18-49D8-9257-59DA55AB2BF1}"/>
              </a:ext>
            </a:extLst>
          </p:cNvPr>
          <p:cNvSpPr>
            <a:spLocks xmlns:a="http://schemas.openxmlformats.org/drawingml/2006/main" noGrp="1"/>
          </p:cNvSpPr>
          <p:nvPr/>
        </p:nvSpPr>
        <p:spPr>
          <a:xfrm xmlns:a="http://schemas.openxmlformats.org/drawingml/2006/main">
            <a:off x="8648700" y="4210050"/>
            <a:ext cx="2686050" cy="4000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2175" b="1">
                <a:solidFill>
                  <a:srgbClr val="FFFFFF"/>
                </a:solidFill>
              </a:rPr>
              <a:t>Prioritize</a:t>
            </a:r>
          </a:p>
        </p:txBody>
      </p:sp>
      <p:sp>
        <p:nvSpPr>
          <p:cNvPr id="22" name="">
            <a:extLst xmlns:a="http://schemas.openxmlformats.org/drawingml/2006/main">
              <a:ext uri="{FF2B5EF4-FFF2-40B4-BE49-F238E27FC236}">
                <a16:creationId xmlns:a16="http://schemas.microsoft.com/office/drawing/2014/main" id="{55BF8423-CD7C-44FB-9AFD-B12507F67B74}"/>
              </a:ext>
            </a:extLst>
          </p:cNvPr>
          <p:cNvSpPr>
            <a:spLocks xmlns:a="http://schemas.openxmlformats.org/drawingml/2006/main" noGrp="1"/>
          </p:cNvSpPr>
          <p:nvPr/>
        </p:nvSpPr>
        <p:spPr>
          <a:xfrm xmlns:a="http://schemas.openxmlformats.org/drawingml/2006/main">
            <a:off x="8648700" y="4676775"/>
            <a:ext cx="2619375" cy="590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650" b="0">
                <a:solidFill>
                  <a:srgbClr val="DDEBDD"/>
                </a:solidFill>
              </a:rPr>
              <a:t>Human investigation</a:t>
            </a:r>
          </a:p>
        </p:txBody>
      </p:sp>
    </p:spTree>
    <p:extLst>
      <p:ext uri="{BB962C8B-B14F-4D97-AF65-F5344CB8AC3E}">
        <p14:creationId xmlns:p14="http://schemas.microsoft.com/office/powerpoint/2010/main" val="1959446991"/>
      </p:ext>
    </p:extLst>
  </p:cSld>
</p:sld>
</file>

<file path=ppt/slides/slide2.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7674AFE-A501-4E1F-AA4E-45BD99FE95C1}"/>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187257"/>
                </a:solidFill>
              </a:rPr>
              <a:t>ARAI  /  XHACK 2026</a:t>
            </a:r>
          </a:p>
        </p:txBody>
      </p:sp>
      <p:sp>
        <p:nvSpPr>
          <p:cNvPr id="3" name="">
            <a:extLst xmlns:a="http://schemas.openxmlformats.org/drawingml/2006/main">
              <a:ext uri="{FF2B5EF4-FFF2-40B4-BE49-F238E27FC236}">
                <a16:creationId xmlns:a16="http://schemas.microsoft.com/office/drawing/2014/main" id="{69F2F300-B9B3-4909-8490-2FAC3484C45D}"/>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61766A"/>
                </a:solidFill>
              </a:rPr>
              <a:t>PROBLEM STATEMENT</a:t>
            </a:r>
          </a:p>
        </p:txBody>
      </p:sp>
      <p:sp>
        <p:nvSpPr>
          <p:cNvPr id="4" name="">
            <a:extLst xmlns:a="http://schemas.openxmlformats.org/drawingml/2006/main">
              <a:ext uri="{FF2B5EF4-FFF2-40B4-BE49-F238E27FC236}">
                <a16:creationId xmlns:a16="http://schemas.microsoft.com/office/drawing/2014/main" id="{159E76BE-CD40-4FBD-A0FD-295419BF1039}"/>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153C32"/>
                </a:solidFill>
              </a:rPr>
              <a:t>High returns alone do not establish abuse.</a:t>
            </a:r>
          </a:p>
        </p:txBody>
      </p:sp>
      <p:sp>
        <p:nvSpPr>
          <p:cNvPr id="5" name="">
            <a:extLst xmlns:a="http://schemas.openxmlformats.org/drawingml/2006/main">
              <a:ext uri="{FF2B5EF4-FFF2-40B4-BE49-F238E27FC236}">
                <a16:creationId xmlns:a16="http://schemas.microsoft.com/office/drawing/2014/main" id="{8A49F15A-5527-4FC3-B831-7209E3A5009E}"/>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61766A"/>
                </a:solidFill>
              </a:rPr>
              <a:t>The same headline return rate can hide very different explanations.</a:t>
            </a:r>
          </a:p>
        </p:txBody>
      </p:sp>
      <p:sp>
        <p:nvSpPr>
          <p:cNvPr id="6" name="">
            <a:extLst xmlns:a="http://schemas.openxmlformats.org/drawingml/2006/main">
              <a:ext uri="{FF2B5EF4-FFF2-40B4-BE49-F238E27FC236}">
                <a16:creationId xmlns:a16="http://schemas.microsoft.com/office/drawing/2014/main" id="{0771B304-9451-4C70-ACD6-DF8B591F7373}"/>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3DED1"/>
          </a:solidFill>
          <a:ln xmlns:a="http://schemas.openxmlformats.org/drawingml/2006/main" w="9525">
            <a:solidFill>
              <a:srgbClr val="D3DED1"/>
            </a:solidFill>
            <a:prstDash val="solid"/>
          </a:ln>
        </p:spPr>
      </p:sp>
      <p:sp>
        <p:nvSpPr>
          <p:cNvPr id="7" name="">
            <a:extLst xmlns:a="http://schemas.openxmlformats.org/drawingml/2006/main">
              <a:ext uri="{FF2B5EF4-FFF2-40B4-BE49-F238E27FC236}">
                <a16:creationId xmlns:a16="http://schemas.microsoft.com/office/drawing/2014/main" id="{AF162D73-A012-4BF5-8BB2-489423B6A08E}"/>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61766A"/>
                </a:solidFill>
              </a:rPr>
              <a:t>DESIGN PRESENTATION  •  28 SEPTEMBER 2026</a:t>
            </a:r>
          </a:p>
        </p:txBody>
      </p:sp>
      <p:sp>
        <p:nvSpPr>
          <p:cNvPr id="8" name="">
            <a:extLst xmlns:a="http://schemas.openxmlformats.org/drawingml/2006/main">
              <a:ext uri="{FF2B5EF4-FFF2-40B4-BE49-F238E27FC236}">
                <a16:creationId xmlns:a16="http://schemas.microsoft.com/office/drawing/2014/main" id="{A02739A9-4986-427F-9A49-CD585E089E14}"/>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02</a:t>
            </a:r>
          </a:p>
        </p:txBody>
      </p:sp>
      <p:sp>
        <p:nvSpPr>
          <p:cNvPr id="9" name="">
            <a:extLst xmlns:a="http://schemas.openxmlformats.org/drawingml/2006/main">
              <a:ext uri="{FF2B5EF4-FFF2-40B4-BE49-F238E27FC236}">
                <a16:creationId xmlns:a16="http://schemas.microsoft.com/office/drawing/2014/main" id="{6B0A92B9-01BF-4E87-80BD-FBB262F88979}"/>
              </a:ext>
            </a:extLst>
          </p:cNvPr>
          <p:cNvSpPr>
            <a:spLocks xmlns:a="http://schemas.openxmlformats.org/drawingml/2006/main" noGrp="1"/>
          </p:cNvSpPr>
          <p:nvPr/>
        </p:nvSpPr>
        <p:spPr>
          <a:xfrm xmlns:a="http://schemas.openxmlformats.org/drawingml/2006/main">
            <a:off x="533400" y="2600325"/>
            <a:ext cx="3543300" cy="2124075"/>
          </a:xfrm>
          <a:prstGeom xmlns:a="http://schemas.openxmlformats.org/drawingml/2006/main" prst="roundRect">
            <a:avLst>
              <a:gd name="adj" fmla="val 3587"/>
            </a:avLst>
          </a:prstGeom>
          <a:solidFill xmlns:a="http://schemas.openxmlformats.org/drawingml/2006/main">
            <a:srgbClr val="FFFFFF"/>
          </a:solidFill>
          <a:ln xmlns:a="http://schemas.openxmlformats.org/drawingml/2006/main" w="9525">
            <a:solidFill>
              <a:srgbClr val="D3DED1"/>
            </a:solidFill>
            <a:prstDash val="solid"/>
          </a:ln>
        </p:spPr>
      </p:sp>
      <p:sp>
        <p:nvSpPr>
          <p:cNvPr id="10" name="">
            <a:extLst xmlns:a="http://schemas.openxmlformats.org/drawingml/2006/main">
              <a:ext uri="{FF2B5EF4-FFF2-40B4-BE49-F238E27FC236}">
                <a16:creationId xmlns:a16="http://schemas.microsoft.com/office/drawing/2014/main" id="{F14E7E58-4234-4FCB-A5D2-C4D52DAE3E91}"/>
              </a:ext>
            </a:extLst>
          </p:cNvPr>
          <p:cNvSpPr>
            <a:spLocks xmlns:a="http://schemas.openxmlformats.org/drawingml/2006/main" noGrp="1"/>
          </p:cNvSpPr>
          <p:nvPr/>
        </p:nvSpPr>
        <p:spPr>
          <a:xfrm xmlns:a="http://schemas.openxmlformats.org/drawingml/2006/main">
            <a:off x="742950" y="2790825"/>
            <a:ext cx="312420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Legitimate fit shopping</a:t>
            </a:r>
          </a:p>
        </p:txBody>
      </p:sp>
      <p:sp>
        <p:nvSpPr>
          <p:cNvPr id="11" name="">
            <a:extLst xmlns:a="http://schemas.openxmlformats.org/drawingml/2006/main">
              <a:ext uri="{FF2B5EF4-FFF2-40B4-BE49-F238E27FC236}">
                <a16:creationId xmlns:a16="http://schemas.microsoft.com/office/drawing/2014/main" id="{78558556-6DAC-49B6-BE61-A642A0388432}"/>
              </a:ext>
            </a:extLst>
          </p:cNvPr>
          <p:cNvSpPr>
            <a:spLocks xmlns:a="http://schemas.openxmlformats.org/drawingml/2006/main" noGrp="1"/>
          </p:cNvSpPr>
          <p:nvPr/>
        </p:nvSpPr>
        <p:spPr>
          <a:xfrm xmlns:a="http://schemas.openxmlformats.org/drawingml/2006/main">
            <a:off x="742950" y="3400425"/>
            <a:ext cx="3124200" cy="12287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A customer may return often while choosing the right size or fit.</a:t>
            </a:r>
          </a:p>
        </p:txBody>
      </p:sp>
      <p:sp>
        <p:nvSpPr>
          <p:cNvPr id="12" name="">
            <a:extLst xmlns:a="http://schemas.openxmlformats.org/drawingml/2006/main">
              <a:ext uri="{FF2B5EF4-FFF2-40B4-BE49-F238E27FC236}">
                <a16:creationId xmlns:a16="http://schemas.microsoft.com/office/drawing/2014/main" id="{85CBF501-8CCD-4E71-BEA8-B12660F5419A}"/>
              </a:ext>
            </a:extLst>
          </p:cNvPr>
          <p:cNvSpPr>
            <a:spLocks xmlns:a="http://schemas.openxmlformats.org/drawingml/2006/main" noGrp="1"/>
          </p:cNvSpPr>
          <p:nvPr/>
        </p:nvSpPr>
        <p:spPr>
          <a:xfrm xmlns:a="http://schemas.openxmlformats.org/drawingml/2006/main">
            <a:off x="4324350" y="2600325"/>
            <a:ext cx="3543300" cy="2124075"/>
          </a:xfrm>
          <a:prstGeom xmlns:a="http://schemas.openxmlformats.org/drawingml/2006/main" prst="roundRect">
            <a:avLst>
              <a:gd name="adj" fmla="val 3587"/>
            </a:avLst>
          </a:prstGeom>
          <a:solidFill xmlns:a="http://schemas.openxmlformats.org/drawingml/2006/main">
            <a:srgbClr val="FFFFFF"/>
          </a:solidFill>
          <a:ln xmlns:a="http://schemas.openxmlformats.org/drawingml/2006/main" w="9525">
            <a:solidFill>
              <a:srgbClr val="D3DED1"/>
            </a:solidFill>
            <a:prstDash val="solid"/>
          </a:ln>
        </p:spPr>
      </p:sp>
      <p:sp>
        <p:nvSpPr>
          <p:cNvPr id="13" name="">
            <a:extLst xmlns:a="http://schemas.openxmlformats.org/drawingml/2006/main">
              <a:ext uri="{FF2B5EF4-FFF2-40B4-BE49-F238E27FC236}">
                <a16:creationId xmlns:a16="http://schemas.microsoft.com/office/drawing/2014/main" id="{3A313264-A8C7-4457-8BEF-DEB71B6A5FB8}"/>
              </a:ext>
            </a:extLst>
          </p:cNvPr>
          <p:cNvSpPr>
            <a:spLocks xmlns:a="http://schemas.openxmlformats.org/drawingml/2006/main" noGrp="1"/>
          </p:cNvSpPr>
          <p:nvPr/>
        </p:nvSpPr>
        <p:spPr>
          <a:xfrm xmlns:a="http://schemas.openxmlformats.org/drawingml/2006/main">
            <a:off x="4533900" y="2790825"/>
            <a:ext cx="312420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Product quality issues</a:t>
            </a:r>
          </a:p>
        </p:txBody>
      </p:sp>
      <p:sp>
        <p:nvSpPr>
          <p:cNvPr id="14" name="">
            <a:extLst xmlns:a="http://schemas.openxmlformats.org/drawingml/2006/main">
              <a:ext uri="{FF2B5EF4-FFF2-40B4-BE49-F238E27FC236}">
                <a16:creationId xmlns:a16="http://schemas.microsoft.com/office/drawing/2014/main" id="{5FAB5BFD-2F5F-4CF3-A0E3-93DDE04F02EB}"/>
              </a:ext>
            </a:extLst>
          </p:cNvPr>
          <p:cNvSpPr>
            <a:spLocks xmlns:a="http://schemas.openxmlformats.org/drawingml/2006/main" noGrp="1"/>
          </p:cNvSpPr>
          <p:nvPr/>
        </p:nvSpPr>
        <p:spPr>
          <a:xfrm xmlns:a="http://schemas.openxmlformats.org/drawingml/2006/main">
            <a:off x="4533900" y="3400425"/>
            <a:ext cx="3124200" cy="12287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A style or SKU may drive returns across many unrelated customers.</a:t>
            </a:r>
          </a:p>
        </p:txBody>
      </p:sp>
      <p:sp>
        <p:nvSpPr>
          <p:cNvPr id="15" name="">
            <a:extLst xmlns:a="http://schemas.openxmlformats.org/drawingml/2006/main">
              <a:ext uri="{FF2B5EF4-FFF2-40B4-BE49-F238E27FC236}">
                <a16:creationId xmlns:a16="http://schemas.microsoft.com/office/drawing/2014/main" id="{6FFD96F6-ECCC-4CC4-9AC9-FCA83BCE35E0}"/>
              </a:ext>
            </a:extLst>
          </p:cNvPr>
          <p:cNvSpPr>
            <a:spLocks xmlns:a="http://schemas.openxmlformats.org/drawingml/2006/main" noGrp="1"/>
          </p:cNvSpPr>
          <p:nvPr/>
        </p:nvSpPr>
        <p:spPr>
          <a:xfrm xmlns:a="http://schemas.openxmlformats.org/drawingml/2006/main">
            <a:off x="8115300" y="2600325"/>
            <a:ext cx="3543300" cy="2124075"/>
          </a:xfrm>
          <a:prstGeom xmlns:a="http://schemas.openxmlformats.org/drawingml/2006/main" prst="roundRect">
            <a:avLst>
              <a:gd name="adj" fmla="val 3587"/>
            </a:avLst>
          </a:prstGeom>
          <a:solidFill xmlns:a="http://schemas.openxmlformats.org/drawingml/2006/main">
            <a:srgbClr val="FFFFFF"/>
          </a:solidFill>
          <a:ln xmlns:a="http://schemas.openxmlformats.org/drawingml/2006/main" w="9525">
            <a:solidFill>
              <a:srgbClr val="D3DED1"/>
            </a:solidFill>
            <a:prstDash val="solid"/>
          </a:ln>
        </p:spPr>
      </p:sp>
      <p:sp>
        <p:nvSpPr>
          <p:cNvPr id="16" name="">
            <a:extLst xmlns:a="http://schemas.openxmlformats.org/drawingml/2006/main">
              <a:ext uri="{FF2B5EF4-FFF2-40B4-BE49-F238E27FC236}">
                <a16:creationId xmlns:a16="http://schemas.microsoft.com/office/drawing/2014/main" id="{CB275B70-E23B-4458-AE92-57DED506025A}"/>
              </a:ext>
            </a:extLst>
          </p:cNvPr>
          <p:cNvSpPr>
            <a:spLocks xmlns:a="http://schemas.openxmlformats.org/drawingml/2006/main" noGrp="1"/>
          </p:cNvSpPr>
          <p:nvPr/>
        </p:nvSpPr>
        <p:spPr>
          <a:xfrm xmlns:a="http://schemas.openxmlformats.org/drawingml/2006/main">
            <a:off x="8324850" y="2790825"/>
            <a:ext cx="312420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Intentional misuse</a:t>
            </a:r>
          </a:p>
        </p:txBody>
      </p:sp>
      <p:sp>
        <p:nvSpPr>
          <p:cNvPr id="17" name="">
            <a:extLst xmlns:a="http://schemas.openxmlformats.org/drawingml/2006/main">
              <a:ext uri="{FF2B5EF4-FFF2-40B4-BE49-F238E27FC236}">
                <a16:creationId xmlns:a16="http://schemas.microsoft.com/office/drawing/2014/main" id="{7C074929-26C5-4812-A4FA-DA37746BD902}"/>
              </a:ext>
            </a:extLst>
          </p:cNvPr>
          <p:cNvSpPr>
            <a:spLocks xmlns:a="http://schemas.openxmlformats.org/drawingml/2006/main" noGrp="1"/>
          </p:cNvSpPr>
          <p:nvPr/>
        </p:nvSpPr>
        <p:spPr>
          <a:xfrm xmlns:a="http://schemas.openxmlformats.org/drawingml/2006/main">
            <a:off x="8324850" y="3400425"/>
            <a:ext cx="3124200" cy="12287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Submitted deception or temporary use can warrant investigation.</a:t>
            </a:r>
          </a:p>
        </p:txBody>
      </p:sp>
      <p:sp>
        <p:nvSpPr>
          <p:cNvPr id="18" name="">
            <a:extLst xmlns:a="http://schemas.openxmlformats.org/drawingml/2006/main">
              <a:ext uri="{FF2B5EF4-FFF2-40B4-BE49-F238E27FC236}">
                <a16:creationId xmlns:a16="http://schemas.microsoft.com/office/drawing/2014/main" id="{CDFE07D3-D2B5-46BC-B4DA-EAD09E66F51A}"/>
              </a:ext>
            </a:extLst>
          </p:cNvPr>
          <p:cNvSpPr>
            <a:spLocks xmlns:a="http://schemas.openxmlformats.org/drawingml/2006/main" noGrp="1"/>
          </p:cNvSpPr>
          <p:nvPr/>
        </p:nvSpPr>
        <p:spPr>
          <a:xfrm xmlns:a="http://schemas.openxmlformats.org/drawingml/2006/main">
            <a:off x="533400" y="5286375"/>
            <a:ext cx="11125200" cy="847725"/>
          </a:xfrm>
          <a:prstGeom xmlns:a="http://schemas.openxmlformats.org/drawingml/2006/main" prst="roundRect">
            <a:avLst>
              <a:gd name="adj" fmla="val 8989"/>
            </a:avLst>
          </a:prstGeom>
          <a:solidFill xmlns:a="http://schemas.openxmlformats.org/drawingml/2006/main">
            <a:srgbClr val="DDEBDD"/>
          </a:solidFill>
          <a:ln xmlns:a="http://schemas.openxmlformats.org/drawingml/2006/main" w="9525">
            <a:solidFill>
              <a:srgbClr val="DDEBDD"/>
            </a:solidFill>
            <a:prstDash val="solid"/>
          </a:ln>
        </p:spPr>
      </p:sp>
      <p:sp>
        <p:nvSpPr>
          <p:cNvPr id="19" name="">
            <a:extLst xmlns:a="http://schemas.openxmlformats.org/drawingml/2006/main">
              <a:ext uri="{FF2B5EF4-FFF2-40B4-BE49-F238E27FC236}">
                <a16:creationId xmlns:a16="http://schemas.microsoft.com/office/drawing/2014/main" id="{AE044E29-090C-4A02-B347-77A9BABAAA88}"/>
              </a:ext>
            </a:extLst>
          </p:cNvPr>
          <p:cNvSpPr>
            <a:spLocks xmlns:a="http://schemas.openxmlformats.org/drawingml/2006/main" noGrp="1"/>
          </p:cNvSpPr>
          <p:nvPr/>
        </p:nvSpPr>
        <p:spPr>
          <a:xfrm xmlns:a="http://schemas.openxmlformats.org/drawingml/2006/main">
            <a:off x="742950" y="5429250"/>
            <a:ext cx="247650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1">
                <a:solidFill>
                  <a:srgbClr val="187257"/>
                </a:solidFill>
              </a:rPr>
              <a:t>Design challenge</a:t>
            </a:r>
          </a:p>
        </p:txBody>
      </p:sp>
      <p:sp>
        <p:nvSpPr>
          <p:cNvPr id="20" name="">
            <a:extLst xmlns:a="http://schemas.openxmlformats.org/drawingml/2006/main">
              <a:ext uri="{FF2B5EF4-FFF2-40B4-BE49-F238E27FC236}">
                <a16:creationId xmlns:a16="http://schemas.microsoft.com/office/drawing/2014/main" id="{B7F9D3C6-0A8C-4BC8-908B-8E9E0E9BC8E3}"/>
              </a:ext>
            </a:extLst>
          </p:cNvPr>
          <p:cNvSpPr>
            <a:spLocks xmlns:a="http://schemas.openxmlformats.org/drawingml/2006/main" noGrp="1"/>
          </p:cNvSpPr>
          <p:nvPr/>
        </p:nvSpPr>
        <p:spPr>
          <a:xfrm xmlns:a="http://schemas.openxmlformats.org/drawingml/2006/main">
            <a:off x="3333750" y="5429250"/>
            <a:ext cx="8096250" cy="571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153C32"/>
                </a:solidFill>
              </a:rPr>
              <a:t>Prioritize useful investigations while preserving legitimate explanations.</a:t>
            </a:r>
          </a:p>
        </p:txBody>
      </p:sp>
    </p:spTree>
    <p:extLst>
      <p:ext uri="{BB962C8B-B14F-4D97-AF65-F5344CB8AC3E}">
        <p14:creationId xmlns:p14="http://schemas.microsoft.com/office/powerpoint/2010/main" val="353957730"/>
      </p:ext>
    </p:extLst>
  </p:cSld>
</p:sld>
</file>

<file path=ppt/slides/slide3.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7924AF9-09E8-4188-A811-DCB995187BA8}"/>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187257"/>
                </a:solidFill>
              </a:rPr>
              <a:t>ARAI  /  XHACK 2026</a:t>
            </a:r>
          </a:p>
        </p:txBody>
      </p:sp>
      <p:sp>
        <p:nvSpPr>
          <p:cNvPr id="3" name="">
            <a:extLst xmlns:a="http://schemas.openxmlformats.org/drawingml/2006/main">
              <a:ext uri="{FF2B5EF4-FFF2-40B4-BE49-F238E27FC236}">
                <a16:creationId xmlns:a16="http://schemas.microsoft.com/office/drawing/2014/main" id="{CA5C8D27-9F13-4622-A505-3957D635821B}"/>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61766A"/>
                </a:solidFill>
              </a:rPr>
              <a:t>PROPOSED SOLUTION</a:t>
            </a:r>
          </a:p>
        </p:txBody>
      </p:sp>
      <p:sp>
        <p:nvSpPr>
          <p:cNvPr id="4" name="">
            <a:extLst xmlns:a="http://schemas.openxmlformats.org/drawingml/2006/main">
              <a:ext uri="{FF2B5EF4-FFF2-40B4-BE49-F238E27FC236}">
                <a16:creationId xmlns:a16="http://schemas.microsoft.com/office/drawing/2014/main" id="{4AD13E02-754B-4140-BD2C-7C0A01AA97A9}"/>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153C32"/>
                </a:solidFill>
              </a:rPr>
              <a:t>A ranked queue with inspectable evidence.</a:t>
            </a:r>
          </a:p>
        </p:txBody>
      </p:sp>
      <p:sp>
        <p:nvSpPr>
          <p:cNvPr id="5" name="">
            <a:extLst xmlns:a="http://schemas.openxmlformats.org/drawingml/2006/main">
              <a:ext uri="{FF2B5EF4-FFF2-40B4-BE49-F238E27FC236}">
                <a16:creationId xmlns:a16="http://schemas.microsoft.com/office/drawing/2014/main" id="{9281B532-E983-4D21-995B-0AC2C94FE380}"/>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61766A"/>
                </a:solidFill>
              </a:rPr>
              <a:t>Help an analyst understand why a customer or product deserves a closer look.</a:t>
            </a:r>
          </a:p>
        </p:txBody>
      </p:sp>
      <p:sp>
        <p:nvSpPr>
          <p:cNvPr id="6" name="">
            <a:extLst xmlns:a="http://schemas.openxmlformats.org/drawingml/2006/main">
              <a:ext uri="{FF2B5EF4-FFF2-40B4-BE49-F238E27FC236}">
                <a16:creationId xmlns:a16="http://schemas.microsoft.com/office/drawing/2014/main" id="{5D198E56-83FE-4164-9DBB-2AD8704C0C14}"/>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3DED1"/>
          </a:solidFill>
          <a:ln xmlns:a="http://schemas.openxmlformats.org/drawingml/2006/main" w="9525">
            <a:solidFill>
              <a:srgbClr val="D3DED1"/>
            </a:solidFill>
            <a:prstDash val="solid"/>
          </a:ln>
        </p:spPr>
      </p:sp>
      <p:sp>
        <p:nvSpPr>
          <p:cNvPr id="7" name="">
            <a:extLst xmlns:a="http://schemas.openxmlformats.org/drawingml/2006/main">
              <a:ext uri="{FF2B5EF4-FFF2-40B4-BE49-F238E27FC236}">
                <a16:creationId xmlns:a16="http://schemas.microsoft.com/office/drawing/2014/main" id="{809D7576-E8F1-411C-B8FE-810935EB2417}"/>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61766A"/>
                </a:solidFill>
              </a:rPr>
              <a:t>DESIGN PRESENTATION  •  28 SEPTEMBER 2026</a:t>
            </a:r>
          </a:p>
        </p:txBody>
      </p:sp>
      <p:sp>
        <p:nvSpPr>
          <p:cNvPr id="8" name="">
            <a:extLst xmlns:a="http://schemas.openxmlformats.org/drawingml/2006/main">
              <a:ext uri="{FF2B5EF4-FFF2-40B4-BE49-F238E27FC236}">
                <a16:creationId xmlns:a16="http://schemas.microsoft.com/office/drawing/2014/main" id="{E915E42E-7485-469F-B590-533E55074834}"/>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03</a:t>
            </a:r>
          </a:p>
        </p:txBody>
      </p:sp>
      <p:sp>
        <p:nvSpPr>
          <p:cNvPr id="9" name="">
            <a:extLst xmlns:a="http://schemas.openxmlformats.org/drawingml/2006/main">
              <a:ext uri="{FF2B5EF4-FFF2-40B4-BE49-F238E27FC236}">
                <a16:creationId xmlns:a16="http://schemas.microsoft.com/office/drawing/2014/main" id="{B366A81B-0BBE-4B55-B12A-D1D05E98C3D2}"/>
              </a:ext>
            </a:extLst>
          </p:cNvPr>
          <p:cNvSpPr>
            <a:spLocks xmlns:a="http://schemas.openxmlformats.org/drawingml/2006/main" noGrp="1"/>
          </p:cNvSpPr>
          <p:nvPr/>
        </p:nvSpPr>
        <p:spPr>
          <a:xfrm xmlns:a="http://schemas.openxmlformats.org/drawingml/2006/main">
            <a:off x="533400" y="2600325"/>
            <a:ext cx="2609850" cy="2009775"/>
          </a:xfrm>
          <a:prstGeom xmlns:a="http://schemas.openxmlformats.org/drawingml/2006/main" prst="roundRect">
            <a:avLst>
              <a:gd name="adj" fmla="val 3791"/>
            </a:avLst>
          </a:prstGeom>
          <a:solidFill xmlns:a="http://schemas.openxmlformats.org/drawingml/2006/main">
            <a:srgbClr val="FFFFFF"/>
          </a:solidFill>
          <a:ln xmlns:a="http://schemas.openxmlformats.org/drawingml/2006/main" w="9525">
            <a:solidFill>
              <a:srgbClr val="D3DED1"/>
            </a:solidFill>
            <a:prstDash val="solid"/>
          </a:ln>
        </p:spPr>
      </p:sp>
      <p:sp>
        <p:nvSpPr>
          <p:cNvPr id="10" name="">
            <a:extLst xmlns:a="http://schemas.openxmlformats.org/drawingml/2006/main">
              <a:ext uri="{FF2B5EF4-FFF2-40B4-BE49-F238E27FC236}">
                <a16:creationId xmlns:a16="http://schemas.microsoft.com/office/drawing/2014/main" id="{75A4AB36-0AD8-47E4-BAB6-F90EAB3E422B}"/>
              </a:ext>
            </a:extLst>
          </p:cNvPr>
          <p:cNvSpPr>
            <a:spLocks xmlns:a="http://schemas.openxmlformats.org/drawingml/2006/main" noGrp="1"/>
          </p:cNvSpPr>
          <p:nvPr/>
        </p:nvSpPr>
        <p:spPr>
          <a:xfrm xmlns:a="http://schemas.openxmlformats.org/drawingml/2006/main">
            <a:off x="742950" y="2790825"/>
            <a:ext cx="219075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Observe</a:t>
            </a:r>
          </a:p>
        </p:txBody>
      </p:sp>
      <p:sp>
        <p:nvSpPr>
          <p:cNvPr id="11" name="">
            <a:extLst xmlns:a="http://schemas.openxmlformats.org/drawingml/2006/main">
              <a:ext uri="{FF2B5EF4-FFF2-40B4-BE49-F238E27FC236}">
                <a16:creationId xmlns:a16="http://schemas.microsoft.com/office/drawing/2014/main" id="{F869B6DE-DDAF-4999-B97C-67301E918D08}"/>
              </a:ext>
            </a:extLst>
          </p:cNvPr>
          <p:cNvSpPr>
            <a:spLocks xmlns:a="http://schemas.openxmlformats.org/drawingml/2006/main" noGrp="1"/>
          </p:cNvSpPr>
          <p:nvPr/>
        </p:nvSpPr>
        <p:spPr>
          <a:xfrm xmlns:a="http://schemas.openxmlformats.org/drawingml/2006/main">
            <a:off x="742950" y="3400425"/>
            <a:ext cx="2190750" cy="11144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Sales and return events</a:t>
            </a:r>
          </a:p>
        </p:txBody>
      </p:sp>
      <p:sp>
        <p:nvSpPr>
          <p:cNvPr id="12" name="">
            <a:extLst xmlns:a="http://schemas.openxmlformats.org/drawingml/2006/main">
              <a:ext uri="{FF2B5EF4-FFF2-40B4-BE49-F238E27FC236}">
                <a16:creationId xmlns:a16="http://schemas.microsoft.com/office/drawing/2014/main" id="{DCD1BA8C-B1F8-46D6-9DB0-8F0F4B26F5BE}"/>
              </a:ext>
            </a:extLst>
          </p:cNvPr>
          <p:cNvSpPr>
            <a:spLocks xmlns:a="http://schemas.openxmlformats.org/drawingml/2006/main" noGrp="1"/>
          </p:cNvSpPr>
          <p:nvPr/>
        </p:nvSpPr>
        <p:spPr>
          <a:xfrm xmlns:a="http://schemas.openxmlformats.org/drawingml/2006/main">
            <a:off x="3181350" y="3476625"/>
            <a:ext cx="152400" cy="171450"/>
          </a:xfrm>
          <a:prstGeom xmlns:a="http://schemas.openxmlformats.org/drawingml/2006/main" prst="rightArrow">
            <a:avLst/>
          </a:prstGeom>
          <a:solidFill xmlns:a="http://schemas.openxmlformats.org/drawingml/2006/main">
            <a:srgbClr val="187257"/>
          </a:solidFill>
          <a:ln xmlns:a="http://schemas.openxmlformats.org/drawingml/2006/main" w="0">
            <a:solidFill>
              <a:srgbClr val="187257"/>
            </a:solidFill>
          </a:ln>
        </p:spPr>
      </p:sp>
      <p:sp>
        <p:nvSpPr>
          <p:cNvPr id="13" name="">
            <a:extLst xmlns:a="http://schemas.openxmlformats.org/drawingml/2006/main">
              <a:ext uri="{FF2B5EF4-FFF2-40B4-BE49-F238E27FC236}">
                <a16:creationId xmlns:a16="http://schemas.microsoft.com/office/drawing/2014/main" id="{5B056FFC-649D-4B74-BD03-2DF5077DDD5C}"/>
              </a:ext>
            </a:extLst>
          </p:cNvPr>
          <p:cNvSpPr>
            <a:spLocks xmlns:a="http://schemas.openxmlformats.org/drawingml/2006/main" noGrp="1"/>
          </p:cNvSpPr>
          <p:nvPr/>
        </p:nvSpPr>
        <p:spPr>
          <a:xfrm xmlns:a="http://schemas.openxmlformats.org/drawingml/2006/main">
            <a:off x="3371850" y="2600325"/>
            <a:ext cx="2609850" cy="2009775"/>
          </a:xfrm>
          <a:prstGeom xmlns:a="http://schemas.openxmlformats.org/drawingml/2006/main" prst="roundRect">
            <a:avLst>
              <a:gd name="adj" fmla="val 3791"/>
            </a:avLst>
          </a:prstGeom>
          <a:solidFill xmlns:a="http://schemas.openxmlformats.org/drawingml/2006/main">
            <a:srgbClr val="FFFFFF"/>
          </a:solidFill>
          <a:ln xmlns:a="http://schemas.openxmlformats.org/drawingml/2006/main" w="9525">
            <a:solidFill>
              <a:srgbClr val="D3DED1"/>
            </a:solidFill>
            <a:prstDash val="solid"/>
          </a:ln>
        </p:spPr>
      </p:sp>
      <p:sp>
        <p:nvSpPr>
          <p:cNvPr id="14" name="">
            <a:extLst xmlns:a="http://schemas.openxmlformats.org/drawingml/2006/main">
              <a:ext uri="{FF2B5EF4-FFF2-40B4-BE49-F238E27FC236}">
                <a16:creationId xmlns:a16="http://schemas.microsoft.com/office/drawing/2014/main" id="{7F415CA0-49F4-449D-B9AC-3313C6EEACBC}"/>
              </a:ext>
            </a:extLst>
          </p:cNvPr>
          <p:cNvSpPr>
            <a:spLocks xmlns:a="http://schemas.openxmlformats.org/drawingml/2006/main" noGrp="1"/>
          </p:cNvSpPr>
          <p:nvPr/>
        </p:nvSpPr>
        <p:spPr>
          <a:xfrm xmlns:a="http://schemas.openxmlformats.org/drawingml/2006/main">
            <a:off x="3581400" y="2790825"/>
            <a:ext cx="219075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Contextualize</a:t>
            </a:r>
          </a:p>
        </p:txBody>
      </p:sp>
      <p:sp>
        <p:nvSpPr>
          <p:cNvPr id="15" name="">
            <a:extLst xmlns:a="http://schemas.openxmlformats.org/drawingml/2006/main">
              <a:ext uri="{FF2B5EF4-FFF2-40B4-BE49-F238E27FC236}">
                <a16:creationId xmlns:a16="http://schemas.microsoft.com/office/drawing/2014/main" id="{7A219361-C62D-47BC-920C-68DC29F5582A}"/>
              </a:ext>
            </a:extLst>
          </p:cNvPr>
          <p:cNvSpPr>
            <a:spLocks xmlns:a="http://schemas.openxmlformats.org/drawingml/2006/main" noGrp="1"/>
          </p:cNvSpPr>
          <p:nvPr/>
        </p:nvSpPr>
        <p:spPr>
          <a:xfrm xmlns:a="http://schemas.openxmlformats.org/drawingml/2006/main">
            <a:off x="3581400" y="3400425"/>
            <a:ext cx="2190750" cy="11144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Expected behavior for the product mix</a:t>
            </a:r>
          </a:p>
        </p:txBody>
      </p:sp>
      <p:sp>
        <p:nvSpPr>
          <p:cNvPr id="16" name="">
            <a:extLst xmlns:a="http://schemas.openxmlformats.org/drawingml/2006/main">
              <a:ext uri="{FF2B5EF4-FFF2-40B4-BE49-F238E27FC236}">
                <a16:creationId xmlns:a16="http://schemas.microsoft.com/office/drawing/2014/main" id="{6D3C1DE3-3292-4E8F-B6D6-AC53E41F6125}"/>
              </a:ext>
            </a:extLst>
          </p:cNvPr>
          <p:cNvSpPr>
            <a:spLocks xmlns:a="http://schemas.openxmlformats.org/drawingml/2006/main" noGrp="1"/>
          </p:cNvSpPr>
          <p:nvPr/>
        </p:nvSpPr>
        <p:spPr>
          <a:xfrm xmlns:a="http://schemas.openxmlformats.org/drawingml/2006/main">
            <a:off x="6019800" y="3476625"/>
            <a:ext cx="152400" cy="171450"/>
          </a:xfrm>
          <a:prstGeom xmlns:a="http://schemas.openxmlformats.org/drawingml/2006/main" prst="rightArrow">
            <a:avLst/>
          </a:prstGeom>
          <a:solidFill xmlns:a="http://schemas.openxmlformats.org/drawingml/2006/main">
            <a:srgbClr val="187257"/>
          </a:solidFill>
          <a:ln xmlns:a="http://schemas.openxmlformats.org/drawingml/2006/main" w="0">
            <a:solidFill>
              <a:srgbClr val="187257"/>
            </a:solidFill>
          </a:ln>
        </p:spPr>
      </p:sp>
      <p:sp>
        <p:nvSpPr>
          <p:cNvPr id="17" name="">
            <a:extLst xmlns:a="http://schemas.openxmlformats.org/drawingml/2006/main">
              <a:ext uri="{FF2B5EF4-FFF2-40B4-BE49-F238E27FC236}">
                <a16:creationId xmlns:a16="http://schemas.microsoft.com/office/drawing/2014/main" id="{23C9C416-1803-41AA-9586-2FAF4052B2DB}"/>
              </a:ext>
            </a:extLst>
          </p:cNvPr>
          <p:cNvSpPr>
            <a:spLocks xmlns:a="http://schemas.openxmlformats.org/drawingml/2006/main" noGrp="1"/>
          </p:cNvSpPr>
          <p:nvPr/>
        </p:nvSpPr>
        <p:spPr>
          <a:xfrm xmlns:a="http://schemas.openxmlformats.org/drawingml/2006/main">
            <a:off x="6210300" y="2600325"/>
            <a:ext cx="2609850" cy="2009775"/>
          </a:xfrm>
          <a:prstGeom xmlns:a="http://schemas.openxmlformats.org/drawingml/2006/main" prst="roundRect">
            <a:avLst>
              <a:gd name="adj" fmla="val 3791"/>
            </a:avLst>
          </a:prstGeom>
          <a:solidFill xmlns:a="http://schemas.openxmlformats.org/drawingml/2006/main">
            <a:srgbClr val="DDEBDD"/>
          </a:solidFill>
          <a:ln xmlns:a="http://schemas.openxmlformats.org/drawingml/2006/main" w="9525">
            <a:solidFill>
              <a:srgbClr val="D3DED1"/>
            </a:solidFill>
            <a:prstDash val="solid"/>
          </a:ln>
        </p:spPr>
      </p:sp>
      <p:sp>
        <p:nvSpPr>
          <p:cNvPr id="18" name="">
            <a:extLst xmlns:a="http://schemas.openxmlformats.org/drawingml/2006/main">
              <a:ext uri="{FF2B5EF4-FFF2-40B4-BE49-F238E27FC236}">
                <a16:creationId xmlns:a16="http://schemas.microsoft.com/office/drawing/2014/main" id="{0BE278B3-D9B9-4B0A-B9BD-A5CF9D2BE314}"/>
              </a:ext>
            </a:extLst>
          </p:cNvPr>
          <p:cNvSpPr>
            <a:spLocks xmlns:a="http://schemas.openxmlformats.org/drawingml/2006/main" noGrp="1"/>
          </p:cNvSpPr>
          <p:nvPr/>
        </p:nvSpPr>
        <p:spPr>
          <a:xfrm xmlns:a="http://schemas.openxmlformats.org/drawingml/2006/main">
            <a:off x="6419850" y="2790825"/>
            <a:ext cx="219075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Prioritize</a:t>
            </a:r>
          </a:p>
        </p:txBody>
      </p:sp>
      <p:sp>
        <p:nvSpPr>
          <p:cNvPr id="19" name="">
            <a:extLst xmlns:a="http://schemas.openxmlformats.org/drawingml/2006/main">
              <a:ext uri="{FF2B5EF4-FFF2-40B4-BE49-F238E27FC236}">
                <a16:creationId xmlns:a16="http://schemas.microsoft.com/office/drawing/2014/main" id="{C741FB8B-F923-425B-9C2C-51D6FD011A99}"/>
              </a:ext>
            </a:extLst>
          </p:cNvPr>
          <p:cNvSpPr>
            <a:spLocks xmlns:a="http://schemas.openxmlformats.org/drawingml/2006/main" noGrp="1"/>
          </p:cNvSpPr>
          <p:nvPr/>
        </p:nvSpPr>
        <p:spPr>
          <a:xfrm xmlns:a="http://schemas.openxmlformats.org/drawingml/2006/main">
            <a:off x="6419850" y="3400425"/>
            <a:ext cx="2190750" cy="11144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One customer ranking at a fixed review budget</a:t>
            </a:r>
          </a:p>
        </p:txBody>
      </p:sp>
      <p:sp>
        <p:nvSpPr>
          <p:cNvPr id="20" name="">
            <a:extLst xmlns:a="http://schemas.openxmlformats.org/drawingml/2006/main">
              <a:ext uri="{FF2B5EF4-FFF2-40B4-BE49-F238E27FC236}">
                <a16:creationId xmlns:a16="http://schemas.microsoft.com/office/drawing/2014/main" id="{839E4667-EF5B-4D86-A000-BC64C8BA19D0}"/>
              </a:ext>
            </a:extLst>
          </p:cNvPr>
          <p:cNvSpPr>
            <a:spLocks xmlns:a="http://schemas.openxmlformats.org/drawingml/2006/main" noGrp="1"/>
          </p:cNvSpPr>
          <p:nvPr/>
        </p:nvSpPr>
        <p:spPr>
          <a:xfrm xmlns:a="http://schemas.openxmlformats.org/drawingml/2006/main">
            <a:off x="8858250" y="3476625"/>
            <a:ext cx="152400" cy="171450"/>
          </a:xfrm>
          <a:prstGeom xmlns:a="http://schemas.openxmlformats.org/drawingml/2006/main" prst="rightArrow">
            <a:avLst/>
          </a:prstGeom>
          <a:solidFill xmlns:a="http://schemas.openxmlformats.org/drawingml/2006/main">
            <a:srgbClr val="187257"/>
          </a:solidFill>
          <a:ln xmlns:a="http://schemas.openxmlformats.org/drawingml/2006/main" w="0">
            <a:solidFill>
              <a:srgbClr val="187257"/>
            </a:solidFill>
          </a:ln>
        </p:spPr>
      </p:sp>
      <p:sp>
        <p:nvSpPr>
          <p:cNvPr id="21" name="">
            <a:extLst xmlns:a="http://schemas.openxmlformats.org/drawingml/2006/main">
              <a:ext uri="{FF2B5EF4-FFF2-40B4-BE49-F238E27FC236}">
                <a16:creationId xmlns:a16="http://schemas.microsoft.com/office/drawing/2014/main" id="{469C16A5-C138-48B2-8690-3AE0430915BF}"/>
              </a:ext>
            </a:extLst>
          </p:cNvPr>
          <p:cNvSpPr>
            <a:spLocks xmlns:a="http://schemas.openxmlformats.org/drawingml/2006/main" noGrp="1"/>
          </p:cNvSpPr>
          <p:nvPr/>
        </p:nvSpPr>
        <p:spPr>
          <a:xfrm xmlns:a="http://schemas.openxmlformats.org/drawingml/2006/main">
            <a:off x="9048750" y="2600325"/>
            <a:ext cx="2609850" cy="2009775"/>
          </a:xfrm>
          <a:prstGeom xmlns:a="http://schemas.openxmlformats.org/drawingml/2006/main" prst="roundRect">
            <a:avLst>
              <a:gd name="adj" fmla="val 3791"/>
            </a:avLst>
          </a:prstGeom>
          <a:solidFill xmlns:a="http://schemas.openxmlformats.org/drawingml/2006/main">
            <a:srgbClr val="FFFFFF"/>
          </a:solidFill>
          <a:ln xmlns:a="http://schemas.openxmlformats.org/drawingml/2006/main" w="9525">
            <a:solidFill>
              <a:srgbClr val="D3DED1"/>
            </a:solidFill>
            <a:prstDash val="solid"/>
          </a:ln>
        </p:spPr>
      </p:sp>
      <p:sp>
        <p:nvSpPr>
          <p:cNvPr id="22" name="">
            <a:extLst xmlns:a="http://schemas.openxmlformats.org/drawingml/2006/main">
              <a:ext uri="{FF2B5EF4-FFF2-40B4-BE49-F238E27FC236}">
                <a16:creationId xmlns:a16="http://schemas.microsoft.com/office/drawing/2014/main" id="{F6A2619C-8E78-467C-B556-EFA67D589996}"/>
              </a:ext>
            </a:extLst>
          </p:cNvPr>
          <p:cNvSpPr>
            <a:spLocks xmlns:a="http://schemas.openxmlformats.org/drawingml/2006/main" noGrp="1"/>
          </p:cNvSpPr>
          <p:nvPr/>
        </p:nvSpPr>
        <p:spPr>
          <a:xfrm xmlns:a="http://schemas.openxmlformats.org/drawingml/2006/main">
            <a:off x="9258300" y="2790825"/>
            <a:ext cx="219075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Investigate</a:t>
            </a:r>
          </a:p>
        </p:txBody>
      </p:sp>
      <p:sp>
        <p:nvSpPr>
          <p:cNvPr id="23" name="">
            <a:extLst xmlns:a="http://schemas.openxmlformats.org/drawingml/2006/main">
              <a:ext uri="{FF2B5EF4-FFF2-40B4-BE49-F238E27FC236}">
                <a16:creationId xmlns:a16="http://schemas.microsoft.com/office/drawing/2014/main" id="{F554D159-9821-4DFF-B48B-F96E7B41D4B1}"/>
              </a:ext>
            </a:extLst>
          </p:cNvPr>
          <p:cNvSpPr>
            <a:spLocks xmlns:a="http://schemas.openxmlformats.org/drawingml/2006/main" noGrp="1"/>
          </p:cNvSpPr>
          <p:nvPr/>
        </p:nvSpPr>
        <p:spPr>
          <a:xfrm xmlns:a="http://schemas.openxmlformats.org/drawingml/2006/main">
            <a:off x="9258300" y="3400425"/>
            <a:ext cx="2190750" cy="11144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Case evidence and append-only notes</a:t>
            </a:r>
          </a:p>
        </p:txBody>
      </p:sp>
      <p:sp>
        <p:nvSpPr>
          <p:cNvPr id="24" name="">
            <a:extLst xmlns:a="http://schemas.openxmlformats.org/drawingml/2006/main">
              <a:ext uri="{FF2B5EF4-FFF2-40B4-BE49-F238E27FC236}">
                <a16:creationId xmlns:a16="http://schemas.microsoft.com/office/drawing/2014/main" id="{C6FC42CF-8679-438C-BAD9-C0306C4A50CA}"/>
              </a:ext>
            </a:extLst>
          </p:cNvPr>
          <p:cNvSpPr>
            <a:spLocks xmlns:a="http://schemas.openxmlformats.org/drawingml/2006/main" noGrp="1"/>
          </p:cNvSpPr>
          <p:nvPr/>
        </p:nvSpPr>
        <p:spPr>
          <a:xfrm xmlns:a="http://schemas.openxmlformats.org/drawingml/2006/main">
            <a:off x="533400" y="5286375"/>
            <a:ext cx="11125200" cy="847725"/>
          </a:xfrm>
          <a:prstGeom xmlns:a="http://schemas.openxmlformats.org/drawingml/2006/main" prst="roundRect">
            <a:avLst>
              <a:gd name="adj" fmla="val 8989"/>
            </a:avLst>
          </a:prstGeom>
          <a:solidFill xmlns:a="http://schemas.openxmlformats.org/drawingml/2006/main">
            <a:srgbClr val="DDEBDD"/>
          </a:solidFill>
          <a:ln xmlns:a="http://schemas.openxmlformats.org/drawingml/2006/main" w="9525">
            <a:solidFill>
              <a:srgbClr val="DDEBDD"/>
            </a:solidFill>
            <a:prstDash val="solid"/>
          </a:ln>
        </p:spPr>
      </p:sp>
      <p:sp>
        <p:nvSpPr>
          <p:cNvPr id="25" name="">
            <a:extLst xmlns:a="http://schemas.openxmlformats.org/drawingml/2006/main">
              <a:ext uri="{FF2B5EF4-FFF2-40B4-BE49-F238E27FC236}">
                <a16:creationId xmlns:a16="http://schemas.microsoft.com/office/drawing/2014/main" id="{C030D4BA-3CD9-4E0B-92C7-3D137A6BB07C}"/>
              </a:ext>
            </a:extLst>
          </p:cNvPr>
          <p:cNvSpPr>
            <a:spLocks xmlns:a="http://schemas.openxmlformats.org/drawingml/2006/main" noGrp="1"/>
          </p:cNvSpPr>
          <p:nvPr/>
        </p:nvSpPr>
        <p:spPr>
          <a:xfrm xmlns:a="http://schemas.openxmlformats.org/drawingml/2006/main">
            <a:off x="742950" y="5429250"/>
            <a:ext cx="247650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1">
                <a:solidFill>
                  <a:srgbClr val="187257"/>
                </a:solidFill>
              </a:rPr>
              <a:t>Human decision support</a:t>
            </a:r>
          </a:p>
        </p:txBody>
      </p:sp>
      <p:sp>
        <p:nvSpPr>
          <p:cNvPr id="26" name="">
            <a:extLst xmlns:a="http://schemas.openxmlformats.org/drawingml/2006/main">
              <a:ext uri="{FF2B5EF4-FFF2-40B4-BE49-F238E27FC236}">
                <a16:creationId xmlns:a16="http://schemas.microsoft.com/office/drawing/2014/main" id="{69C18EFC-452E-493E-9C6F-D531583A532B}"/>
              </a:ext>
            </a:extLst>
          </p:cNvPr>
          <p:cNvSpPr>
            <a:spLocks xmlns:a="http://schemas.openxmlformats.org/drawingml/2006/main" noGrp="1"/>
          </p:cNvSpPr>
          <p:nvPr/>
        </p:nvSpPr>
        <p:spPr>
          <a:xfrm xmlns:a="http://schemas.openxmlformats.org/drawingml/2006/main">
            <a:off x="3333750" y="5429250"/>
            <a:ext cx="8096250" cy="571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153C32"/>
                </a:solidFill>
              </a:rPr>
              <a:t>No automatic refund denial or account action. If models fail the gate, show the baseline.</a:t>
            </a:r>
          </a:p>
        </p:txBody>
      </p:sp>
    </p:spTree>
    <p:extLst>
      <p:ext uri="{BB962C8B-B14F-4D97-AF65-F5344CB8AC3E}">
        <p14:creationId xmlns:p14="http://schemas.microsoft.com/office/powerpoint/2010/main" val="1131250756"/>
      </p:ext>
    </p:extLst>
  </p:cSld>
</p:sld>
</file>

<file path=ppt/slides/slide4.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9CEEB751-5A80-4745-B8D2-F7846836FFBE}"/>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187257"/>
                </a:solidFill>
              </a:rPr>
              <a:t>ARAI  /  XHACK 2026</a:t>
            </a:r>
          </a:p>
        </p:txBody>
      </p:sp>
      <p:sp>
        <p:nvSpPr>
          <p:cNvPr id="3" name="">
            <a:extLst xmlns:a="http://schemas.openxmlformats.org/drawingml/2006/main">
              <a:ext uri="{FF2B5EF4-FFF2-40B4-BE49-F238E27FC236}">
                <a16:creationId xmlns:a16="http://schemas.microsoft.com/office/drawing/2014/main" id="{DDE9DE11-DF77-49BA-912A-6E557B2D15DA}"/>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61766A"/>
                </a:solidFill>
              </a:rPr>
              <a:t>KEY FEATURES</a:t>
            </a:r>
          </a:p>
        </p:txBody>
      </p:sp>
      <p:sp>
        <p:nvSpPr>
          <p:cNvPr id="4" name="">
            <a:extLst xmlns:a="http://schemas.openxmlformats.org/drawingml/2006/main">
              <a:ext uri="{FF2B5EF4-FFF2-40B4-BE49-F238E27FC236}">
                <a16:creationId xmlns:a16="http://schemas.microsoft.com/office/drawing/2014/main" id="{E83DD538-D203-4BAF-8ECB-496A0EE39B95}"/>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153C32"/>
                </a:solidFill>
              </a:rPr>
              <a:t>Four connected investigation views.</a:t>
            </a:r>
          </a:p>
        </p:txBody>
      </p:sp>
      <p:sp>
        <p:nvSpPr>
          <p:cNvPr id="5" name="">
            <a:extLst xmlns:a="http://schemas.openxmlformats.org/drawingml/2006/main">
              <a:ext uri="{FF2B5EF4-FFF2-40B4-BE49-F238E27FC236}">
                <a16:creationId xmlns:a16="http://schemas.microsoft.com/office/drawing/2014/main" id="{10E5E7B8-DEA7-4D32-8A57-71202842A266}"/>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61766A"/>
                </a:solidFill>
              </a:rPr>
              <a:t>A focused MVP that connects customer behavior with product context.</a:t>
            </a:r>
          </a:p>
        </p:txBody>
      </p:sp>
      <p:sp>
        <p:nvSpPr>
          <p:cNvPr id="6" name="">
            <a:extLst xmlns:a="http://schemas.openxmlformats.org/drawingml/2006/main">
              <a:ext uri="{FF2B5EF4-FFF2-40B4-BE49-F238E27FC236}">
                <a16:creationId xmlns:a16="http://schemas.microsoft.com/office/drawing/2014/main" id="{A2B480D8-4B7C-4390-9ED3-CF73E209B80F}"/>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3DED1"/>
          </a:solidFill>
          <a:ln xmlns:a="http://schemas.openxmlformats.org/drawingml/2006/main" w="9525">
            <a:solidFill>
              <a:srgbClr val="D3DED1"/>
            </a:solidFill>
            <a:prstDash val="solid"/>
          </a:ln>
        </p:spPr>
      </p:sp>
      <p:sp>
        <p:nvSpPr>
          <p:cNvPr id="7" name="">
            <a:extLst xmlns:a="http://schemas.openxmlformats.org/drawingml/2006/main">
              <a:ext uri="{FF2B5EF4-FFF2-40B4-BE49-F238E27FC236}">
                <a16:creationId xmlns:a16="http://schemas.microsoft.com/office/drawing/2014/main" id="{5B25221B-60EB-41A8-BD85-2D80AD239FB7}"/>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61766A"/>
                </a:solidFill>
              </a:rPr>
              <a:t>DESIGN PRESENTATION  •  28 SEPTEMBER 2026</a:t>
            </a:r>
          </a:p>
        </p:txBody>
      </p:sp>
      <p:sp>
        <p:nvSpPr>
          <p:cNvPr id="8" name="">
            <a:extLst xmlns:a="http://schemas.openxmlformats.org/drawingml/2006/main">
              <a:ext uri="{FF2B5EF4-FFF2-40B4-BE49-F238E27FC236}">
                <a16:creationId xmlns:a16="http://schemas.microsoft.com/office/drawing/2014/main" id="{3C981C56-F902-46A1-BC19-9CC3AFDBCC42}"/>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04</a:t>
            </a:r>
          </a:p>
        </p:txBody>
      </p:sp>
      <p:sp>
        <p:nvSpPr>
          <p:cNvPr id="9" name="">
            <a:extLst xmlns:a="http://schemas.openxmlformats.org/drawingml/2006/main">
              <a:ext uri="{FF2B5EF4-FFF2-40B4-BE49-F238E27FC236}">
                <a16:creationId xmlns:a16="http://schemas.microsoft.com/office/drawing/2014/main" id="{FEB928A1-E141-41E6-95E0-249DA5A7B8DF}"/>
              </a:ext>
            </a:extLst>
          </p:cNvPr>
          <p:cNvSpPr>
            <a:spLocks xmlns:a="http://schemas.openxmlformats.org/drawingml/2006/main" noGrp="1"/>
          </p:cNvSpPr>
          <p:nvPr/>
        </p:nvSpPr>
        <p:spPr>
          <a:xfrm xmlns:a="http://schemas.openxmlformats.org/drawingml/2006/main">
            <a:off x="533400" y="2457450"/>
            <a:ext cx="5438775"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3DED1"/>
            </a:solidFill>
            <a:prstDash val="solid"/>
          </a:ln>
        </p:spPr>
      </p:sp>
      <p:sp>
        <p:nvSpPr>
          <p:cNvPr id="10" name="">
            <a:extLst xmlns:a="http://schemas.openxmlformats.org/drawingml/2006/main">
              <a:ext uri="{FF2B5EF4-FFF2-40B4-BE49-F238E27FC236}">
                <a16:creationId xmlns:a16="http://schemas.microsoft.com/office/drawing/2014/main" id="{408B4A03-923C-450D-8450-37C6E0AF520E}"/>
              </a:ext>
            </a:extLst>
          </p:cNvPr>
          <p:cNvSpPr>
            <a:spLocks xmlns:a="http://schemas.openxmlformats.org/drawingml/2006/main" noGrp="1"/>
          </p:cNvSpPr>
          <p:nvPr/>
        </p:nvSpPr>
        <p:spPr>
          <a:xfrm xmlns:a="http://schemas.openxmlformats.org/drawingml/2006/main">
            <a:off x="742950" y="2647950"/>
            <a:ext cx="50196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01  Customer queue + cases</a:t>
            </a:r>
          </a:p>
        </p:txBody>
      </p:sp>
      <p:sp>
        <p:nvSpPr>
          <p:cNvPr id="11" name="">
            <a:extLst xmlns:a="http://schemas.openxmlformats.org/drawingml/2006/main">
              <a:ext uri="{FF2B5EF4-FFF2-40B4-BE49-F238E27FC236}">
                <a16:creationId xmlns:a16="http://schemas.microsoft.com/office/drawing/2014/main" id="{BBBA9A82-5BBE-4E59-9D55-A2BEA25462D3}"/>
              </a:ext>
            </a:extLst>
          </p:cNvPr>
          <p:cNvSpPr>
            <a:spLocks xmlns:a="http://schemas.openxmlformats.org/drawingml/2006/main" noGrp="1"/>
          </p:cNvSpPr>
          <p:nvPr/>
        </p:nvSpPr>
        <p:spPr>
          <a:xfrm xmlns:a="http://schemas.openxmlformats.org/drawingml/2006/main">
            <a:off x="742950" y="3257550"/>
            <a:ext cx="5019675" cy="7620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Review ranked customers, supporting events and analyst notes.</a:t>
            </a:r>
          </a:p>
        </p:txBody>
      </p:sp>
      <p:sp>
        <p:nvSpPr>
          <p:cNvPr id="12" name="">
            <a:extLst xmlns:a="http://schemas.openxmlformats.org/drawingml/2006/main">
              <a:ext uri="{FF2B5EF4-FFF2-40B4-BE49-F238E27FC236}">
                <a16:creationId xmlns:a16="http://schemas.microsoft.com/office/drawing/2014/main" id="{FB39E1DA-D2D7-499A-BC91-24B2D98A4EB7}"/>
              </a:ext>
            </a:extLst>
          </p:cNvPr>
          <p:cNvSpPr>
            <a:spLocks xmlns:a="http://schemas.openxmlformats.org/drawingml/2006/main" noGrp="1"/>
          </p:cNvSpPr>
          <p:nvPr/>
        </p:nvSpPr>
        <p:spPr>
          <a:xfrm xmlns:a="http://schemas.openxmlformats.org/drawingml/2006/main">
            <a:off x="6219825" y="2457450"/>
            <a:ext cx="5438775"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3DED1"/>
            </a:solidFill>
            <a:prstDash val="solid"/>
          </a:ln>
        </p:spPr>
      </p:sp>
      <p:sp>
        <p:nvSpPr>
          <p:cNvPr id="13" name="">
            <a:extLst xmlns:a="http://schemas.openxmlformats.org/drawingml/2006/main">
              <a:ext uri="{FF2B5EF4-FFF2-40B4-BE49-F238E27FC236}">
                <a16:creationId xmlns:a16="http://schemas.microsoft.com/office/drawing/2014/main" id="{3F46D9AA-F01B-4D2B-829A-9599C5623FF3}"/>
              </a:ext>
            </a:extLst>
          </p:cNvPr>
          <p:cNvSpPr>
            <a:spLocks xmlns:a="http://schemas.openxmlformats.org/drawingml/2006/main" noGrp="1"/>
          </p:cNvSpPr>
          <p:nvPr/>
        </p:nvSpPr>
        <p:spPr>
          <a:xfrm xmlns:a="http://schemas.openxmlformats.org/drawingml/2006/main">
            <a:off x="6429375" y="2647950"/>
            <a:ext cx="50196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02  Style + SKU exploration</a:t>
            </a:r>
          </a:p>
        </p:txBody>
      </p:sp>
      <p:sp>
        <p:nvSpPr>
          <p:cNvPr id="14" name="">
            <a:extLst xmlns:a="http://schemas.openxmlformats.org/drawingml/2006/main">
              <a:ext uri="{FF2B5EF4-FFF2-40B4-BE49-F238E27FC236}">
                <a16:creationId xmlns:a16="http://schemas.microsoft.com/office/drawing/2014/main" id="{84812949-2CD8-49A6-AF05-A3167D10D9D4}"/>
              </a:ext>
            </a:extLst>
          </p:cNvPr>
          <p:cNvSpPr>
            <a:spLocks xmlns:a="http://schemas.openxmlformats.org/drawingml/2006/main" noGrp="1"/>
          </p:cNvSpPr>
          <p:nvPr/>
        </p:nvSpPr>
        <p:spPr>
          <a:xfrm xmlns:a="http://schemas.openxmlformats.org/drawingml/2006/main">
            <a:off x="6429375" y="3257550"/>
            <a:ext cx="5019675" cy="7620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Identify product-driven returns before attributing customer intent.</a:t>
            </a:r>
          </a:p>
        </p:txBody>
      </p:sp>
      <p:sp>
        <p:nvSpPr>
          <p:cNvPr id="15" name="">
            <a:extLst xmlns:a="http://schemas.openxmlformats.org/drawingml/2006/main">
              <a:ext uri="{FF2B5EF4-FFF2-40B4-BE49-F238E27FC236}">
                <a16:creationId xmlns:a16="http://schemas.microsoft.com/office/drawing/2014/main" id="{3CB9E098-06BF-4D08-A2E3-A3FDC22CFD1F}"/>
              </a:ext>
            </a:extLst>
          </p:cNvPr>
          <p:cNvSpPr>
            <a:spLocks xmlns:a="http://schemas.openxmlformats.org/drawingml/2006/main" noGrp="1"/>
          </p:cNvSpPr>
          <p:nvPr/>
        </p:nvSpPr>
        <p:spPr>
          <a:xfrm xmlns:a="http://schemas.openxmlformats.org/drawingml/2006/main">
            <a:off x="533400" y="4343400"/>
            <a:ext cx="5438775"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3DED1"/>
            </a:solidFill>
            <a:prstDash val="solid"/>
          </a:ln>
        </p:spPr>
      </p:sp>
      <p:sp>
        <p:nvSpPr>
          <p:cNvPr id="16" name="">
            <a:extLst xmlns:a="http://schemas.openxmlformats.org/drawingml/2006/main">
              <a:ext uri="{FF2B5EF4-FFF2-40B4-BE49-F238E27FC236}">
                <a16:creationId xmlns:a16="http://schemas.microsoft.com/office/drawing/2014/main" id="{713A23BA-D0EE-4419-92ED-48F18C3B3062}"/>
              </a:ext>
            </a:extLst>
          </p:cNvPr>
          <p:cNvSpPr>
            <a:spLocks xmlns:a="http://schemas.openxmlformats.org/drawingml/2006/main" noGrp="1"/>
          </p:cNvSpPr>
          <p:nvPr/>
        </p:nvSpPr>
        <p:spPr>
          <a:xfrm xmlns:a="http://schemas.openxmlformats.org/drawingml/2006/main">
            <a:off x="742950" y="4533900"/>
            <a:ext cx="50196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03  Relationship evidence</a:t>
            </a:r>
          </a:p>
        </p:txBody>
      </p:sp>
      <p:sp>
        <p:nvSpPr>
          <p:cNvPr id="17" name="">
            <a:extLst xmlns:a="http://schemas.openxmlformats.org/drawingml/2006/main">
              <a:ext uri="{FF2B5EF4-FFF2-40B4-BE49-F238E27FC236}">
                <a16:creationId xmlns:a16="http://schemas.microsoft.com/office/drawing/2014/main" id="{306D7FE1-5792-47F3-B62A-1C8C4B75DF56}"/>
              </a:ext>
            </a:extLst>
          </p:cNvPr>
          <p:cNvSpPr>
            <a:spLocks xmlns:a="http://schemas.openxmlformats.org/drawingml/2006/main" noGrp="1"/>
          </p:cNvSpPr>
          <p:nvPr/>
        </p:nvSpPr>
        <p:spPr>
          <a:xfrm xmlns:a="http://schemas.openxmlformats.org/drawingml/2006/main">
            <a:off x="742950" y="5143500"/>
            <a:ext cx="5019675" cy="7620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Inspect shared identifiers with safeguards for benign households.</a:t>
            </a:r>
          </a:p>
        </p:txBody>
      </p:sp>
      <p:sp>
        <p:nvSpPr>
          <p:cNvPr id="18" name="">
            <a:extLst xmlns:a="http://schemas.openxmlformats.org/drawingml/2006/main">
              <a:ext uri="{FF2B5EF4-FFF2-40B4-BE49-F238E27FC236}">
                <a16:creationId xmlns:a16="http://schemas.microsoft.com/office/drawing/2014/main" id="{0A684365-9AB8-4333-BB86-88315B0627A9}"/>
              </a:ext>
            </a:extLst>
          </p:cNvPr>
          <p:cNvSpPr>
            <a:spLocks xmlns:a="http://schemas.openxmlformats.org/drawingml/2006/main" noGrp="1"/>
          </p:cNvSpPr>
          <p:nvPr/>
        </p:nvSpPr>
        <p:spPr>
          <a:xfrm xmlns:a="http://schemas.openxmlformats.org/drawingml/2006/main">
            <a:off x="6219825" y="4343400"/>
            <a:ext cx="5438775"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3DED1"/>
            </a:solidFill>
            <a:prstDash val="solid"/>
          </a:ln>
        </p:spPr>
      </p:sp>
      <p:sp>
        <p:nvSpPr>
          <p:cNvPr id="19" name="">
            <a:extLst xmlns:a="http://schemas.openxmlformats.org/drawingml/2006/main">
              <a:ext uri="{FF2B5EF4-FFF2-40B4-BE49-F238E27FC236}">
                <a16:creationId xmlns:a16="http://schemas.microsoft.com/office/drawing/2014/main" id="{96BD0DE3-3A92-4542-8B41-8D1DEC0A6946}"/>
              </a:ext>
            </a:extLst>
          </p:cNvPr>
          <p:cNvSpPr>
            <a:spLocks xmlns:a="http://schemas.openxmlformats.org/drawingml/2006/main" noGrp="1"/>
          </p:cNvSpPr>
          <p:nvPr/>
        </p:nvSpPr>
        <p:spPr>
          <a:xfrm xmlns:a="http://schemas.openxmlformats.org/drawingml/2006/main">
            <a:off x="6429375" y="4533900"/>
            <a:ext cx="50196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04  Wardrobing indicator</a:t>
            </a:r>
          </a:p>
        </p:txBody>
      </p:sp>
      <p:sp>
        <p:nvSpPr>
          <p:cNvPr id="20" name="">
            <a:extLst xmlns:a="http://schemas.openxmlformats.org/drawingml/2006/main">
              <a:ext uri="{FF2B5EF4-FFF2-40B4-BE49-F238E27FC236}">
                <a16:creationId xmlns:a16="http://schemas.microsoft.com/office/drawing/2014/main" id="{1C04F9C0-7A1B-46A4-96D1-40B5659B1EF9}"/>
              </a:ext>
            </a:extLst>
          </p:cNvPr>
          <p:cNvSpPr>
            <a:spLocks xmlns:a="http://schemas.openxmlformats.org/drawingml/2006/main" noGrp="1"/>
          </p:cNvSpPr>
          <p:nvPr/>
        </p:nvSpPr>
        <p:spPr>
          <a:xfrm xmlns:a="http://schemas.openxmlformats.org/drawingml/2006/main">
            <a:off x="6429375" y="5143500"/>
            <a:ext cx="5019675" cy="7620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Keep the image-free timing signal separate from the overall model score.</a:t>
            </a:r>
          </a:p>
        </p:txBody>
      </p:sp>
    </p:spTree>
    <p:extLst>
      <p:ext uri="{BB962C8B-B14F-4D97-AF65-F5344CB8AC3E}">
        <p14:creationId xmlns:p14="http://schemas.microsoft.com/office/powerpoint/2010/main" val="1030877141"/>
      </p:ext>
    </p:extLst>
  </p:cSld>
</p:sld>
</file>

<file path=ppt/slides/slide5.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3CDFA0A-E391-42D9-AAB4-ABB88B05EF91}"/>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187257"/>
                </a:solidFill>
              </a:rPr>
              <a:t>ARAI  /  XHACK 2026</a:t>
            </a:r>
          </a:p>
        </p:txBody>
      </p:sp>
      <p:sp>
        <p:nvSpPr>
          <p:cNvPr id="3" name="">
            <a:extLst xmlns:a="http://schemas.openxmlformats.org/drawingml/2006/main">
              <a:ext uri="{FF2B5EF4-FFF2-40B4-BE49-F238E27FC236}">
                <a16:creationId xmlns:a16="http://schemas.microsoft.com/office/drawing/2014/main" id="{C5529365-2333-47AD-A87E-24CDD57FD447}"/>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61766A"/>
                </a:solidFill>
              </a:rPr>
              <a:t>ARCHITECTURE &amp; DATA FLOW</a:t>
            </a:r>
          </a:p>
        </p:txBody>
      </p:sp>
      <p:sp>
        <p:nvSpPr>
          <p:cNvPr id="4" name="">
            <a:extLst xmlns:a="http://schemas.openxmlformats.org/drawingml/2006/main">
              <a:ext uri="{FF2B5EF4-FFF2-40B4-BE49-F238E27FC236}">
                <a16:creationId xmlns:a16="http://schemas.microsoft.com/office/drawing/2014/main" id="{A19EEA80-D411-4C48-8551-81AA16A9F3B4}"/>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153C32"/>
                </a:solidFill>
              </a:rPr>
              <a:t>Train offline. Serve a frozen, traceable bundle.</a:t>
            </a:r>
          </a:p>
        </p:txBody>
      </p:sp>
      <p:sp>
        <p:nvSpPr>
          <p:cNvPr id="5" name="">
            <a:extLst xmlns:a="http://schemas.openxmlformats.org/drawingml/2006/main">
              <a:ext uri="{FF2B5EF4-FFF2-40B4-BE49-F238E27FC236}">
                <a16:creationId xmlns:a16="http://schemas.microsoft.com/office/drawing/2014/main" id="{6C4B814E-A6DA-4409-B212-F9E6865341C5}"/>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61766A"/>
                </a:solidFill>
              </a:rPr>
              <a:t>Shared feature logic keeps training and inference consistent.</a:t>
            </a:r>
          </a:p>
        </p:txBody>
      </p:sp>
      <p:sp>
        <p:nvSpPr>
          <p:cNvPr id="6" name="">
            <a:extLst xmlns:a="http://schemas.openxmlformats.org/drawingml/2006/main">
              <a:ext uri="{FF2B5EF4-FFF2-40B4-BE49-F238E27FC236}">
                <a16:creationId xmlns:a16="http://schemas.microsoft.com/office/drawing/2014/main" id="{B02D4502-EA78-4F25-8949-A3C2214E32B3}"/>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3DED1"/>
          </a:solidFill>
          <a:ln xmlns:a="http://schemas.openxmlformats.org/drawingml/2006/main" w="9525">
            <a:solidFill>
              <a:srgbClr val="D3DED1"/>
            </a:solidFill>
            <a:prstDash val="solid"/>
          </a:ln>
        </p:spPr>
      </p:sp>
      <p:sp>
        <p:nvSpPr>
          <p:cNvPr id="7" name="">
            <a:extLst xmlns:a="http://schemas.openxmlformats.org/drawingml/2006/main">
              <a:ext uri="{FF2B5EF4-FFF2-40B4-BE49-F238E27FC236}">
                <a16:creationId xmlns:a16="http://schemas.microsoft.com/office/drawing/2014/main" id="{66328FA8-681E-4BC3-9F70-6D010C5FBA0E}"/>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61766A"/>
                </a:solidFill>
              </a:rPr>
              <a:t>DESIGN PRESENTATION  •  28 SEPTEMBER 2026</a:t>
            </a:r>
          </a:p>
        </p:txBody>
      </p:sp>
      <p:sp>
        <p:nvSpPr>
          <p:cNvPr id="8" name="">
            <a:extLst xmlns:a="http://schemas.openxmlformats.org/drawingml/2006/main">
              <a:ext uri="{FF2B5EF4-FFF2-40B4-BE49-F238E27FC236}">
                <a16:creationId xmlns:a16="http://schemas.microsoft.com/office/drawing/2014/main" id="{29E9B793-4BF6-4E54-864F-D59933637EA9}"/>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05</a:t>
            </a:r>
          </a:p>
        </p:txBody>
      </p:sp>
      <p:sp>
        <p:nvSpPr>
          <p:cNvPr id="9" name="">
            <a:extLst xmlns:a="http://schemas.openxmlformats.org/drawingml/2006/main">
              <a:ext uri="{FF2B5EF4-FFF2-40B4-BE49-F238E27FC236}">
                <a16:creationId xmlns:a16="http://schemas.microsoft.com/office/drawing/2014/main" id="{B8C885EB-D207-49B4-9FBB-9A0A6070CB2D}"/>
              </a:ext>
            </a:extLst>
          </p:cNvPr>
          <p:cNvSpPr>
            <a:spLocks xmlns:a="http://schemas.openxmlformats.org/drawingml/2006/main" noGrp="1"/>
          </p:cNvSpPr>
          <p:nvPr/>
        </p:nvSpPr>
        <p:spPr>
          <a:xfrm xmlns:a="http://schemas.openxmlformats.org/drawingml/2006/main">
            <a:off x="533400" y="2409825"/>
            <a:ext cx="2476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125" b="1">
                <a:solidFill>
                  <a:srgbClr val="187257"/>
                </a:solidFill>
              </a:rPr>
              <a:t>OFFLINE BUILD</a:t>
            </a:r>
          </a:p>
        </p:txBody>
      </p:sp>
      <p:sp>
        <p:nvSpPr>
          <p:cNvPr id="10" name="">
            <a:extLst xmlns:a="http://schemas.openxmlformats.org/drawingml/2006/main">
              <a:ext uri="{FF2B5EF4-FFF2-40B4-BE49-F238E27FC236}">
                <a16:creationId xmlns:a16="http://schemas.microsoft.com/office/drawing/2014/main" id="{3FFA4AD7-0549-4CC2-A4EE-553C204C141C}"/>
              </a:ext>
            </a:extLst>
          </p:cNvPr>
          <p:cNvSpPr>
            <a:spLocks xmlns:a="http://schemas.openxmlformats.org/drawingml/2006/main" noGrp="1"/>
          </p:cNvSpPr>
          <p:nvPr/>
        </p:nvSpPr>
        <p:spPr>
          <a:xfrm xmlns:a="http://schemas.openxmlformats.org/drawingml/2006/main">
            <a:off x="533400" y="2762250"/>
            <a:ext cx="2609850"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3DED1"/>
            </a:solidFill>
            <a:prstDash val="solid"/>
          </a:ln>
        </p:spPr>
      </p:sp>
      <p:sp>
        <p:nvSpPr>
          <p:cNvPr id="11" name="">
            <a:extLst xmlns:a="http://schemas.openxmlformats.org/drawingml/2006/main">
              <a:ext uri="{FF2B5EF4-FFF2-40B4-BE49-F238E27FC236}">
                <a16:creationId xmlns:a16="http://schemas.microsoft.com/office/drawing/2014/main" id="{EECF1BB9-812C-443D-8982-605828E8A778}"/>
              </a:ext>
            </a:extLst>
          </p:cNvPr>
          <p:cNvSpPr>
            <a:spLocks xmlns:a="http://schemas.openxmlformats.org/drawingml/2006/main" noGrp="1"/>
          </p:cNvSpPr>
          <p:nvPr/>
        </p:nvSpPr>
        <p:spPr>
          <a:xfrm xmlns:a="http://schemas.openxmlformats.org/drawingml/2006/main">
            <a:off x="685800" y="2876550"/>
            <a:ext cx="230505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Synthetic worlds</a:t>
            </a:r>
          </a:p>
        </p:txBody>
      </p:sp>
      <p:sp>
        <p:nvSpPr>
          <p:cNvPr id="12" name="">
            <a:extLst xmlns:a="http://schemas.openxmlformats.org/drawingml/2006/main">
              <a:ext uri="{FF2B5EF4-FFF2-40B4-BE49-F238E27FC236}">
                <a16:creationId xmlns:a16="http://schemas.microsoft.com/office/drawing/2014/main" id="{594CA672-5F3C-409A-8D29-03D702C9B4BF}"/>
              </a:ext>
            </a:extLst>
          </p:cNvPr>
          <p:cNvSpPr>
            <a:spLocks xmlns:a="http://schemas.openxmlformats.org/drawingml/2006/main" noGrp="1"/>
          </p:cNvSpPr>
          <p:nvPr/>
        </p:nvSpPr>
        <p:spPr>
          <a:xfrm xmlns:a="http://schemas.openxmlformats.org/drawingml/2006/main">
            <a:off x="685800" y="3228975"/>
            <a:ext cx="2305050" cy="56197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Events + isolated private truth</a:t>
            </a:r>
          </a:p>
        </p:txBody>
      </p:sp>
      <p:sp>
        <p:nvSpPr>
          <p:cNvPr id="13" name="">
            <a:extLst xmlns:a="http://schemas.openxmlformats.org/drawingml/2006/main">
              <a:ext uri="{FF2B5EF4-FFF2-40B4-BE49-F238E27FC236}">
                <a16:creationId xmlns:a16="http://schemas.microsoft.com/office/drawing/2014/main" id="{985D12EB-B618-4D09-A028-761B3F92E04D}"/>
              </a:ext>
            </a:extLst>
          </p:cNvPr>
          <p:cNvSpPr>
            <a:spLocks xmlns:a="http://schemas.openxmlformats.org/drawingml/2006/main" noGrp="1"/>
          </p:cNvSpPr>
          <p:nvPr/>
        </p:nvSpPr>
        <p:spPr>
          <a:xfrm xmlns:a="http://schemas.openxmlformats.org/drawingml/2006/main">
            <a:off x="3181350" y="3209925"/>
            <a:ext cx="152400" cy="171450"/>
          </a:xfrm>
          <a:prstGeom xmlns:a="http://schemas.openxmlformats.org/drawingml/2006/main" prst="rightArrow">
            <a:avLst/>
          </a:prstGeom>
          <a:solidFill xmlns:a="http://schemas.openxmlformats.org/drawingml/2006/main">
            <a:srgbClr val="187257"/>
          </a:solidFill>
          <a:ln xmlns:a="http://schemas.openxmlformats.org/drawingml/2006/main" w="0">
            <a:solidFill>
              <a:srgbClr val="187257"/>
            </a:solidFill>
          </a:ln>
        </p:spPr>
      </p:sp>
      <p:sp>
        <p:nvSpPr>
          <p:cNvPr id="14" name="">
            <a:extLst xmlns:a="http://schemas.openxmlformats.org/drawingml/2006/main">
              <a:ext uri="{FF2B5EF4-FFF2-40B4-BE49-F238E27FC236}">
                <a16:creationId xmlns:a16="http://schemas.microsoft.com/office/drawing/2014/main" id="{31852B21-E7F9-423B-833E-59E4A803CA8D}"/>
              </a:ext>
            </a:extLst>
          </p:cNvPr>
          <p:cNvSpPr>
            <a:spLocks xmlns:a="http://schemas.openxmlformats.org/drawingml/2006/main" noGrp="1"/>
          </p:cNvSpPr>
          <p:nvPr/>
        </p:nvSpPr>
        <p:spPr>
          <a:xfrm xmlns:a="http://schemas.openxmlformats.org/drawingml/2006/main">
            <a:off x="3371850" y="2762250"/>
            <a:ext cx="2609850"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3DED1"/>
            </a:solidFill>
            <a:prstDash val="solid"/>
          </a:ln>
        </p:spPr>
      </p:sp>
      <p:sp>
        <p:nvSpPr>
          <p:cNvPr id="15" name="">
            <a:extLst xmlns:a="http://schemas.openxmlformats.org/drawingml/2006/main">
              <a:ext uri="{FF2B5EF4-FFF2-40B4-BE49-F238E27FC236}">
                <a16:creationId xmlns:a16="http://schemas.microsoft.com/office/drawing/2014/main" id="{9384F710-B3DF-418A-95EE-9C49E25295A9}"/>
              </a:ext>
            </a:extLst>
          </p:cNvPr>
          <p:cNvSpPr>
            <a:spLocks xmlns:a="http://schemas.openxmlformats.org/drawingml/2006/main" noGrp="1"/>
          </p:cNvSpPr>
          <p:nvPr/>
        </p:nvSpPr>
        <p:spPr>
          <a:xfrm xmlns:a="http://schemas.openxmlformats.org/drawingml/2006/main">
            <a:off x="3524250" y="2876550"/>
            <a:ext cx="230505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Validate + features</a:t>
            </a:r>
          </a:p>
        </p:txBody>
      </p:sp>
      <p:sp>
        <p:nvSpPr>
          <p:cNvPr id="16" name="">
            <a:extLst xmlns:a="http://schemas.openxmlformats.org/drawingml/2006/main">
              <a:ext uri="{FF2B5EF4-FFF2-40B4-BE49-F238E27FC236}">
                <a16:creationId xmlns:a16="http://schemas.microsoft.com/office/drawing/2014/main" id="{C9372BF6-E18E-4EE5-938E-8C5FE3C8034F}"/>
              </a:ext>
            </a:extLst>
          </p:cNvPr>
          <p:cNvSpPr>
            <a:spLocks xmlns:a="http://schemas.openxmlformats.org/drawingml/2006/main" noGrp="1"/>
          </p:cNvSpPr>
          <p:nvPr/>
        </p:nvSpPr>
        <p:spPr>
          <a:xfrm xmlns:a="http://schemas.openxmlformats.org/drawingml/2006/main">
            <a:off x="3524250" y="3228975"/>
            <a:ext cx="2305050" cy="56197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Maturity, peer context, graph</a:t>
            </a:r>
          </a:p>
        </p:txBody>
      </p:sp>
      <p:sp>
        <p:nvSpPr>
          <p:cNvPr id="17" name="">
            <a:extLst xmlns:a="http://schemas.openxmlformats.org/drawingml/2006/main">
              <a:ext uri="{FF2B5EF4-FFF2-40B4-BE49-F238E27FC236}">
                <a16:creationId xmlns:a16="http://schemas.microsoft.com/office/drawing/2014/main" id="{FC584F1E-9087-41F7-AAC9-928B4F45CFE9}"/>
              </a:ext>
            </a:extLst>
          </p:cNvPr>
          <p:cNvSpPr>
            <a:spLocks xmlns:a="http://schemas.openxmlformats.org/drawingml/2006/main" noGrp="1"/>
          </p:cNvSpPr>
          <p:nvPr/>
        </p:nvSpPr>
        <p:spPr>
          <a:xfrm xmlns:a="http://schemas.openxmlformats.org/drawingml/2006/main">
            <a:off x="6019800" y="3209925"/>
            <a:ext cx="152400" cy="171450"/>
          </a:xfrm>
          <a:prstGeom xmlns:a="http://schemas.openxmlformats.org/drawingml/2006/main" prst="rightArrow">
            <a:avLst/>
          </a:prstGeom>
          <a:solidFill xmlns:a="http://schemas.openxmlformats.org/drawingml/2006/main">
            <a:srgbClr val="187257"/>
          </a:solidFill>
          <a:ln xmlns:a="http://schemas.openxmlformats.org/drawingml/2006/main" w="0">
            <a:solidFill>
              <a:srgbClr val="187257"/>
            </a:solidFill>
          </a:ln>
        </p:spPr>
      </p:sp>
      <p:sp>
        <p:nvSpPr>
          <p:cNvPr id="18" name="">
            <a:extLst xmlns:a="http://schemas.openxmlformats.org/drawingml/2006/main">
              <a:ext uri="{FF2B5EF4-FFF2-40B4-BE49-F238E27FC236}">
                <a16:creationId xmlns:a16="http://schemas.microsoft.com/office/drawing/2014/main" id="{1950390D-476C-4C8B-87BB-11309B6BA627}"/>
              </a:ext>
            </a:extLst>
          </p:cNvPr>
          <p:cNvSpPr>
            <a:spLocks xmlns:a="http://schemas.openxmlformats.org/drawingml/2006/main" noGrp="1"/>
          </p:cNvSpPr>
          <p:nvPr/>
        </p:nvSpPr>
        <p:spPr>
          <a:xfrm xmlns:a="http://schemas.openxmlformats.org/drawingml/2006/main">
            <a:off x="6210300" y="2762250"/>
            <a:ext cx="2609850"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3DED1"/>
            </a:solidFill>
            <a:prstDash val="solid"/>
          </a:ln>
        </p:spPr>
      </p:sp>
      <p:sp>
        <p:nvSpPr>
          <p:cNvPr id="19" name="">
            <a:extLst xmlns:a="http://schemas.openxmlformats.org/drawingml/2006/main">
              <a:ext uri="{FF2B5EF4-FFF2-40B4-BE49-F238E27FC236}">
                <a16:creationId xmlns:a16="http://schemas.microsoft.com/office/drawing/2014/main" id="{915656D1-8298-4FF2-B8AA-E4E215A4BB15}"/>
              </a:ext>
            </a:extLst>
          </p:cNvPr>
          <p:cNvSpPr>
            <a:spLocks xmlns:a="http://schemas.openxmlformats.org/drawingml/2006/main" noGrp="1"/>
          </p:cNvSpPr>
          <p:nvPr/>
        </p:nvSpPr>
        <p:spPr>
          <a:xfrm xmlns:a="http://schemas.openxmlformats.org/drawingml/2006/main">
            <a:off x="6362700" y="2876550"/>
            <a:ext cx="230505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Train + evaluate</a:t>
            </a:r>
          </a:p>
        </p:txBody>
      </p:sp>
      <p:sp>
        <p:nvSpPr>
          <p:cNvPr id="20" name="">
            <a:extLst xmlns:a="http://schemas.openxmlformats.org/drawingml/2006/main">
              <a:ext uri="{FF2B5EF4-FFF2-40B4-BE49-F238E27FC236}">
                <a16:creationId xmlns:a16="http://schemas.microsoft.com/office/drawing/2014/main" id="{A8433276-322F-446E-A7A6-73B78447B1D2}"/>
              </a:ext>
            </a:extLst>
          </p:cNvPr>
          <p:cNvSpPr>
            <a:spLocks xmlns:a="http://schemas.openxmlformats.org/drawingml/2006/main" noGrp="1"/>
          </p:cNvSpPr>
          <p:nvPr/>
        </p:nvSpPr>
        <p:spPr>
          <a:xfrm xmlns:a="http://schemas.openxmlformats.org/drawingml/2006/main">
            <a:off x="6362700" y="3228975"/>
            <a:ext cx="2305050" cy="56197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Separate train / validation / test</a:t>
            </a:r>
          </a:p>
        </p:txBody>
      </p:sp>
      <p:sp>
        <p:nvSpPr>
          <p:cNvPr id="21" name="">
            <a:extLst xmlns:a="http://schemas.openxmlformats.org/drawingml/2006/main">
              <a:ext uri="{FF2B5EF4-FFF2-40B4-BE49-F238E27FC236}">
                <a16:creationId xmlns:a16="http://schemas.microsoft.com/office/drawing/2014/main" id="{6C820458-4EE6-40E8-9AE9-DA8DFF9441DB}"/>
              </a:ext>
            </a:extLst>
          </p:cNvPr>
          <p:cNvSpPr>
            <a:spLocks xmlns:a="http://schemas.openxmlformats.org/drawingml/2006/main" noGrp="1"/>
          </p:cNvSpPr>
          <p:nvPr/>
        </p:nvSpPr>
        <p:spPr>
          <a:xfrm xmlns:a="http://schemas.openxmlformats.org/drawingml/2006/main">
            <a:off x="8858250" y="3209925"/>
            <a:ext cx="152400" cy="171450"/>
          </a:xfrm>
          <a:prstGeom xmlns:a="http://schemas.openxmlformats.org/drawingml/2006/main" prst="rightArrow">
            <a:avLst/>
          </a:prstGeom>
          <a:solidFill xmlns:a="http://schemas.openxmlformats.org/drawingml/2006/main">
            <a:srgbClr val="187257"/>
          </a:solidFill>
          <a:ln xmlns:a="http://schemas.openxmlformats.org/drawingml/2006/main" w="0">
            <a:solidFill>
              <a:srgbClr val="187257"/>
            </a:solidFill>
          </a:ln>
        </p:spPr>
      </p:sp>
      <p:sp>
        <p:nvSpPr>
          <p:cNvPr id="22" name="">
            <a:extLst xmlns:a="http://schemas.openxmlformats.org/drawingml/2006/main">
              <a:ext uri="{FF2B5EF4-FFF2-40B4-BE49-F238E27FC236}">
                <a16:creationId xmlns:a16="http://schemas.microsoft.com/office/drawing/2014/main" id="{11BC6121-2BB5-4713-8465-9ECBA08E8E9C}"/>
              </a:ext>
            </a:extLst>
          </p:cNvPr>
          <p:cNvSpPr>
            <a:spLocks xmlns:a="http://schemas.openxmlformats.org/drawingml/2006/main" noGrp="1"/>
          </p:cNvSpPr>
          <p:nvPr/>
        </p:nvSpPr>
        <p:spPr>
          <a:xfrm xmlns:a="http://schemas.openxmlformats.org/drawingml/2006/main">
            <a:off x="9048750" y="2762250"/>
            <a:ext cx="2609850"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3DED1"/>
            </a:solidFill>
            <a:prstDash val="solid"/>
          </a:ln>
        </p:spPr>
      </p:sp>
      <p:sp>
        <p:nvSpPr>
          <p:cNvPr id="23" name="">
            <a:extLst xmlns:a="http://schemas.openxmlformats.org/drawingml/2006/main">
              <a:ext uri="{FF2B5EF4-FFF2-40B4-BE49-F238E27FC236}">
                <a16:creationId xmlns:a16="http://schemas.microsoft.com/office/drawing/2014/main" id="{4BAAA39C-4DEF-4903-956D-8AE35BAD38C2}"/>
              </a:ext>
            </a:extLst>
          </p:cNvPr>
          <p:cNvSpPr>
            <a:spLocks xmlns:a="http://schemas.openxmlformats.org/drawingml/2006/main" noGrp="1"/>
          </p:cNvSpPr>
          <p:nvPr/>
        </p:nvSpPr>
        <p:spPr>
          <a:xfrm xmlns:a="http://schemas.openxmlformats.org/drawingml/2006/main">
            <a:off x="9201150" y="2876550"/>
            <a:ext cx="230505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Select + package</a:t>
            </a:r>
          </a:p>
        </p:txBody>
      </p:sp>
      <p:sp>
        <p:nvSpPr>
          <p:cNvPr id="24" name="">
            <a:extLst xmlns:a="http://schemas.openxmlformats.org/drawingml/2006/main">
              <a:ext uri="{FF2B5EF4-FFF2-40B4-BE49-F238E27FC236}">
                <a16:creationId xmlns:a16="http://schemas.microsoft.com/office/drawing/2014/main" id="{77C2192C-CB22-4923-B496-F6627680E1A4}"/>
              </a:ext>
            </a:extLst>
          </p:cNvPr>
          <p:cNvSpPr>
            <a:spLocks xmlns:a="http://schemas.openxmlformats.org/drawingml/2006/main" noGrp="1"/>
          </p:cNvSpPr>
          <p:nvPr/>
        </p:nvSpPr>
        <p:spPr>
          <a:xfrm xmlns:a="http://schemas.openxmlformats.org/drawingml/2006/main">
            <a:off x="9201150" y="3228975"/>
            <a:ext cx="2305050" cy="56197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Model, features, references</a:t>
            </a:r>
          </a:p>
        </p:txBody>
      </p:sp>
      <p:sp>
        <p:nvSpPr>
          <p:cNvPr id="25" name="">
            <a:extLst xmlns:a="http://schemas.openxmlformats.org/drawingml/2006/main">
              <a:ext uri="{FF2B5EF4-FFF2-40B4-BE49-F238E27FC236}">
                <a16:creationId xmlns:a16="http://schemas.microsoft.com/office/drawing/2014/main" id="{6E8AFEBA-F895-42F5-B64E-D54311300F6C}"/>
              </a:ext>
            </a:extLst>
          </p:cNvPr>
          <p:cNvSpPr>
            <a:spLocks xmlns:a="http://schemas.openxmlformats.org/drawingml/2006/main" noGrp="1"/>
          </p:cNvSpPr>
          <p:nvPr/>
        </p:nvSpPr>
        <p:spPr>
          <a:xfrm xmlns:a="http://schemas.openxmlformats.org/drawingml/2006/main">
            <a:off x="533400" y="4114800"/>
            <a:ext cx="2476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125" b="1">
                <a:solidFill>
                  <a:srgbClr val="187257"/>
                </a:solidFill>
              </a:rPr>
              <a:t>APPLICATION</a:t>
            </a:r>
          </a:p>
        </p:txBody>
      </p:sp>
      <p:sp>
        <p:nvSpPr>
          <p:cNvPr id="26" name="">
            <a:extLst xmlns:a="http://schemas.openxmlformats.org/drawingml/2006/main">
              <a:ext uri="{FF2B5EF4-FFF2-40B4-BE49-F238E27FC236}">
                <a16:creationId xmlns:a16="http://schemas.microsoft.com/office/drawing/2014/main" id="{10F615EB-7112-4D94-9090-7FD679AA8877}"/>
              </a:ext>
            </a:extLst>
          </p:cNvPr>
          <p:cNvSpPr>
            <a:spLocks xmlns:a="http://schemas.openxmlformats.org/drawingml/2006/main" noGrp="1"/>
          </p:cNvSpPr>
          <p:nvPr/>
        </p:nvSpPr>
        <p:spPr>
          <a:xfrm xmlns:a="http://schemas.openxmlformats.org/drawingml/2006/main">
            <a:off x="533400" y="4543425"/>
            <a:ext cx="2381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3DED1"/>
            </a:solidFill>
            <a:prstDash val="solid"/>
          </a:ln>
        </p:spPr>
      </p:sp>
      <p:sp>
        <p:nvSpPr>
          <p:cNvPr id="27" name="">
            <a:extLst xmlns:a="http://schemas.openxmlformats.org/drawingml/2006/main">
              <a:ext uri="{FF2B5EF4-FFF2-40B4-BE49-F238E27FC236}">
                <a16:creationId xmlns:a16="http://schemas.microsoft.com/office/drawing/2014/main" id="{50082B30-7BD7-4C66-82A8-4ADDE0F98FED}"/>
              </a:ext>
            </a:extLst>
          </p:cNvPr>
          <p:cNvSpPr>
            <a:spLocks xmlns:a="http://schemas.openxmlformats.org/drawingml/2006/main" noGrp="1"/>
          </p:cNvSpPr>
          <p:nvPr/>
        </p:nvSpPr>
        <p:spPr>
          <a:xfrm xmlns:a="http://schemas.openxmlformats.org/drawingml/2006/main">
            <a:off x="685800" y="4657725"/>
            <a:ext cx="207645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React / Vite</a:t>
            </a:r>
          </a:p>
        </p:txBody>
      </p:sp>
      <p:sp>
        <p:nvSpPr>
          <p:cNvPr id="28" name="">
            <a:extLst xmlns:a="http://schemas.openxmlformats.org/drawingml/2006/main">
              <a:ext uri="{FF2B5EF4-FFF2-40B4-BE49-F238E27FC236}">
                <a16:creationId xmlns:a16="http://schemas.microsoft.com/office/drawing/2014/main" id="{AA98C0D3-9A05-4D0F-B0FB-F8194487CD32}"/>
              </a:ext>
            </a:extLst>
          </p:cNvPr>
          <p:cNvSpPr>
            <a:spLocks xmlns:a="http://schemas.openxmlformats.org/drawingml/2006/main" noGrp="1"/>
          </p:cNvSpPr>
          <p:nvPr/>
        </p:nvSpPr>
        <p:spPr>
          <a:xfrm xmlns:a="http://schemas.openxmlformats.org/drawingml/2006/main">
            <a:off x="685800" y="5010150"/>
            <a:ext cx="2076450" cy="6096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Analyst workspace</a:t>
            </a:r>
          </a:p>
        </p:txBody>
      </p:sp>
      <p:sp>
        <p:nvSpPr>
          <p:cNvPr id="29" name="">
            <a:extLst xmlns:a="http://schemas.openxmlformats.org/drawingml/2006/main">
              <a:ext uri="{FF2B5EF4-FFF2-40B4-BE49-F238E27FC236}">
                <a16:creationId xmlns:a16="http://schemas.microsoft.com/office/drawing/2014/main" id="{262B2163-29D0-4395-A080-C5F2A9199B33}"/>
              </a:ext>
            </a:extLst>
          </p:cNvPr>
          <p:cNvSpPr>
            <a:spLocks xmlns:a="http://schemas.openxmlformats.org/drawingml/2006/main" noGrp="1"/>
          </p:cNvSpPr>
          <p:nvPr/>
        </p:nvSpPr>
        <p:spPr>
          <a:xfrm xmlns:a="http://schemas.openxmlformats.org/drawingml/2006/main">
            <a:off x="2990850" y="5010150"/>
            <a:ext cx="295275" cy="171450"/>
          </a:xfrm>
          <a:prstGeom xmlns:a="http://schemas.openxmlformats.org/drawingml/2006/main" prst="rightArrow">
            <a:avLst/>
          </a:prstGeom>
          <a:solidFill xmlns:a="http://schemas.openxmlformats.org/drawingml/2006/main">
            <a:srgbClr val="187257"/>
          </a:solidFill>
          <a:ln xmlns:a="http://schemas.openxmlformats.org/drawingml/2006/main" w="0">
            <a:solidFill>
              <a:srgbClr val="187257"/>
            </a:solidFill>
          </a:ln>
        </p:spPr>
      </p:sp>
      <p:sp>
        <p:nvSpPr>
          <p:cNvPr id="30" name="">
            <a:extLst xmlns:a="http://schemas.openxmlformats.org/drawingml/2006/main">
              <a:ext uri="{FF2B5EF4-FFF2-40B4-BE49-F238E27FC236}">
                <a16:creationId xmlns:a16="http://schemas.microsoft.com/office/drawing/2014/main" id="{6D9A868C-2D77-4AFA-A0A6-8D92A31AF0E7}"/>
              </a:ext>
            </a:extLst>
          </p:cNvPr>
          <p:cNvSpPr>
            <a:spLocks xmlns:a="http://schemas.openxmlformats.org/drawingml/2006/main" noGrp="1"/>
          </p:cNvSpPr>
          <p:nvPr/>
        </p:nvSpPr>
        <p:spPr>
          <a:xfrm xmlns:a="http://schemas.openxmlformats.org/drawingml/2006/main">
            <a:off x="3381375" y="4543425"/>
            <a:ext cx="2781300" cy="1143000"/>
          </a:xfrm>
          <a:prstGeom xmlns:a="http://schemas.openxmlformats.org/drawingml/2006/main" prst="roundRect">
            <a:avLst>
              <a:gd name="adj" fmla="val 6667"/>
            </a:avLst>
          </a:prstGeom>
          <a:solidFill xmlns:a="http://schemas.openxmlformats.org/drawingml/2006/main">
            <a:srgbClr val="DDEBDD"/>
          </a:solidFill>
          <a:ln xmlns:a="http://schemas.openxmlformats.org/drawingml/2006/main" w="9525">
            <a:solidFill>
              <a:srgbClr val="D3DED1"/>
            </a:solidFill>
            <a:prstDash val="solid"/>
          </a:ln>
        </p:spPr>
      </p:sp>
      <p:sp>
        <p:nvSpPr>
          <p:cNvPr id="31" name="">
            <a:extLst xmlns:a="http://schemas.openxmlformats.org/drawingml/2006/main">
              <a:ext uri="{FF2B5EF4-FFF2-40B4-BE49-F238E27FC236}">
                <a16:creationId xmlns:a16="http://schemas.microsoft.com/office/drawing/2014/main" id="{64E5FD4A-7EFA-4CDE-BAA7-F639B3C514F3}"/>
              </a:ext>
            </a:extLst>
          </p:cNvPr>
          <p:cNvSpPr>
            <a:spLocks xmlns:a="http://schemas.openxmlformats.org/drawingml/2006/main" noGrp="1"/>
          </p:cNvSpPr>
          <p:nvPr/>
        </p:nvSpPr>
        <p:spPr>
          <a:xfrm xmlns:a="http://schemas.openxmlformats.org/drawingml/2006/main">
            <a:off x="3533775" y="4657725"/>
            <a:ext cx="247650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FastAPI + worker</a:t>
            </a:r>
          </a:p>
        </p:txBody>
      </p:sp>
      <p:sp>
        <p:nvSpPr>
          <p:cNvPr id="32" name="">
            <a:extLst xmlns:a="http://schemas.openxmlformats.org/drawingml/2006/main">
              <a:ext uri="{FF2B5EF4-FFF2-40B4-BE49-F238E27FC236}">
                <a16:creationId xmlns:a16="http://schemas.microsoft.com/office/drawing/2014/main" id="{3181E794-3C83-452E-A7FA-7B5CA6534B51}"/>
              </a:ext>
            </a:extLst>
          </p:cNvPr>
          <p:cNvSpPr>
            <a:spLocks xmlns:a="http://schemas.openxmlformats.org/drawingml/2006/main" noGrp="1"/>
          </p:cNvSpPr>
          <p:nvPr/>
        </p:nvSpPr>
        <p:spPr>
          <a:xfrm xmlns:a="http://schemas.openxmlformats.org/drawingml/2006/main">
            <a:off x="3533775" y="5010150"/>
            <a:ext cx="2476500" cy="6096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Validate → score → publish</a:t>
            </a:r>
          </a:p>
        </p:txBody>
      </p:sp>
      <p:sp>
        <p:nvSpPr>
          <p:cNvPr id="33" name="">
            <a:extLst xmlns:a="http://schemas.openxmlformats.org/drawingml/2006/main">
              <a:ext uri="{FF2B5EF4-FFF2-40B4-BE49-F238E27FC236}">
                <a16:creationId xmlns:a16="http://schemas.microsoft.com/office/drawing/2014/main" id="{D8E3F8AF-9952-4B17-B228-ACFD7B359187}"/>
              </a:ext>
            </a:extLst>
          </p:cNvPr>
          <p:cNvSpPr>
            <a:spLocks xmlns:a="http://schemas.openxmlformats.org/drawingml/2006/main" noGrp="1"/>
          </p:cNvSpPr>
          <p:nvPr/>
        </p:nvSpPr>
        <p:spPr>
          <a:xfrm xmlns:a="http://schemas.openxmlformats.org/drawingml/2006/main">
            <a:off x="6181725" y="5095875"/>
            <a:ext cx="219075" cy="19050"/>
          </a:xfrm>
          <a:prstGeom xmlns:a="http://schemas.openxmlformats.org/drawingml/2006/main" prst="rect">
            <a:avLst/>
          </a:prstGeom>
          <a:solidFill xmlns:a="http://schemas.openxmlformats.org/drawingml/2006/main">
            <a:srgbClr val="187257"/>
          </a:solidFill>
          <a:ln xmlns:a="http://schemas.openxmlformats.org/drawingml/2006/main" w="9525">
            <a:solidFill>
              <a:srgbClr val="187257"/>
            </a:solidFill>
            <a:prstDash val="solid"/>
          </a:ln>
        </p:spPr>
      </p:sp>
      <p:sp>
        <p:nvSpPr>
          <p:cNvPr id="34" name="">
            <a:extLst xmlns:a="http://schemas.openxmlformats.org/drawingml/2006/main">
              <a:ext uri="{FF2B5EF4-FFF2-40B4-BE49-F238E27FC236}">
                <a16:creationId xmlns:a16="http://schemas.microsoft.com/office/drawing/2014/main" id="{50F6A221-F0CC-409D-90E4-E1D21AC9AC51}"/>
              </a:ext>
            </a:extLst>
          </p:cNvPr>
          <p:cNvSpPr>
            <a:spLocks xmlns:a="http://schemas.openxmlformats.org/drawingml/2006/main" noGrp="1"/>
          </p:cNvSpPr>
          <p:nvPr/>
        </p:nvSpPr>
        <p:spPr>
          <a:xfrm xmlns:a="http://schemas.openxmlformats.org/drawingml/2006/main">
            <a:off x="6391275" y="4752975"/>
            <a:ext cx="19050" cy="885825"/>
          </a:xfrm>
          <a:prstGeom xmlns:a="http://schemas.openxmlformats.org/drawingml/2006/main" prst="rect">
            <a:avLst/>
          </a:prstGeom>
          <a:solidFill xmlns:a="http://schemas.openxmlformats.org/drawingml/2006/main">
            <a:srgbClr val="187257"/>
          </a:solidFill>
          <a:ln xmlns:a="http://schemas.openxmlformats.org/drawingml/2006/main" w="9525">
            <a:solidFill>
              <a:srgbClr val="187257"/>
            </a:solidFill>
            <a:prstDash val="solid"/>
          </a:ln>
        </p:spPr>
      </p:sp>
      <p:sp>
        <p:nvSpPr>
          <p:cNvPr id="35" name="">
            <a:extLst xmlns:a="http://schemas.openxmlformats.org/drawingml/2006/main">
              <a:ext uri="{FF2B5EF4-FFF2-40B4-BE49-F238E27FC236}">
                <a16:creationId xmlns:a16="http://schemas.microsoft.com/office/drawing/2014/main" id="{11E92EF8-4313-4153-B1A9-A7A38B42A7A2}"/>
              </a:ext>
            </a:extLst>
          </p:cNvPr>
          <p:cNvSpPr>
            <a:spLocks xmlns:a="http://schemas.openxmlformats.org/drawingml/2006/main" noGrp="1"/>
          </p:cNvSpPr>
          <p:nvPr/>
        </p:nvSpPr>
        <p:spPr>
          <a:xfrm xmlns:a="http://schemas.openxmlformats.org/drawingml/2006/main">
            <a:off x="6400800" y="4752975"/>
            <a:ext cx="142875" cy="19050"/>
          </a:xfrm>
          <a:prstGeom xmlns:a="http://schemas.openxmlformats.org/drawingml/2006/main" prst="rect">
            <a:avLst/>
          </a:prstGeom>
          <a:solidFill xmlns:a="http://schemas.openxmlformats.org/drawingml/2006/main">
            <a:srgbClr val="187257"/>
          </a:solidFill>
          <a:ln xmlns:a="http://schemas.openxmlformats.org/drawingml/2006/main" w="9525">
            <a:solidFill>
              <a:srgbClr val="187257"/>
            </a:solidFill>
            <a:prstDash val="solid"/>
          </a:ln>
        </p:spPr>
      </p:sp>
      <p:sp>
        <p:nvSpPr>
          <p:cNvPr id="36" name="">
            <a:extLst xmlns:a="http://schemas.openxmlformats.org/drawingml/2006/main">
              <a:ext uri="{FF2B5EF4-FFF2-40B4-BE49-F238E27FC236}">
                <a16:creationId xmlns:a16="http://schemas.microsoft.com/office/drawing/2014/main" id="{35F9C818-07F0-44C7-BACC-4110D9157A51}"/>
              </a:ext>
            </a:extLst>
          </p:cNvPr>
          <p:cNvSpPr>
            <a:spLocks xmlns:a="http://schemas.openxmlformats.org/drawingml/2006/main" noGrp="1"/>
          </p:cNvSpPr>
          <p:nvPr/>
        </p:nvSpPr>
        <p:spPr>
          <a:xfrm xmlns:a="http://schemas.openxmlformats.org/drawingml/2006/main">
            <a:off x="6400800" y="5619750"/>
            <a:ext cx="142875" cy="19050"/>
          </a:xfrm>
          <a:prstGeom xmlns:a="http://schemas.openxmlformats.org/drawingml/2006/main" prst="rect">
            <a:avLst/>
          </a:prstGeom>
          <a:solidFill xmlns:a="http://schemas.openxmlformats.org/drawingml/2006/main">
            <a:srgbClr val="187257"/>
          </a:solidFill>
          <a:ln xmlns:a="http://schemas.openxmlformats.org/drawingml/2006/main" w="9525">
            <a:solidFill>
              <a:srgbClr val="187257"/>
            </a:solidFill>
            <a:prstDash val="solid"/>
          </a:ln>
        </p:spPr>
      </p:sp>
      <p:sp>
        <p:nvSpPr>
          <p:cNvPr id="37" name="">
            <a:extLst xmlns:a="http://schemas.openxmlformats.org/drawingml/2006/main">
              <a:ext uri="{FF2B5EF4-FFF2-40B4-BE49-F238E27FC236}">
                <a16:creationId xmlns:a16="http://schemas.microsoft.com/office/drawing/2014/main" id="{2794D2C4-83AB-4ECC-828A-017E412907FA}"/>
              </a:ext>
            </a:extLst>
          </p:cNvPr>
          <p:cNvSpPr>
            <a:spLocks xmlns:a="http://schemas.openxmlformats.org/drawingml/2006/main" noGrp="1"/>
          </p:cNvSpPr>
          <p:nvPr/>
        </p:nvSpPr>
        <p:spPr>
          <a:xfrm xmlns:a="http://schemas.openxmlformats.org/drawingml/2006/main">
            <a:off x="6524625" y="4676775"/>
            <a:ext cx="171450" cy="171450"/>
          </a:xfrm>
          <a:prstGeom xmlns:a="http://schemas.openxmlformats.org/drawingml/2006/main" prst="rightArrow">
            <a:avLst/>
          </a:prstGeom>
          <a:solidFill xmlns:a="http://schemas.openxmlformats.org/drawingml/2006/main">
            <a:srgbClr val="187257"/>
          </a:solidFill>
          <a:ln xmlns:a="http://schemas.openxmlformats.org/drawingml/2006/main" w="0">
            <a:solidFill>
              <a:srgbClr val="187257"/>
            </a:solidFill>
          </a:ln>
        </p:spPr>
      </p:sp>
      <p:sp>
        <p:nvSpPr>
          <p:cNvPr id="38" name="">
            <a:extLst xmlns:a="http://schemas.openxmlformats.org/drawingml/2006/main">
              <a:ext uri="{FF2B5EF4-FFF2-40B4-BE49-F238E27FC236}">
                <a16:creationId xmlns:a16="http://schemas.microsoft.com/office/drawing/2014/main" id="{D0C087E8-7679-4842-A7AF-3A319FF97EA3}"/>
              </a:ext>
            </a:extLst>
          </p:cNvPr>
          <p:cNvSpPr>
            <a:spLocks xmlns:a="http://schemas.openxmlformats.org/drawingml/2006/main" noGrp="1"/>
          </p:cNvSpPr>
          <p:nvPr/>
        </p:nvSpPr>
        <p:spPr>
          <a:xfrm xmlns:a="http://schemas.openxmlformats.org/drawingml/2006/main">
            <a:off x="6524625" y="5543550"/>
            <a:ext cx="171450" cy="171450"/>
          </a:xfrm>
          <a:prstGeom xmlns:a="http://schemas.openxmlformats.org/drawingml/2006/main" prst="rightArrow">
            <a:avLst/>
          </a:prstGeom>
          <a:solidFill xmlns:a="http://schemas.openxmlformats.org/drawingml/2006/main">
            <a:srgbClr val="187257"/>
          </a:solidFill>
          <a:ln xmlns:a="http://schemas.openxmlformats.org/drawingml/2006/main" w="0">
            <a:solidFill>
              <a:srgbClr val="187257"/>
            </a:solidFill>
          </a:ln>
        </p:spPr>
      </p:sp>
      <p:sp>
        <p:nvSpPr>
          <p:cNvPr id="39" name="">
            <a:extLst xmlns:a="http://schemas.openxmlformats.org/drawingml/2006/main">
              <a:ext uri="{FF2B5EF4-FFF2-40B4-BE49-F238E27FC236}">
                <a16:creationId xmlns:a16="http://schemas.microsoft.com/office/drawing/2014/main" id="{C8B28AD4-8315-460B-99C5-EFF334790B8D}"/>
              </a:ext>
            </a:extLst>
          </p:cNvPr>
          <p:cNvSpPr>
            <a:spLocks xmlns:a="http://schemas.openxmlformats.org/drawingml/2006/main" noGrp="1"/>
          </p:cNvSpPr>
          <p:nvPr/>
        </p:nvSpPr>
        <p:spPr>
          <a:xfrm xmlns:a="http://schemas.openxmlformats.org/drawingml/2006/main">
            <a:off x="6781800" y="4352925"/>
            <a:ext cx="4876800" cy="790575"/>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3DED1"/>
            </a:solidFill>
            <a:prstDash val="solid"/>
          </a:ln>
        </p:spPr>
      </p:sp>
      <p:sp>
        <p:nvSpPr>
          <p:cNvPr id="40" name="">
            <a:extLst xmlns:a="http://schemas.openxmlformats.org/drawingml/2006/main">
              <a:ext uri="{FF2B5EF4-FFF2-40B4-BE49-F238E27FC236}">
                <a16:creationId xmlns:a16="http://schemas.microsoft.com/office/drawing/2014/main" id="{5A31B52A-5CB7-41C8-BB5B-7A9D49B97AD8}"/>
              </a:ext>
            </a:extLst>
          </p:cNvPr>
          <p:cNvSpPr>
            <a:spLocks xmlns:a="http://schemas.openxmlformats.org/drawingml/2006/main" noGrp="1"/>
          </p:cNvSpPr>
          <p:nvPr/>
        </p:nvSpPr>
        <p:spPr>
          <a:xfrm xmlns:a="http://schemas.openxmlformats.org/drawingml/2006/main">
            <a:off x="6934200" y="4467225"/>
            <a:ext cx="457200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Frozen bundle</a:t>
            </a:r>
          </a:p>
        </p:txBody>
      </p:sp>
      <p:sp>
        <p:nvSpPr>
          <p:cNvPr id="41" name="">
            <a:extLst xmlns:a="http://schemas.openxmlformats.org/drawingml/2006/main">
              <a:ext uri="{FF2B5EF4-FFF2-40B4-BE49-F238E27FC236}">
                <a16:creationId xmlns:a16="http://schemas.microsoft.com/office/drawing/2014/main" id="{A376378C-33A2-4B76-86BC-E2EC51606AD5}"/>
              </a:ext>
            </a:extLst>
          </p:cNvPr>
          <p:cNvSpPr>
            <a:spLocks xmlns:a="http://schemas.openxmlformats.org/drawingml/2006/main" noGrp="1"/>
          </p:cNvSpPr>
          <p:nvPr/>
        </p:nvSpPr>
        <p:spPr>
          <a:xfrm xmlns:a="http://schemas.openxmlformats.org/drawingml/2006/main">
            <a:off x="6934200" y="4819650"/>
            <a:ext cx="4572000" cy="25717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Loaded for scoring; no fitting</a:t>
            </a:r>
          </a:p>
        </p:txBody>
      </p:sp>
      <p:sp>
        <p:nvSpPr>
          <p:cNvPr id="42" name="">
            <a:extLst xmlns:a="http://schemas.openxmlformats.org/drawingml/2006/main">
              <a:ext uri="{FF2B5EF4-FFF2-40B4-BE49-F238E27FC236}">
                <a16:creationId xmlns:a16="http://schemas.microsoft.com/office/drawing/2014/main" id="{11A85D33-DED4-4C25-BAA0-E8227827BECC}"/>
              </a:ext>
            </a:extLst>
          </p:cNvPr>
          <p:cNvSpPr>
            <a:spLocks xmlns:a="http://schemas.openxmlformats.org/drawingml/2006/main" noGrp="1"/>
          </p:cNvSpPr>
          <p:nvPr/>
        </p:nvSpPr>
        <p:spPr>
          <a:xfrm xmlns:a="http://schemas.openxmlformats.org/drawingml/2006/main">
            <a:off x="6781800" y="5238750"/>
            <a:ext cx="4876800" cy="790575"/>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3DED1"/>
            </a:solidFill>
            <a:prstDash val="solid"/>
          </a:ln>
        </p:spPr>
      </p:sp>
      <p:sp>
        <p:nvSpPr>
          <p:cNvPr id="43" name="">
            <a:extLst xmlns:a="http://schemas.openxmlformats.org/drawingml/2006/main">
              <a:ext uri="{FF2B5EF4-FFF2-40B4-BE49-F238E27FC236}">
                <a16:creationId xmlns:a16="http://schemas.microsoft.com/office/drawing/2014/main" id="{E137F6E8-46A7-445E-A750-1D65460E8288}"/>
              </a:ext>
            </a:extLst>
          </p:cNvPr>
          <p:cNvSpPr>
            <a:spLocks xmlns:a="http://schemas.openxmlformats.org/drawingml/2006/main" noGrp="1"/>
          </p:cNvSpPr>
          <p:nvPr/>
        </p:nvSpPr>
        <p:spPr>
          <a:xfrm xmlns:a="http://schemas.openxmlformats.org/drawingml/2006/main">
            <a:off x="6934200" y="5353050"/>
            <a:ext cx="457200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PostgreSQL + Parquet</a:t>
            </a:r>
          </a:p>
        </p:txBody>
      </p:sp>
      <p:sp>
        <p:nvSpPr>
          <p:cNvPr id="44" name="">
            <a:extLst xmlns:a="http://schemas.openxmlformats.org/drawingml/2006/main">
              <a:ext uri="{FF2B5EF4-FFF2-40B4-BE49-F238E27FC236}">
                <a16:creationId xmlns:a16="http://schemas.microsoft.com/office/drawing/2014/main" id="{0ED20C80-1597-4BDD-A860-D0429AD9928F}"/>
              </a:ext>
            </a:extLst>
          </p:cNvPr>
          <p:cNvSpPr>
            <a:spLocks xmlns:a="http://schemas.openxmlformats.org/drawingml/2006/main" noGrp="1"/>
          </p:cNvSpPr>
          <p:nvPr/>
        </p:nvSpPr>
        <p:spPr>
          <a:xfrm xmlns:a="http://schemas.openxmlformats.org/drawingml/2006/main">
            <a:off x="6934200" y="5705475"/>
            <a:ext cx="4572000" cy="25717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Run metadata, audit and immutable outputs</a:t>
            </a:r>
          </a:p>
        </p:txBody>
      </p:sp>
      <p:sp>
        <p:nvSpPr>
          <p:cNvPr id="45" name="">
            <a:extLst xmlns:a="http://schemas.openxmlformats.org/drawingml/2006/main">
              <a:ext uri="{FF2B5EF4-FFF2-40B4-BE49-F238E27FC236}">
                <a16:creationId xmlns:a16="http://schemas.microsoft.com/office/drawing/2014/main" id="{80AE3D42-81A9-4677-AFB6-4F4555A398EB}"/>
              </a:ext>
            </a:extLst>
          </p:cNvPr>
          <p:cNvSpPr>
            <a:spLocks xmlns:a="http://schemas.openxmlformats.org/drawingml/2006/main" noGrp="1"/>
          </p:cNvSpPr>
          <p:nvPr/>
        </p:nvSpPr>
        <p:spPr>
          <a:xfrm xmlns:a="http://schemas.openxmlformats.org/drawingml/2006/main">
            <a:off x="533400" y="5924550"/>
            <a:ext cx="604837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Private truth stays offline for training and evaluation.</a:t>
            </a:r>
          </a:p>
        </p:txBody>
      </p:sp>
    </p:spTree>
    <p:extLst>
      <p:ext uri="{BB962C8B-B14F-4D97-AF65-F5344CB8AC3E}">
        <p14:creationId xmlns:p14="http://schemas.microsoft.com/office/powerpoint/2010/main" val="1703940150"/>
      </p:ext>
    </p:extLst>
  </p:cSld>
</p:sld>
</file>

<file path=ppt/slides/slide6.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0AEF9268-5D61-4373-87E7-ACBCC2A215EC}"/>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187257"/>
                </a:solidFill>
              </a:rPr>
              <a:t>ARAI  /  XHACK 2026</a:t>
            </a:r>
          </a:p>
        </p:txBody>
      </p:sp>
      <p:sp>
        <p:nvSpPr>
          <p:cNvPr id="3" name="">
            <a:extLst xmlns:a="http://schemas.openxmlformats.org/drawingml/2006/main">
              <a:ext uri="{FF2B5EF4-FFF2-40B4-BE49-F238E27FC236}">
                <a16:creationId xmlns:a16="http://schemas.microsoft.com/office/drawing/2014/main" id="{9E116904-775D-4201-A896-109BB6CF2D00}"/>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61766A"/>
                </a:solidFill>
              </a:rPr>
              <a:t>DATA DESIGN</a:t>
            </a:r>
          </a:p>
        </p:txBody>
      </p:sp>
      <p:sp>
        <p:nvSpPr>
          <p:cNvPr id="4" name="">
            <a:extLst xmlns:a="http://schemas.openxmlformats.org/drawingml/2006/main">
              <a:ext uri="{FF2B5EF4-FFF2-40B4-BE49-F238E27FC236}">
                <a16:creationId xmlns:a16="http://schemas.microsoft.com/office/drawing/2014/main" id="{394D7DD2-6CC1-4609-BDC8-D2F8932DC06B}"/>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153C32"/>
                </a:solidFill>
              </a:rPr>
              <a:t>Synthetic data with explicit truth boundaries.</a:t>
            </a:r>
          </a:p>
        </p:txBody>
      </p:sp>
      <p:sp>
        <p:nvSpPr>
          <p:cNvPr id="5" name="">
            <a:extLst xmlns:a="http://schemas.openxmlformats.org/drawingml/2006/main">
              <a:ext uri="{FF2B5EF4-FFF2-40B4-BE49-F238E27FC236}">
                <a16:creationId xmlns:a16="http://schemas.microsoft.com/office/drawing/2014/main" id="{1D43CE2D-50D2-4359-91E5-57254E29D81B}"/>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61766A"/>
                </a:solidFill>
              </a:rPr>
              <a:t>Controlled worlds support repeatable experiments and deliberate benign counterexamples.</a:t>
            </a:r>
          </a:p>
        </p:txBody>
      </p:sp>
      <p:sp>
        <p:nvSpPr>
          <p:cNvPr id="6" name="">
            <a:extLst xmlns:a="http://schemas.openxmlformats.org/drawingml/2006/main">
              <a:ext uri="{FF2B5EF4-FFF2-40B4-BE49-F238E27FC236}">
                <a16:creationId xmlns:a16="http://schemas.microsoft.com/office/drawing/2014/main" id="{EF41FA9E-5657-40DD-A9B6-7699688F9494}"/>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3DED1"/>
          </a:solidFill>
          <a:ln xmlns:a="http://schemas.openxmlformats.org/drawingml/2006/main" w="9525">
            <a:solidFill>
              <a:srgbClr val="D3DED1"/>
            </a:solidFill>
            <a:prstDash val="solid"/>
          </a:ln>
        </p:spPr>
      </p:sp>
      <p:sp>
        <p:nvSpPr>
          <p:cNvPr id="7" name="">
            <a:extLst xmlns:a="http://schemas.openxmlformats.org/drawingml/2006/main">
              <a:ext uri="{FF2B5EF4-FFF2-40B4-BE49-F238E27FC236}">
                <a16:creationId xmlns:a16="http://schemas.microsoft.com/office/drawing/2014/main" id="{71E468F1-90A1-4D9B-81BF-FB272E2EB6F4}"/>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61766A"/>
                </a:solidFill>
              </a:rPr>
              <a:t>DESIGN PRESENTATION  •  28 SEPTEMBER 2026</a:t>
            </a:r>
          </a:p>
        </p:txBody>
      </p:sp>
      <p:sp>
        <p:nvSpPr>
          <p:cNvPr id="8" name="">
            <a:extLst xmlns:a="http://schemas.openxmlformats.org/drawingml/2006/main">
              <a:ext uri="{FF2B5EF4-FFF2-40B4-BE49-F238E27FC236}">
                <a16:creationId xmlns:a16="http://schemas.microsoft.com/office/drawing/2014/main" id="{935ACE40-180E-41F1-B415-C78DAE5A383A}"/>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06</a:t>
            </a:r>
          </a:p>
        </p:txBody>
      </p:sp>
      <p:sp>
        <p:nvSpPr>
          <p:cNvPr id="9" name="">
            <a:extLst xmlns:a="http://schemas.openxmlformats.org/drawingml/2006/main">
              <a:ext uri="{FF2B5EF4-FFF2-40B4-BE49-F238E27FC236}">
                <a16:creationId xmlns:a16="http://schemas.microsoft.com/office/drawing/2014/main" id="{1F1DDEB8-806F-45BA-AAD5-2B2C239BB7DE}"/>
              </a:ext>
            </a:extLst>
          </p:cNvPr>
          <p:cNvSpPr>
            <a:spLocks xmlns:a="http://schemas.openxmlformats.org/drawingml/2006/main" noGrp="1"/>
          </p:cNvSpPr>
          <p:nvPr/>
        </p:nvSpPr>
        <p:spPr>
          <a:xfrm xmlns:a="http://schemas.openxmlformats.org/drawingml/2006/main">
            <a:off x="533400" y="2457450"/>
            <a:ext cx="3562350" cy="1000125"/>
          </a:xfrm>
          <a:prstGeom xmlns:a="http://schemas.openxmlformats.org/drawingml/2006/main" prst="roundRect">
            <a:avLst>
              <a:gd name="adj" fmla="val 7619"/>
            </a:avLst>
          </a:prstGeom>
          <a:solidFill xmlns:a="http://schemas.openxmlformats.org/drawingml/2006/main">
            <a:srgbClr val="DDEBDD"/>
          </a:solidFill>
          <a:ln xmlns:a="http://schemas.openxmlformats.org/drawingml/2006/main" w="9525">
            <a:solidFill>
              <a:srgbClr val="D3DED1"/>
            </a:solidFill>
            <a:prstDash val="solid"/>
          </a:ln>
        </p:spPr>
      </p:sp>
      <p:sp>
        <p:nvSpPr>
          <p:cNvPr id="10" name="">
            <a:extLst xmlns:a="http://schemas.openxmlformats.org/drawingml/2006/main">
              <a:ext uri="{FF2B5EF4-FFF2-40B4-BE49-F238E27FC236}">
                <a16:creationId xmlns:a16="http://schemas.microsoft.com/office/drawing/2014/main" id="{8E3B6D41-11E0-404C-B6BB-0C70804A975C}"/>
              </a:ext>
            </a:extLst>
          </p:cNvPr>
          <p:cNvSpPr>
            <a:spLocks xmlns:a="http://schemas.openxmlformats.org/drawingml/2006/main" noGrp="1"/>
          </p:cNvSpPr>
          <p:nvPr/>
        </p:nvSpPr>
        <p:spPr>
          <a:xfrm xmlns:a="http://schemas.openxmlformats.org/drawingml/2006/main">
            <a:off x="685800" y="2571750"/>
            <a:ext cx="325755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300 SKUs</a:t>
            </a:r>
          </a:p>
        </p:txBody>
      </p:sp>
      <p:sp>
        <p:nvSpPr>
          <p:cNvPr id="11" name="">
            <a:extLst xmlns:a="http://schemas.openxmlformats.org/drawingml/2006/main">
              <a:ext uri="{FF2B5EF4-FFF2-40B4-BE49-F238E27FC236}">
                <a16:creationId xmlns:a16="http://schemas.microsoft.com/office/drawing/2014/main" id="{0EFCCBE8-72BE-44C3-A4FA-E6E42643A22D}"/>
              </a:ext>
            </a:extLst>
          </p:cNvPr>
          <p:cNvSpPr>
            <a:spLocks xmlns:a="http://schemas.openxmlformats.org/drawingml/2006/main" noGrp="1"/>
          </p:cNvSpPr>
          <p:nvPr/>
        </p:nvSpPr>
        <p:spPr>
          <a:xfrm xmlns:a="http://schemas.openxmlformats.org/drawingml/2006/main">
            <a:off x="685800" y="2924175"/>
            <a:ext cx="3257550" cy="4667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37 apparel styles</a:t>
            </a:r>
          </a:p>
        </p:txBody>
      </p:sp>
      <p:sp>
        <p:nvSpPr>
          <p:cNvPr id="12" name="">
            <a:extLst xmlns:a="http://schemas.openxmlformats.org/drawingml/2006/main">
              <a:ext uri="{FF2B5EF4-FFF2-40B4-BE49-F238E27FC236}">
                <a16:creationId xmlns:a16="http://schemas.microsoft.com/office/drawing/2014/main" id="{C8D4FA68-E6D0-4F31-A3D0-26CBA695572A}"/>
              </a:ext>
            </a:extLst>
          </p:cNvPr>
          <p:cNvSpPr>
            <a:spLocks xmlns:a="http://schemas.openxmlformats.org/drawingml/2006/main" noGrp="1"/>
          </p:cNvSpPr>
          <p:nvPr/>
        </p:nvSpPr>
        <p:spPr>
          <a:xfrm xmlns:a="http://schemas.openxmlformats.org/drawingml/2006/main">
            <a:off x="4314825" y="2457450"/>
            <a:ext cx="3562350" cy="1000125"/>
          </a:xfrm>
          <a:prstGeom xmlns:a="http://schemas.openxmlformats.org/drawingml/2006/main" prst="roundRect">
            <a:avLst>
              <a:gd name="adj" fmla="val 7619"/>
            </a:avLst>
          </a:prstGeom>
          <a:solidFill xmlns:a="http://schemas.openxmlformats.org/drawingml/2006/main">
            <a:srgbClr val="DDEBDD"/>
          </a:solidFill>
          <a:ln xmlns:a="http://schemas.openxmlformats.org/drawingml/2006/main" w="9525">
            <a:solidFill>
              <a:srgbClr val="D3DED1"/>
            </a:solidFill>
            <a:prstDash val="solid"/>
          </a:ln>
        </p:spPr>
      </p:sp>
      <p:sp>
        <p:nvSpPr>
          <p:cNvPr id="13" name="">
            <a:extLst xmlns:a="http://schemas.openxmlformats.org/drawingml/2006/main">
              <a:ext uri="{FF2B5EF4-FFF2-40B4-BE49-F238E27FC236}">
                <a16:creationId xmlns:a16="http://schemas.microsoft.com/office/drawing/2014/main" id="{D30740D7-1EAE-404F-BB9A-A48FC9EDB95F}"/>
              </a:ext>
            </a:extLst>
          </p:cNvPr>
          <p:cNvSpPr>
            <a:spLocks xmlns:a="http://schemas.openxmlformats.org/drawingml/2006/main" noGrp="1"/>
          </p:cNvSpPr>
          <p:nvPr/>
        </p:nvSpPr>
        <p:spPr>
          <a:xfrm xmlns:a="http://schemas.openxmlformats.org/drawingml/2006/main">
            <a:off x="4467225" y="2571750"/>
            <a:ext cx="325755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10,000 profiles</a:t>
            </a:r>
          </a:p>
        </p:txBody>
      </p:sp>
      <p:sp>
        <p:nvSpPr>
          <p:cNvPr id="14" name="">
            <a:extLst xmlns:a="http://schemas.openxmlformats.org/drawingml/2006/main">
              <a:ext uri="{FF2B5EF4-FFF2-40B4-BE49-F238E27FC236}">
                <a16:creationId xmlns:a16="http://schemas.microsoft.com/office/drawing/2014/main" id="{AB79D571-D5A6-4E3D-8AF6-EE3DFDD97A78}"/>
              </a:ext>
            </a:extLst>
          </p:cNvPr>
          <p:cNvSpPr>
            <a:spLocks xmlns:a="http://schemas.openxmlformats.org/drawingml/2006/main" noGrp="1"/>
          </p:cNvSpPr>
          <p:nvPr/>
        </p:nvSpPr>
        <p:spPr>
          <a:xfrm xmlns:a="http://schemas.openxmlformats.org/drawingml/2006/main">
            <a:off x="4467225" y="2924175"/>
            <a:ext cx="3257550" cy="4667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Planned per generated world</a:t>
            </a:r>
          </a:p>
        </p:txBody>
      </p:sp>
      <p:sp>
        <p:nvSpPr>
          <p:cNvPr id="15" name="">
            <a:extLst xmlns:a="http://schemas.openxmlformats.org/drawingml/2006/main">
              <a:ext uri="{FF2B5EF4-FFF2-40B4-BE49-F238E27FC236}">
                <a16:creationId xmlns:a16="http://schemas.microsoft.com/office/drawing/2014/main" id="{49DC3CE8-8275-4A39-9E4E-2388936A047B}"/>
              </a:ext>
            </a:extLst>
          </p:cNvPr>
          <p:cNvSpPr>
            <a:spLocks xmlns:a="http://schemas.openxmlformats.org/drawingml/2006/main" noGrp="1"/>
          </p:cNvSpPr>
          <p:nvPr/>
        </p:nvSpPr>
        <p:spPr>
          <a:xfrm xmlns:a="http://schemas.openxmlformats.org/drawingml/2006/main">
            <a:off x="8096250" y="2457450"/>
            <a:ext cx="3562350" cy="1000125"/>
          </a:xfrm>
          <a:prstGeom xmlns:a="http://schemas.openxmlformats.org/drawingml/2006/main" prst="roundRect">
            <a:avLst>
              <a:gd name="adj" fmla="val 7619"/>
            </a:avLst>
          </a:prstGeom>
          <a:solidFill xmlns:a="http://schemas.openxmlformats.org/drawingml/2006/main">
            <a:srgbClr val="DDEBDD"/>
          </a:solidFill>
          <a:ln xmlns:a="http://schemas.openxmlformats.org/drawingml/2006/main" w="9525">
            <a:solidFill>
              <a:srgbClr val="D3DED1"/>
            </a:solidFill>
            <a:prstDash val="solid"/>
          </a:ln>
        </p:spPr>
      </p:sp>
      <p:sp>
        <p:nvSpPr>
          <p:cNvPr id="16" name="">
            <a:extLst xmlns:a="http://schemas.openxmlformats.org/drawingml/2006/main">
              <a:ext uri="{FF2B5EF4-FFF2-40B4-BE49-F238E27FC236}">
                <a16:creationId xmlns:a16="http://schemas.microsoft.com/office/drawing/2014/main" id="{FE6A5FB9-23AD-420F-946D-F8B978708769}"/>
              </a:ext>
            </a:extLst>
          </p:cNvPr>
          <p:cNvSpPr>
            <a:spLocks xmlns:a="http://schemas.openxmlformats.org/drawingml/2006/main" noGrp="1"/>
          </p:cNvSpPr>
          <p:nvPr/>
        </p:nvSpPr>
        <p:spPr>
          <a:xfrm xmlns:a="http://schemas.openxmlformats.org/drawingml/2006/main">
            <a:off x="8248650" y="2571750"/>
            <a:ext cx="325755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12 months</a:t>
            </a:r>
          </a:p>
        </p:txBody>
      </p:sp>
      <p:sp>
        <p:nvSpPr>
          <p:cNvPr id="17" name="">
            <a:extLst xmlns:a="http://schemas.openxmlformats.org/drawingml/2006/main">
              <a:ext uri="{FF2B5EF4-FFF2-40B4-BE49-F238E27FC236}">
                <a16:creationId xmlns:a16="http://schemas.microsoft.com/office/drawing/2014/main" id="{C5C3B3E0-162B-4AC6-BCE6-17ACBBF4B525}"/>
              </a:ext>
            </a:extLst>
          </p:cNvPr>
          <p:cNvSpPr>
            <a:spLocks xmlns:a="http://schemas.openxmlformats.org/drawingml/2006/main" noGrp="1"/>
          </p:cNvSpPr>
          <p:nvPr/>
        </p:nvSpPr>
        <p:spPr>
          <a:xfrm xmlns:a="http://schemas.openxmlformats.org/drawingml/2006/main">
            <a:off x="8248650" y="2924175"/>
            <a:ext cx="3257550" cy="4667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Fixed as-of cutoff; INR</a:t>
            </a:r>
          </a:p>
        </p:txBody>
      </p:sp>
      <p:sp>
        <p:nvSpPr>
          <p:cNvPr id="18" name="">
            <a:extLst xmlns:a="http://schemas.openxmlformats.org/drawingml/2006/main">
              <a:ext uri="{FF2B5EF4-FFF2-40B4-BE49-F238E27FC236}">
                <a16:creationId xmlns:a16="http://schemas.microsoft.com/office/drawing/2014/main" id="{6DEA074D-08A3-4931-BFA8-8169FD794C44}"/>
              </a:ext>
            </a:extLst>
          </p:cNvPr>
          <p:cNvSpPr>
            <a:spLocks xmlns:a="http://schemas.openxmlformats.org/drawingml/2006/main" noGrp="1"/>
          </p:cNvSpPr>
          <p:nvPr/>
        </p:nvSpPr>
        <p:spPr>
          <a:xfrm xmlns:a="http://schemas.openxmlformats.org/drawingml/2006/main">
            <a:off x="533400" y="3667125"/>
            <a:ext cx="5438775" cy="1552575"/>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D3DED1"/>
            </a:solidFill>
            <a:prstDash val="solid"/>
          </a:ln>
        </p:spPr>
      </p:sp>
      <p:sp>
        <p:nvSpPr>
          <p:cNvPr id="19" name="">
            <a:extLst xmlns:a="http://schemas.openxmlformats.org/drawingml/2006/main">
              <a:ext uri="{FF2B5EF4-FFF2-40B4-BE49-F238E27FC236}">
                <a16:creationId xmlns:a16="http://schemas.microsoft.com/office/drawing/2014/main" id="{2758DEDB-946A-4F78-846B-C1FDA961307E}"/>
              </a:ext>
            </a:extLst>
          </p:cNvPr>
          <p:cNvSpPr>
            <a:spLocks xmlns:a="http://schemas.openxmlformats.org/drawingml/2006/main" noGrp="1"/>
          </p:cNvSpPr>
          <p:nvPr/>
        </p:nvSpPr>
        <p:spPr>
          <a:xfrm xmlns:a="http://schemas.openxmlformats.org/drawingml/2006/main">
            <a:off x="742950" y="3857625"/>
            <a:ext cx="50196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Operational data</a:t>
            </a:r>
          </a:p>
        </p:txBody>
      </p:sp>
      <p:sp>
        <p:nvSpPr>
          <p:cNvPr id="20" name="">
            <a:extLst xmlns:a="http://schemas.openxmlformats.org/drawingml/2006/main">
              <a:ext uri="{FF2B5EF4-FFF2-40B4-BE49-F238E27FC236}">
                <a16:creationId xmlns:a16="http://schemas.microsoft.com/office/drawing/2014/main" id="{93C34964-CE29-4B1B-8717-66B7FFA07097}"/>
              </a:ext>
            </a:extLst>
          </p:cNvPr>
          <p:cNvSpPr>
            <a:spLocks xmlns:a="http://schemas.openxmlformats.org/drawingml/2006/main" noGrp="1"/>
          </p:cNvSpPr>
          <p:nvPr/>
        </p:nvSpPr>
        <p:spPr>
          <a:xfrm xmlns:a="http://schemas.openxmlformats.org/drawingml/2006/main">
            <a:off x="742950" y="4467225"/>
            <a:ext cx="5019675" cy="6572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Seven linked tables: customer, SKU, reason, sales order/line and return order/line.</a:t>
            </a:r>
          </a:p>
        </p:txBody>
      </p:sp>
      <p:sp>
        <p:nvSpPr>
          <p:cNvPr id="21" name="">
            <a:extLst xmlns:a="http://schemas.openxmlformats.org/drawingml/2006/main">
              <a:ext uri="{FF2B5EF4-FFF2-40B4-BE49-F238E27FC236}">
                <a16:creationId xmlns:a16="http://schemas.microsoft.com/office/drawing/2014/main" id="{B4507830-2904-4A76-8C49-D0D3ABBB2D5D}"/>
              </a:ext>
            </a:extLst>
          </p:cNvPr>
          <p:cNvSpPr>
            <a:spLocks xmlns:a="http://schemas.openxmlformats.org/drawingml/2006/main" noGrp="1"/>
          </p:cNvSpPr>
          <p:nvPr/>
        </p:nvSpPr>
        <p:spPr>
          <a:xfrm xmlns:a="http://schemas.openxmlformats.org/drawingml/2006/main">
            <a:off x="6219825" y="3667125"/>
            <a:ext cx="5438775" cy="1552575"/>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D3DED1"/>
            </a:solidFill>
            <a:prstDash val="solid"/>
          </a:ln>
        </p:spPr>
      </p:sp>
      <p:sp>
        <p:nvSpPr>
          <p:cNvPr id="22" name="">
            <a:extLst xmlns:a="http://schemas.openxmlformats.org/drawingml/2006/main">
              <a:ext uri="{FF2B5EF4-FFF2-40B4-BE49-F238E27FC236}">
                <a16:creationId xmlns:a16="http://schemas.microsoft.com/office/drawing/2014/main" id="{3A0ED3BE-EE07-4E10-8927-E6AB0AD49C31}"/>
              </a:ext>
            </a:extLst>
          </p:cNvPr>
          <p:cNvSpPr>
            <a:spLocks xmlns:a="http://schemas.openxmlformats.org/drawingml/2006/main" noGrp="1"/>
          </p:cNvSpPr>
          <p:nvPr/>
        </p:nvSpPr>
        <p:spPr>
          <a:xfrm xmlns:a="http://schemas.openxmlformats.org/drawingml/2006/main">
            <a:off x="6429375" y="3857625"/>
            <a:ext cx="50196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Private truth</a:t>
            </a:r>
          </a:p>
        </p:txBody>
      </p:sp>
      <p:sp>
        <p:nvSpPr>
          <p:cNvPr id="23" name="">
            <a:extLst xmlns:a="http://schemas.openxmlformats.org/drawingml/2006/main">
              <a:ext uri="{FF2B5EF4-FFF2-40B4-BE49-F238E27FC236}">
                <a16:creationId xmlns:a16="http://schemas.microsoft.com/office/drawing/2014/main" id="{CE655BBC-25C2-44E8-A8EC-815AB060F878}"/>
              </a:ext>
            </a:extLst>
          </p:cNvPr>
          <p:cNvSpPr>
            <a:spLocks xmlns:a="http://schemas.openxmlformats.org/drawingml/2006/main" noGrp="1"/>
          </p:cNvSpPr>
          <p:nvPr/>
        </p:nvSpPr>
        <p:spPr>
          <a:xfrm xmlns:a="http://schemas.openxmlformats.org/drawingml/2006/main">
            <a:off x="6429375" y="4467225"/>
            <a:ext cx="5019675" cy="6572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Intent and deceptive actions stay outside model features and serving payloads.</a:t>
            </a:r>
          </a:p>
        </p:txBody>
      </p:sp>
      <p:sp>
        <p:nvSpPr>
          <p:cNvPr id="24" name="">
            <a:extLst xmlns:a="http://schemas.openxmlformats.org/drawingml/2006/main">
              <a:ext uri="{FF2B5EF4-FFF2-40B4-BE49-F238E27FC236}">
                <a16:creationId xmlns:a16="http://schemas.microsoft.com/office/drawing/2014/main" id="{BFD65823-6E6A-48EB-BB8B-3EF6D0C73431}"/>
              </a:ext>
            </a:extLst>
          </p:cNvPr>
          <p:cNvSpPr>
            <a:spLocks xmlns:a="http://schemas.openxmlformats.org/drawingml/2006/main" noGrp="1"/>
          </p:cNvSpPr>
          <p:nvPr/>
        </p:nvSpPr>
        <p:spPr>
          <a:xfrm xmlns:a="http://schemas.openxmlformats.org/drawingml/2006/main">
            <a:off x="533400" y="5410200"/>
            <a:ext cx="11125200" cy="847725"/>
          </a:xfrm>
          <a:prstGeom xmlns:a="http://schemas.openxmlformats.org/drawingml/2006/main" prst="roundRect">
            <a:avLst>
              <a:gd name="adj" fmla="val 8989"/>
            </a:avLst>
          </a:prstGeom>
          <a:solidFill xmlns:a="http://schemas.openxmlformats.org/drawingml/2006/main">
            <a:srgbClr val="DDEBDD"/>
          </a:solidFill>
          <a:ln xmlns:a="http://schemas.openxmlformats.org/drawingml/2006/main" w="9525">
            <a:solidFill>
              <a:srgbClr val="DDEBDD"/>
            </a:solidFill>
            <a:prstDash val="solid"/>
          </a:ln>
        </p:spPr>
      </p:sp>
      <p:sp>
        <p:nvSpPr>
          <p:cNvPr id="25" name="">
            <a:extLst xmlns:a="http://schemas.openxmlformats.org/drawingml/2006/main">
              <a:ext uri="{FF2B5EF4-FFF2-40B4-BE49-F238E27FC236}">
                <a16:creationId xmlns:a16="http://schemas.microsoft.com/office/drawing/2014/main" id="{6BA50370-E27B-48D4-B96F-6838B2E14887}"/>
              </a:ext>
            </a:extLst>
          </p:cNvPr>
          <p:cNvSpPr>
            <a:spLocks xmlns:a="http://schemas.openxmlformats.org/drawingml/2006/main" noGrp="1"/>
          </p:cNvSpPr>
          <p:nvPr/>
        </p:nvSpPr>
        <p:spPr>
          <a:xfrm xmlns:a="http://schemas.openxmlformats.org/drawingml/2006/main">
            <a:off x="742950" y="5553075"/>
            <a:ext cx="247650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1">
                <a:solidFill>
                  <a:srgbClr val="187257"/>
                </a:solidFill>
              </a:rPr>
              <a:t>Counterexamples</a:t>
            </a:r>
          </a:p>
        </p:txBody>
      </p:sp>
      <p:sp>
        <p:nvSpPr>
          <p:cNvPr id="26" name="">
            <a:extLst xmlns:a="http://schemas.openxmlformats.org/drawingml/2006/main">
              <a:ext uri="{FF2B5EF4-FFF2-40B4-BE49-F238E27FC236}">
                <a16:creationId xmlns:a16="http://schemas.microsoft.com/office/drawing/2014/main" id="{64C364D5-C0D0-4097-B477-03A6D8BA545A}"/>
              </a:ext>
            </a:extLst>
          </p:cNvPr>
          <p:cNvSpPr>
            <a:spLocks xmlns:a="http://schemas.openxmlformats.org/drawingml/2006/main" noGrp="1"/>
          </p:cNvSpPr>
          <p:nvPr/>
        </p:nvSpPr>
        <p:spPr>
          <a:xfrm xmlns:a="http://schemas.openxmlformats.org/drawingml/2006/main">
            <a:off x="3333750" y="5553075"/>
            <a:ext cx="8096250" cy="571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153C32"/>
                </a:solidFill>
              </a:rPr>
              <a:t>Heavy legitimate returners, defect-driven buyers and benign shared households.</a:t>
            </a:r>
          </a:p>
        </p:txBody>
      </p:sp>
    </p:spTree>
    <p:extLst>
      <p:ext uri="{BB962C8B-B14F-4D97-AF65-F5344CB8AC3E}">
        <p14:creationId xmlns:p14="http://schemas.microsoft.com/office/powerpoint/2010/main" val="858628311"/>
      </p:ext>
    </p:extLst>
  </p:cSld>
</p:sld>
</file>

<file path=ppt/slides/slide7.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7308C2C-D68F-4FDD-A256-590383D337AE}"/>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187257"/>
                </a:solidFill>
              </a:rPr>
              <a:t>ARAI  /  XHACK 2026</a:t>
            </a:r>
          </a:p>
        </p:txBody>
      </p:sp>
      <p:sp>
        <p:nvSpPr>
          <p:cNvPr id="3" name="">
            <a:extLst xmlns:a="http://schemas.openxmlformats.org/drawingml/2006/main">
              <a:ext uri="{FF2B5EF4-FFF2-40B4-BE49-F238E27FC236}">
                <a16:creationId xmlns:a16="http://schemas.microsoft.com/office/drawing/2014/main" id="{9323CE27-4413-488F-B051-5698A5BC6240}"/>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61766A"/>
                </a:solidFill>
              </a:rPr>
              <a:t>MODEL VALIDATION</a:t>
            </a:r>
          </a:p>
        </p:txBody>
      </p:sp>
      <p:sp>
        <p:nvSpPr>
          <p:cNvPr id="4" name="">
            <a:extLst xmlns:a="http://schemas.openxmlformats.org/drawingml/2006/main">
              <a:ext uri="{FF2B5EF4-FFF2-40B4-BE49-F238E27FC236}">
                <a16:creationId xmlns:a16="http://schemas.microsoft.com/office/drawing/2014/main" id="{FC60756C-310E-4137-9DEF-DD2C616A728F}"/>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153C32"/>
                </a:solidFill>
              </a:rPr>
              <a:t>A candidate must beat a simple baseline fairly.</a:t>
            </a:r>
          </a:p>
        </p:txBody>
      </p:sp>
      <p:sp>
        <p:nvSpPr>
          <p:cNvPr id="5" name="">
            <a:extLst xmlns:a="http://schemas.openxmlformats.org/drawingml/2006/main">
              <a:ext uri="{FF2B5EF4-FFF2-40B4-BE49-F238E27FC236}">
                <a16:creationId xmlns:a16="http://schemas.microsoft.com/office/drawing/2014/main" id="{257C825B-7449-459A-A9FE-531E71B0048C}"/>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61766A"/>
                </a:solidFill>
              </a:rPr>
              <a:t>Separate synthetic worlds prevent the same world from appearing in training and evaluation.</a:t>
            </a:r>
          </a:p>
        </p:txBody>
      </p:sp>
      <p:sp>
        <p:nvSpPr>
          <p:cNvPr id="6" name="">
            <a:extLst xmlns:a="http://schemas.openxmlformats.org/drawingml/2006/main">
              <a:ext uri="{FF2B5EF4-FFF2-40B4-BE49-F238E27FC236}">
                <a16:creationId xmlns:a16="http://schemas.microsoft.com/office/drawing/2014/main" id="{2B14FDAC-3975-40E0-9290-5236D83AD726}"/>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3DED1"/>
          </a:solidFill>
          <a:ln xmlns:a="http://schemas.openxmlformats.org/drawingml/2006/main" w="9525">
            <a:solidFill>
              <a:srgbClr val="D3DED1"/>
            </a:solidFill>
            <a:prstDash val="solid"/>
          </a:ln>
        </p:spPr>
      </p:sp>
      <p:sp>
        <p:nvSpPr>
          <p:cNvPr id="7" name="">
            <a:extLst xmlns:a="http://schemas.openxmlformats.org/drawingml/2006/main">
              <a:ext uri="{FF2B5EF4-FFF2-40B4-BE49-F238E27FC236}">
                <a16:creationId xmlns:a16="http://schemas.microsoft.com/office/drawing/2014/main" id="{B7472CB1-C2BE-4417-8B57-405CC6F88303}"/>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61766A"/>
                </a:solidFill>
              </a:rPr>
              <a:t>DESIGN PRESENTATION  •  28 SEPTEMBER 2026</a:t>
            </a:r>
          </a:p>
        </p:txBody>
      </p:sp>
      <p:sp>
        <p:nvSpPr>
          <p:cNvPr id="8" name="">
            <a:extLst xmlns:a="http://schemas.openxmlformats.org/drawingml/2006/main">
              <a:ext uri="{FF2B5EF4-FFF2-40B4-BE49-F238E27FC236}">
                <a16:creationId xmlns:a16="http://schemas.microsoft.com/office/drawing/2014/main" id="{55050FCE-972E-4D6C-8296-6E0DCFF1EC96}"/>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07</a:t>
            </a:r>
          </a:p>
        </p:txBody>
      </p:sp>
      <p:sp>
        <p:nvSpPr>
          <p:cNvPr id="9" name="">
            <a:extLst xmlns:a="http://schemas.openxmlformats.org/drawingml/2006/main">
              <a:ext uri="{FF2B5EF4-FFF2-40B4-BE49-F238E27FC236}">
                <a16:creationId xmlns:a16="http://schemas.microsoft.com/office/drawing/2014/main" id="{76029CB2-EF76-4863-BCEB-0A23D1BB842C}"/>
              </a:ext>
            </a:extLst>
          </p:cNvPr>
          <p:cNvSpPr>
            <a:spLocks xmlns:a="http://schemas.openxmlformats.org/drawingml/2006/main" noGrp="1"/>
          </p:cNvSpPr>
          <p:nvPr/>
        </p:nvSpPr>
        <p:spPr>
          <a:xfrm xmlns:a="http://schemas.openxmlformats.org/drawingml/2006/main">
            <a:off x="533400" y="2466975"/>
            <a:ext cx="2609850" cy="1104900"/>
          </a:xfrm>
          <a:prstGeom xmlns:a="http://schemas.openxmlformats.org/drawingml/2006/main" prst="roundRect">
            <a:avLst>
              <a:gd name="adj" fmla="val 6897"/>
            </a:avLst>
          </a:prstGeom>
          <a:solidFill xmlns:a="http://schemas.openxmlformats.org/drawingml/2006/main">
            <a:srgbClr val="DDEBDD"/>
          </a:solidFill>
          <a:ln xmlns:a="http://schemas.openxmlformats.org/drawingml/2006/main" w="9525">
            <a:solidFill>
              <a:srgbClr val="DDEBDD"/>
            </a:solidFill>
            <a:prstDash val="solid"/>
          </a:ln>
        </p:spPr>
      </p:sp>
      <p:sp>
        <p:nvSpPr>
          <p:cNvPr id="10" name="">
            <a:extLst xmlns:a="http://schemas.openxmlformats.org/drawingml/2006/main">
              <a:ext uri="{FF2B5EF4-FFF2-40B4-BE49-F238E27FC236}">
                <a16:creationId xmlns:a16="http://schemas.microsoft.com/office/drawing/2014/main" id="{CC7DB7C9-FE4F-45B3-BEFA-7AAAA8474EC8}"/>
              </a:ext>
            </a:extLst>
          </p:cNvPr>
          <p:cNvSpPr>
            <a:spLocks xmlns:a="http://schemas.openxmlformats.org/drawingml/2006/main" noGrp="1"/>
          </p:cNvSpPr>
          <p:nvPr/>
        </p:nvSpPr>
        <p:spPr>
          <a:xfrm xmlns:a="http://schemas.openxmlformats.org/drawingml/2006/main">
            <a:off x="704850" y="2581275"/>
            <a:ext cx="590550" cy="685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750" b="1">
                <a:solidFill>
                  <a:srgbClr val="187257"/>
                </a:solidFill>
              </a:rPr>
              <a:t>10</a:t>
            </a:r>
          </a:p>
        </p:txBody>
      </p:sp>
      <p:sp>
        <p:nvSpPr>
          <p:cNvPr id="11" name="">
            <a:extLst xmlns:a="http://schemas.openxmlformats.org/drawingml/2006/main">
              <a:ext uri="{FF2B5EF4-FFF2-40B4-BE49-F238E27FC236}">
                <a16:creationId xmlns:a16="http://schemas.microsoft.com/office/drawing/2014/main" id="{BC9DCF7E-2743-4A0C-8D90-8CED27C19CB0}"/>
              </a:ext>
            </a:extLst>
          </p:cNvPr>
          <p:cNvSpPr>
            <a:spLocks xmlns:a="http://schemas.openxmlformats.org/drawingml/2006/main" noGrp="1"/>
          </p:cNvSpPr>
          <p:nvPr/>
        </p:nvSpPr>
        <p:spPr>
          <a:xfrm xmlns:a="http://schemas.openxmlformats.org/drawingml/2006/main">
            <a:off x="1409700" y="2752725"/>
            <a:ext cx="1543050" cy="6286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153C32"/>
                </a:solidFill>
              </a:rPr>
              <a:t>Train worlds</a:t>
            </a:r>
          </a:p>
        </p:txBody>
      </p:sp>
      <p:sp>
        <p:nvSpPr>
          <p:cNvPr id="12" name="">
            <a:extLst xmlns:a="http://schemas.openxmlformats.org/drawingml/2006/main">
              <a:ext uri="{FF2B5EF4-FFF2-40B4-BE49-F238E27FC236}">
                <a16:creationId xmlns:a16="http://schemas.microsoft.com/office/drawing/2014/main" id="{8F403507-1CFF-4555-B650-9455D6EB0B28}"/>
              </a:ext>
            </a:extLst>
          </p:cNvPr>
          <p:cNvSpPr>
            <a:spLocks xmlns:a="http://schemas.openxmlformats.org/drawingml/2006/main" noGrp="1"/>
          </p:cNvSpPr>
          <p:nvPr/>
        </p:nvSpPr>
        <p:spPr>
          <a:xfrm xmlns:a="http://schemas.openxmlformats.org/drawingml/2006/main">
            <a:off x="3371850" y="2466975"/>
            <a:ext cx="2609850" cy="1104900"/>
          </a:xfrm>
          <a:prstGeom xmlns:a="http://schemas.openxmlformats.org/drawingml/2006/main" prst="roundRect">
            <a:avLst>
              <a:gd name="adj" fmla="val 6897"/>
            </a:avLst>
          </a:prstGeom>
          <a:solidFill xmlns:a="http://schemas.openxmlformats.org/drawingml/2006/main">
            <a:srgbClr val="DDEBDD"/>
          </a:solidFill>
          <a:ln xmlns:a="http://schemas.openxmlformats.org/drawingml/2006/main" w="9525">
            <a:solidFill>
              <a:srgbClr val="DDEBDD"/>
            </a:solidFill>
            <a:prstDash val="solid"/>
          </a:ln>
        </p:spPr>
      </p:sp>
      <p:sp>
        <p:nvSpPr>
          <p:cNvPr id="13" name="">
            <a:extLst xmlns:a="http://schemas.openxmlformats.org/drawingml/2006/main">
              <a:ext uri="{FF2B5EF4-FFF2-40B4-BE49-F238E27FC236}">
                <a16:creationId xmlns:a16="http://schemas.microsoft.com/office/drawing/2014/main" id="{6FBA6EA7-2994-43E6-96D3-B15D68451E0D}"/>
              </a:ext>
            </a:extLst>
          </p:cNvPr>
          <p:cNvSpPr>
            <a:spLocks xmlns:a="http://schemas.openxmlformats.org/drawingml/2006/main" noGrp="1"/>
          </p:cNvSpPr>
          <p:nvPr/>
        </p:nvSpPr>
        <p:spPr>
          <a:xfrm xmlns:a="http://schemas.openxmlformats.org/drawingml/2006/main">
            <a:off x="3543300" y="2581275"/>
            <a:ext cx="590550" cy="685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750" b="1">
                <a:solidFill>
                  <a:srgbClr val="187257"/>
                </a:solidFill>
              </a:rPr>
              <a:t>5</a:t>
            </a:r>
          </a:p>
        </p:txBody>
      </p:sp>
      <p:sp>
        <p:nvSpPr>
          <p:cNvPr id="14" name="">
            <a:extLst xmlns:a="http://schemas.openxmlformats.org/drawingml/2006/main">
              <a:ext uri="{FF2B5EF4-FFF2-40B4-BE49-F238E27FC236}">
                <a16:creationId xmlns:a16="http://schemas.microsoft.com/office/drawing/2014/main" id="{0CB14943-C9D0-4C68-A8C0-00468CF11026}"/>
              </a:ext>
            </a:extLst>
          </p:cNvPr>
          <p:cNvSpPr>
            <a:spLocks xmlns:a="http://schemas.openxmlformats.org/drawingml/2006/main" noGrp="1"/>
          </p:cNvSpPr>
          <p:nvPr/>
        </p:nvSpPr>
        <p:spPr>
          <a:xfrm xmlns:a="http://schemas.openxmlformats.org/drawingml/2006/main">
            <a:off x="4248150" y="2752725"/>
            <a:ext cx="1543050" cy="6286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153C32"/>
                </a:solidFill>
              </a:rPr>
              <a:t>Validation worlds</a:t>
            </a:r>
          </a:p>
        </p:txBody>
      </p:sp>
      <p:sp>
        <p:nvSpPr>
          <p:cNvPr id="15" name="">
            <a:extLst xmlns:a="http://schemas.openxmlformats.org/drawingml/2006/main">
              <a:ext uri="{FF2B5EF4-FFF2-40B4-BE49-F238E27FC236}">
                <a16:creationId xmlns:a16="http://schemas.microsoft.com/office/drawing/2014/main" id="{AC303606-CC82-4AF5-B91C-7F0306F8FA91}"/>
              </a:ext>
            </a:extLst>
          </p:cNvPr>
          <p:cNvSpPr>
            <a:spLocks xmlns:a="http://schemas.openxmlformats.org/drawingml/2006/main" noGrp="1"/>
          </p:cNvSpPr>
          <p:nvPr/>
        </p:nvSpPr>
        <p:spPr>
          <a:xfrm xmlns:a="http://schemas.openxmlformats.org/drawingml/2006/main">
            <a:off x="6210300" y="2466975"/>
            <a:ext cx="2609850" cy="1104900"/>
          </a:xfrm>
          <a:prstGeom xmlns:a="http://schemas.openxmlformats.org/drawingml/2006/main" prst="roundRect">
            <a:avLst>
              <a:gd name="adj" fmla="val 6897"/>
            </a:avLst>
          </a:prstGeom>
          <a:solidFill xmlns:a="http://schemas.openxmlformats.org/drawingml/2006/main">
            <a:srgbClr val="DDEBDD"/>
          </a:solidFill>
          <a:ln xmlns:a="http://schemas.openxmlformats.org/drawingml/2006/main" w="9525">
            <a:solidFill>
              <a:srgbClr val="DDEBDD"/>
            </a:solidFill>
            <a:prstDash val="solid"/>
          </a:ln>
        </p:spPr>
      </p:sp>
      <p:sp>
        <p:nvSpPr>
          <p:cNvPr id="16" name="">
            <a:extLst xmlns:a="http://schemas.openxmlformats.org/drawingml/2006/main">
              <a:ext uri="{FF2B5EF4-FFF2-40B4-BE49-F238E27FC236}">
                <a16:creationId xmlns:a16="http://schemas.microsoft.com/office/drawing/2014/main" id="{AD07123C-E9DC-4D35-AECE-414E1E219F61}"/>
              </a:ext>
            </a:extLst>
          </p:cNvPr>
          <p:cNvSpPr>
            <a:spLocks xmlns:a="http://schemas.openxmlformats.org/drawingml/2006/main" noGrp="1"/>
          </p:cNvSpPr>
          <p:nvPr/>
        </p:nvSpPr>
        <p:spPr>
          <a:xfrm xmlns:a="http://schemas.openxmlformats.org/drawingml/2006/main">
            <a:off x="6381750" y="2581275"/>
            <a:ext cx="590550" cy="685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750" b="1">
                <a:solidFill>
                  <a:srgbClr val="187257"/>
                </a:solidFill>
              </a:rPr>
              <a:t>5</a:t>
            </a:r>
          </a:p>
        </p:txBody>
      </p:sp>
      <p:sp>
        <p:nvSpPr>
          <p:cNvPr id="17" name="">
            <a:extLst xmlns:a="http://schemas.openxmlformats.org/drawingml/2006/main">
              <a:ext uri="{FF2B5EF4-FFF2-40B4-BE49-F238E27FC236}">
                <a16:creationId xmlns:a16="http://schemas.microsoft.com/office/drawing/2014/main" id="{CB10C589-5D36-4F79-A3FF-5E4E5356595F}"/>
              </a:ext>
            </a:extLst>
          </p:cNvPr>
          <p:cNvSpPr>
            <a:spLocks xmlns:a="http://schemas.openxmlformats.org/drawingml/2006/main" noGrp="1"/>
          </p:cNvSpPr>
          <p:nvPr/>
        </p:nvSpPr>
        <p:spPr>
          <a:xfrm xmlns:a="http://schemas.openxmlformats.org/drawingml/2006/main">
            <a:off x="7086600" y="2752725"/>
            <a:ext cx="1543050" cy="6286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153C32"/>
                </a:solidFill>
              </a:rPr>
              <a:t>Untouched test worlds</a:t>
            </a:r>
          </a:p>
        </p:txBody>
      </p:sp>
      <p:sp>
        <p:nvSpPr>
          <p:cNvPr id="18" name="">
            <a:extLst xmlns:a="http://schemas.openxmlformats.org/drawingml/2006/main">
              <a:ext uri="{FF2B5EF4-FFF2-40B4-BE49-F238E27FC236}">
                <a16:creationId xmlns:a16="http://schemas.microsoft.com/office/drawing/2014/main" id="{C73A93E7-B6CB-458B-8EE7-C021804A7A7D}"/>
              </a:ext>
            </a:extLst>
          </p:cNvPr>
          <p:cNvSpPr>
            <a:spLocks xmlns:a="http://schemas.openxmlformats.org/drawingml/2006/main" noGrp="1"/>
          </p:cNvSpPr>
          <p:nvPr/>
        </p:nvSpPr>
        <p:spPr>
          <a:xfrm xmlns:a="http://schemas.openxmlformats.org/drawingml/2006/main">
            <a:off x="9048750" y="2466975"/>
            <a:ext cx="2609850" cy="1104900"/>
          </a:xfrm>
          <a:prstGeom xmlns:a="http://schemas.openxmlformats.org/drawingml/2006/main" prst="roundRect">
            <a:avLst>
              <a:gd name="adj" fmla="val 6897"/>
            </a:avLst>
          </a:prstGeom>
          <a:solidFill xmlns:a="http://schemas.openxmlformats.org/drawingml/2006/main">
            <a:srgbClr val="DDEBDD"/>
          </a:solidFill>
          <a:ln xmlns:a="http://schemas.openxmlformats.org/drawingml/2006/main" w="9525">
            <a:solidFill>
              <a:srgbClr val="DDEBDD"/>
            </a:solidFill>
            <a:prstDash val="solid"/>
          </a:ln>
        </p:spPr>
      </p:sp>
      <p:sp>
        <p:nvSpPr>
          <p:cNvPr id="19" name="">
            <a:extLst xmlns:a="http://schemas.openxmlformats.org/drawingml/2006/main">
              <a:ext uri="{FF2B5EF4-FFF2-40B4-BE49-F238E27FC236}">
                <a16:creationId xmlns:a16="http://schemas.microsoft.com/office/drawing/2014/main" id="{3532C3E8-7115-48E2-AD8A-747E1C8FC330}"/>
              </a:ext>
            </a:extLst>
          </p:cNvPr>
          <p:cNvSpPr>
            <a:spLocks xmlns:a="http://schemas.openxmlformats.org/drawingml/2006/main" noGrp="1"/>
          </p:cNvSpPr>
          <p:nvPr/>
        </p:nvSpPr>
        <p:spPr>
          <a:xfrm xmlns:a="http://schemas.openxmlformats.org/drawingml/2006/main">
            <a:off x="9220200" y="2581275"/>
            <a:ext cx="590550" cy="685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750" b="1">
                <a:solidFill>
                  <a:srgbClr val="187257"/>
                </a:solidFill>
              </a:rPr>
              <a:t>1</a:t>
            </a:r>
          </a:p>
        </p:txBody>
      </p:sp>
      <p:sp>
        <p:nvSpPr>
          <p:cNvPr id="20" name="">
            <a:extLst xmlns:a="http://schemas.openxmlformats.org/drawingml/2006/main">
              <a:ext uri="{FF2B5EF4-FFF2-40B4-BE49-F238E27FC236}">
                <a16:creationId xmlns:a16="http://schemas.microsoft.com/office/drawing/2014/main" id="{3FAA9ADF-97C4-42AA-BB45-5E2A2FB551F8}"/>
              </a:ext>
            </a:extLst>
          </p:cNvPr>
          <p:cNvSpPr>
            <a:spLocks xmlns:a="http://schemas.openxmlformats.org/drawingml/2006/main" noGrp="1"/>
          </p:cNvSpPr>
          <p:nvPr/>
        </p:nvSpPr>
        <p:spPr>
          <a:xfrm xmlns:a="http://schemas.openxmlformats.org/drawingml/2006/main">
            <a:off x="9925050" y="2752725"/>
            <a:ext cx="1543050" cy="6286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153C32"/>
                </a:solidFill>
              </a:rPr>
              <a:t>Demo world</a:t>
            </a:r>
          </a:p>
        </p:txBody>
      </p:sp>
      <p:sp>
        <p:nvSpPr>
          <p:cNvPr id="21" name="">
            <a:extLst xmlns:a="http://schemas.openxmlformats.org/drawingml/2006/main">
              <a:ext uri="{FF2B5EF4-FFF2-40B4-BE49-F238E27FC236}">
                <a16:creationId xmlns:a16="http://schemas.microsoft.com/office/drawing/2014/main" id="{5B119423-8E63-4E07-8764-2C9761D79909}"/>
              </a:ext>
            </a:extLst>
          </p:cNvPr>
          <p:cNvSpPr>
            <a:spLocks xmlns:a="http://schemas.openxmlformats.org/drawingml/2006/main" noGrp="1"/>
          </p:cNvSpPr>
          <p:nvPr/>
        </p:nvSpPr>
        <p:spPr>
          <a:xfrm xmlns:a="http://schemas.openxmlformats.org/drawingml/2006/main">
            <a:off x="533400" y="3781425"/>
            <a:ext cx="5438775"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3DED1"/>
            </a:solidFill>
            <a:prstDash val="solid"/>
          </a:ln>
        </p:spPr>
      </p:sp>
      <p:sp>
        <p:nvSpPr>
          <p:cNvPr id="22" name="">
            <a:extLst xmlns:a="http://schemas.openxmlformats.org/drawingml/2006/main">
              <a:ext uri="{FF2B5EF4-FFF2-40B4-BE49-F238E27FC236}">
                <a16:creationId xmlns:a16="http://schemas.microsoft.com/office/drawing/2014/main" id="{B36B4404-E6E2-4812-9914-EAC911099692}"/>
              </a:ext>
            </a:extLst>
          </p:cNvPr>
          <p:cNvSpPr>
            <a:spLocks xmlns:a="http://schemas.openxmlformats.org/drawingml/2006/main" noGrp="1"/>
          </p:cNvSpPr>
          <p:nvPr/>
        </p:nvSpPr>
        <p:spPr>
          <a:xfrm xmlns:a="http://schemas.openxmlformats.org/drawingml/2006/main">
            <a:off x="742950" y="3971925"/>
            <a:ext cx="50196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Gate 1: better prioritization</a:t>
            </a:r>
          </a:p>
        </p:txBody>
      </p:sp>
      <p:sp>
        <p:nvSpPr>
          <p:cNvPr id="23" name="">
            <a:extLst xmlns:a="http://schemas.openxmlformats.org/drawingml/2006/main">
              <a:ext uri="{FF2B5EF4-FFF2-40B4-BE49-F238E27FC236}">
                <a16:creationId xmlns:a16="http://schemas.microsoft.com/office/drawing/2014/main" id="{8E488082-F4B2-475F-AE94-72DA66D47F75}"/>
              </a:ext>
            </a:extLst>
          </p:cNvPr>
          <p:cNvSpPr>
            <a:spLocks xmlns:a="http://schemas.openxmlformats.org/drawingml/2006/main" noGrp="1"/>
          </p:cNvSpPr>
          <p:nvPr/>
        </p:nvSpPr>
        <p:spPr>
          <a:xfrm xmlns:a="http://schemas.openxmlformats.org/drawingml/2006/main">
            <a:off x="742950" y="4581525"/>
            <a:ext cx="5019675" cy="5810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At a 5% review budget, precision must exceed the raw return-rate baseline.</a:t>
            </a:r>
          </a:p>
        </p:txBody>
      </p:sp>
      <p:sp>
        <p:nvSpPr>
          <p:cNvPr id="24" name="">
            <a:extLst xmlns:a="http://schemas.openxmlformats.org/drawingml/2006/main">
              <a:ext uri="{FF2B5EF4-FFF2-40B4-BE49-F238E27FC236}">
                <a16:creationId xmlns:a16="http://schemas.microsoft.com/office/drawing/2014/main" id="{C449E17A-F6B4-4BD5-BA9C-0B78481F1E1B}"/>
              </a:ext>
            </a:extLst>
          </p:cNvPr>
          <p:cNvSpPr>
            <a:spLocks xmlns:a="http://schemas.openxmlformats.org/drawingml/2006/main" noGrp="1"/>
          </p:cNvSpPr>
          <p:nvPr/>
        </p:nvSpPr>
        <p:spPr>
          <a:xfrm xmlns:a="http://schemas.openxmlformats.org/drawingml/2006/main">
            <a:off x="6219825" y="3781425"/>
            <a:ext cx="5438775"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3DED1"/>
            </a:solidFill>
            <a:prstDash val="solid"/>
          </a:ln>
        </p:spPr>
      </p:sp>
      <p:sp>
        <p:nvSpPr>
          <p:cNvPr id="25" name="">
            <a:extLst xmlns:a="http://schemas.openxmlformats.org/drawingml/2006/main">
              <a:ext uri="{FF2B5EF4-FFF2-40B4-BE49-F238E27FC236}">
                <a16:creationId xmlns:a16="http://schemas.microsoft.com/office/drawing/2014/main" id="{8EA2530E-192B-4374-8F34-A5EB14C3458C}"/>
              </a:ext>
            </a:extLst>
          </p:cNvPr>
          <p:cNvSpPr>
            <a:spLocks xmlns:a="http://schemas.openxmlformats.org/drawingml/2006/main" noGrp="1"/>
          </p:cNvSpPr>
          <p:nvPr/>
        </p:nvSpPr>
        <p:spPr>
          <a:xfrm xmlns:a="http://schemas.openxmlformats.org/drawingml/2006/main">
            <a:off x="6429375" y="3971925"/>
            <a:ext cx="50196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Gate 2: protect benign groups</a:t>
            </a:r>
          </a:p>
        </p:txBody>
      </p:sp>
      <p:sp>
        <p:nvSpPr>
          <p:cNvPr id="26" name="">
            <a:extLst xmlns:a="http://schemas.openxmlformats.org/drawingml/2006/main">
              <a:ext uri="{FF2B5EF4-FFF2-40B4-BE49-F238E27FC236}">
                <a16:creationId xmlns:a16="http://schemas.microsoft.com/office/drawing/2014/main" id="{A46AA437-D903-4744-AE88-B6517256F16B}"/>
              </a:ext>
            </a:extLst>
          </p:cNvPr>
          <p:cNvSpPr>
            <a:spLocks xmlns:a="http://schemas.openxmlformats.org/drawingml/2006/main" noGrp="1"/>
          </p:cNvSpPr>
          <p:nvPr/>
        </p:nvSpPr>
        <p:spPr>
          <a:xfrm xmlns:a="http://schemas.openxmlformats.org/drawingml/2006/main">
            <a:off x="6429375" y="4581525"/>
            <a:ext cx="5019675" cy="5810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False-positive rate must be no worse in each of three benign segments.</a:t>
            </a:r>
          </a:p>
        </p:txBody>
      </p:sp>
      <p:sp>
        <p:nvSpPr>
          <p:cNvPr id="27" name="">
            <a:extLst xmlns:a="http://schemas.openxmlformats.org/drawingml/2006/main">
              <a:ext uri="{FF2B5EF4-FFF2-40B4-BE49-F238E27FC236}">
                <a16:creationId xmlns:a16="http://schemas.microsoft.com/office/drawing/2014/main" id="{5FDFE9EC-3E75-4664-9B7A-051F81C676E6}"/>
              </a:ext>
            </a:extLst>
          </p:cNvPr>
          <p:cNvSpPr>
            <a:spLocks xmlns:a="http://schemas.openxmlformats.org/drawingml/2006/main" noGrp="1"/>
          </p:cNvSpPr>
          <p:nvPr/>
        </p:nvSpPr>
        <p:spPr>
          <a:xfrm xmlns:a="http://schemas.openxmlformats.org/drawingml/2006/main">
            <a:off x="533400" y="5467350"/>
            <a:ext cx="11125200" cy="666750"/>
          </a:xfrm>
          <a:prstGeom xmlns:a="http://schemas.openxmlformats.org/drawingml/2006/main" prst="roundRect">
            <a:avLst>
              <a:gd name="adj" fmla="val 11429"/>
            </a:avLst>
          </a:prstGeom>
          <a:solidFill xmlns:a="http://schemas.openxmlformats.org/drawingml/2006/main">
            <a:srgbClr val="153C32"/>
          </a:solidFill>
          <a:ln xmlns:a="http://schemas.openxmlformats.org/drawingml/2006/main" w="9525">
            <a:solidFill>
              <a:srgbClr val="153C32"/>
            </a:solidFill>
            <a:prstDash val="solid"/>
          </a:ln>
        </p:spPr>
      </p:sp>
      <p:sp>
        <p:nvSpPr>
          <p:cNvPr id="28" name="">
            <a:extLst xmlns:a="http://schemas.openxmlformats.org/drawingml/2006/main">
              <a:ext uri="{FF2B5EF4-FFF2-40B4-BE49-F238E27FC236}">
                <a16:creationId xmlns:a16="http://schemas.microsoft.com/office/drawing/2014/main" id="{7E36D433-6719-41BE-86D1-6CFBEAFB9815}"/>
              </a:ext>
            </a:extLst>
          </p:cNvPr>
          <p:cNvSpPr>
            <a:spLocks xmlns:a="http://schemas.openxmlformats.org/drawingml/2006/main" noGrp="1"/>
          </p:cNvSpPr>
          <p:nvPr/>
        </p:nvSpPr>
        <p:spPr>
          <a:xfrm xmlns:a="http://schemas.openxmlformats.org/drawingml/2006/main">
            <a:off x="742950" y="5648325"/>
            <a:ext cx="10706100" cy="3810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FFFFFF"/>
                </a:solidFill>
              </a:rPr>
              <a:t>PASS: promote the frozen selection   •   FAIL: disclose and serve the baseline</a:t>
            </a:r>
          </a:p>
        </p:txBody>
      </p:sp>
    </p:spTree>
    <p:extLst>
      <p:ext uri="{BB962C8B-B14F-4D97-AF65-F5344CB8AC3E}">
        <p14:creationId xmlns:p14="http://schemas.microsoft.com/office/powerpoint/2010/main" val="793949427"/>
      </p:ext>
    </p:extLst>
  </p:cSld>
</p:sld>
</file>

<file path=ppt/slides/slide8.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FE58BD22-4FE4-44E7-961F-91C7651FD15B}"/>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187257"/>
                </a:solidFill>
              </a:rPr>
              <a:t>ARAI  /  XHACK 2026</a:t>
            </a:r>
          </a:p>
        </p:txBody>
      </p:sp>
      <p:sp>
        <p:nvSpPr>
          <p:cNvPr id="3" name="">
            <a:extLst xmlns:a="http://schemas.openxmlformats.org/drawingml/2006/main">
              <a:ext uri="{FF2B5EF4-FFF2-40B4-BE49-F238E27FC236}">
                <a16:creationId xmlns:a16="http://schemas.microsoft.com/office/drawing/2014/main" id="{D3251918-8B14-4EE8-B9BC-0E91566CBAA2}"/>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61766A"/>
                </a:solidFill>
              </a:rPr>
              <a:t>UI / UX</a:t>
            </a:r>
          </a:p>
        </p:txBody>
      </p:sp>
      <p:sp>
        <p:nvSpPr>
          <p:cNvPr id="4" name="">
            <a:extLst xmlns:a="http://schemas.openxmlformats.org/drawingml/2006/main">
              <a:ext uri="{FF2B5EF4-FFF2-40B4-BE49-F238E27FC236}">
                <a16:creationId xmlns:a16="http://schemas.microsoft.com/office/drawing/2014/main" id="{9CB54D49-D7CD-42AA-90CC-596BD5C91F8D}"/>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153C32"/>
                </a:solidFill>
              </a:rPr>
              <a:t>Make the ranking easy to question.</a:t>
            </a:r>
          </a:p>
        </p:txBody>
      </p:sp>
      <p:sp>
        <p:nvSpPr>
          <p:cNvPr id="5" name="">
            <a:extLst xmlns:a="http://schemas.openxmlformats.org/drawingml/2006/main">
              <a:ext uri="{FF2B5EF4-FFF2-40B4-BE49-F238E27FC236}">
                <a16:creationId xmlns:a16="http://schemas.microsoft.com/office/drawing/2014/main" id="{0E243393-9743-4AEF-A0F2-C1F603315DC8}"/>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61766A"/>
                </a:solidFill>
              </a:rPr>
              <a:t>Revised clickable wireframe • synthetic demonstration values • not a running ML product</a:t>
            </a:r>
          </a:p>
        </p:txBody>
      </p:sp>
      <p:sp>
        <p:nvSpPr>
          <p:cNvPr id="6" name="">
            <a:extLst xmlns:a="http://schemas.openxmlformats.org/drawingml/2006/main">
              <a:ext uri="{FF2B5EF4-FFF2-40B4-BE49-F238E27FC236}">
                <a16:creationId xmlns:a16="http://schemas.microsoft.com/office/drawing/2014/main" id="{F87B4576-1659-48EF-8010-450DA616400A}"/>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3DED1"/>
          </a:solidFill>
          <a:ln xmlns:a="http://schemas.openxmlformats.org/drawingml/2006/main" w="9525">
            <a:solidFill>
              <a:srgbClr val="D3DED1"/>
            </a:solidFill>
            <a:prstDash val="solid"/>
          </a:ln>
        </p:spPr>
      </p:sp>
      <p:sp>
        <p:nvSpPr>
          <p:cNvPr id="7" name="">
            <a:extLst xmlns:a="http://schemas.openxmlformats.org/drawingml/2006/main">
              <a:ext uri="{FF2B5EF4-FFF2-40B4-BE49-F238E27FC236}">
                <a16:creationId xmlns:a16="http://schemas.microsoft.com/office/drawing/2014/main" id="{2EEB8242-0588-4682-97DB-EBF244DD3ED9}"/>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61766A"/>
                </a:solidFill>
              </a:rPr>
              <a:t>DESIGN PRESENTATION  •  28 SEPTEMBER 2026</a:t>
            </a:r>
          </a:p>
        </p:txBody>
      </p:sp>
      <p:sp>
        <p:nvSpPr>
          <p:cNvPr id="8" name="">
            <a:extLst xmlns:a="http://schemas.openxmlformats.org/drawingml/2006/main">
              <a:ext uri="{FF2B5EF4-FFF2-40B4-BE49-F238E27FC236}">
                <a16:creationId xmlns:a16="http://schemas.microsoft.com/office/drawing/2014/main" id="{87690FBD-BB38-4F73-96ED-D15462DACA89}"/>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08</a:t>
            </a:r>
          </a:p>
        </p:txBody>
      </p:sp>
      <p:sp>
        <p:nvSpPr>
          <p:cNvPr id="9" name="">
            <a:extLst xmlns:a="http://schemas.openxmlformats.org/drawingml/2006/main">
              <a:ext uri="{FF2B5EF4-FFF2-40B4-BE49-F238E27FC236}">
                <a16:creationId xmlns:a16="http://schemas.microsoft.com/office/drawing/2014/main" id="{D085F7B6-2F9F-49B8-9E77-DF6925909260}"/>
              </a:ext>
            </a:extLst>
          </p:cNvPr>
          <p:cNvSpPr>
            <a:spLocks xmlns:a="http://schemas.openxmlformats.org/drawingml/2006/main" noGrp="1"/>
          </p:cNvSpPr>
          <p:nvPr/>
        </p:nvSpPr>
        <p:spPr>
          <a:xfrm xmlns:a="http://schemas.openxmlformats.org/drawingml/2006/main">
            <a:off x="533400" y="2409825"/>
            <a:ext cx="7334250" cy="3705225"/>
          </a:xfrm>
          <a:prstGeom xmlns:a="http://schemas.openxmlformats.org/drawingml/2006/main" prst="roundRect">
            <a:avLst>
              <a:gd name="adj" fmla="val 2057"/>
            </a:avLst>
          </a:prstGeom>
          <a:solidFill xmlns:a="http://schemas.openxmlformats.org/drawingml/2006/main">
            <a:srgbClr val="FFFFFF"/>
          </a:solidFill>
          <a:ln xmlns:a="http://schemas.openxmlformats.org/drawingml/2006/main" w="9525">
            <a:solidFill>
              <a:srgbClr val="D3DED1"/>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cf32abd65b3427e"/>
          <a:stretch xmlns:a="http://schemas.openxmlformats.org/drawingml/2006/main"/>
        </p:blipFill>
        <p:spPr>
          <a:xfrm xmlns:a="http://schemas.openxmlformats.org/drawingml/2006/main">
            <a:off x="1869298" y="2457450"/>
            <a:ext cx="4662453" cy="36004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DE97A87-9B11-48CB-8925-3AAC9E8FF0CB}"/>
              </a:ext>
            </a:extLst>
          </p:cNvPr>
          <p:cNvSpPr>
            <a:spLocks xmlns:a="http://schemas.openxmlformats.org/drawingml/2006/main" noGrp="1"/>
          </p:cNvSpPr>
          <p:nvPr/>
        </p:nvSpPr>
        <p:spPr>
          <a:xfrm xmlns:a="http://schemas.openxmlformats.org/drawingml/2006/main">
            <a:off x="8153400" y="2466975"/>
            <a:ext cx="400050" cy="3429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650" b="1">
                <a:solidFill>
                  <a:srgbClr val="187257"/>
                </a:solidFill>
              </a:rPr>
              <a:t>01</a:t>
            </a:r>
          </a:p>
        </p:txBody>
      </p:sp>
      <p:sp>
        <p:nvSpPr>
          <p:cNvPr id="12" name="">
            <a:extLst xmlns:a="http://schemas.openxmlformats.org/drawingml/2006/main">
              <a:ext uri="{FF2B5EF4-FFF2-40B4-BE49-F238E27FC236}">
                <a16:creationId xmlns:a16="http://schemas.microsoft.com/office/drawing/2014/main" id="{73BB5FBB-0FD7-4B1C-BAE0-38669EAF02EC}"/>
              </a:ext>
            </a:extLst>
          </p:cNvPr>
          <p:cNvSpPr>
            <a:spLocks xmlns:a="http://schemas.openxmlformats.org/drawingml/2006/main" noGrp="1"/>
          </p:cNvSpPr>
          <p:nvPr/>
        </p:nvSpPr>
        <p:spPr>
          <a:xfrm xmlns:a="http://schemas.openxmlformats.org/drawingml/2006/main">
            <a:off x="8658225" y="2466975"/>
            <a:ext cx="296227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1">
                <a:solidFill>
                  <a:srgbClr val="153C32"/>
                </a:solidFill>
              </a:rPr>
              <a:t>Explain the score</a:t>
            </a:r>
          </a:p>
        </p:txBody>
      </p:sp>
      <p:sp>
        <p:nvSpPr>
          <p:cNvPr id="13" name="">
            <a:extLst xmlns:a="http://schemas.openxmlformats.org/drawingml/2006/main">
              <a:ext uri="{FF2B5EF4-FFF2-40B4-BE49-F238E27FC236}">
                <a16:creationId xmlns:a16="http://schemas.microsoft.com/office/drawing/2014/main" id="{E0B2FB75-8B7C-45FC-B409-D79F8C4EAAE2}"/>
              </a:ext>
            </a:extLst>
          </p:cNvPr>
          <p:cNvSpPr>
            <a:spLocks xmlns:a="http://schemas.openxmlformats.org/drawingml/2006/main" noGrp="1"/>
          </p:cNvSpPr>
          <p:nvPr/>
        </p:nvSpPr>
        <p:spPr>
          <a:xfrm xmlns:a="http://schemas.openxmlformats.org/drawingml/2006/main">
            <a:off x="8658225" y="2809875"/>
            <a:ext cx="29622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350" b="0">
                <a:solidFill>
                  <a:srgbClr val="61766A"/>
                </a:solidFill>
              </a:rPr>
              <a:t>A percentile is not a probability.</a:t>
            </a:r>
          </a:p>
        </p:txBody>
      </p:sp>
      <p:sp>
        <p:nvSpPr>
          <p:cNvPr id="14" name="">
            <a:extLst xmlns:a="http://schemas.openxmlformats.org/drawingml/2006/main">
              <a:ext uri="{FF2B5EF4-FFF2-40B4-BE49-F238E27FC236}">
                <a16:creationId xmlns:a16="http://schemas.microsoft.com/office/drawing/2014/main" id="{A06AD652-09F7-4F61-93C3-73FAA584C902}"/>
              </a:ext>
            </a:extLst>
          </p:cNvPr>
          <p:cNvSpPr>
            <a:spLocks xmlns:a="http://schemas.openxmlformats.org/drawingml/2006/main" noGrp="1"/>
          </p:cNvSpPr>
          <p:nvPr/>
        </p:nvSpPr>
        <p:spPr>
          <a:xfrm xmlns:a="http://schemas.openxmlformats.org/drawingml/2006/main">
            <a:off x="8153400" y="3400425"/>
            <a:ext cx="400050" cy="3429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650" b="1">
                <a:solidFill>
                  <a:srgbClr val="187257"/>
                </a:solidFill>
              </a:rPr>
              <a:t>02</a:t>
            </a:r>
          </a:p>
        </p:txBody>
      </p:sp>
      <p:sp>
        <p:nvSpPr>
          <p:cNvPr id="15" name="">
            <a:extLst xmlns:a="http://schemas.openxmlformats.org/drawingml/2006/main">
              <a:ext uri="{FF2B5EF4-FFF2-40B4-BE49-F238E27FC236}">
                <a16:creationId xmlns:a16="http://schemas.microsoft.com/office/drawing/2014/main" id="{34E55319-276B-427B-94B2-5381BDFB4A59}"/>
              </a:ext>
            </a:extLst>
          </p:cNvPr>
          <p:cNvSpPr>
            <a:spLocks xmlns:a="http://schemas.openxmlformats.org/drawingml/2006/main" noGrp="1"/>
          </p:cNvSpPr>
          <p:nvPr/>
        </p:nvSpPr>
        <p:spPr>
          <a:xfrm xmlns:a="http://schemas.openxmlformats.org/drawingml/2006/main">
            <a:off x="8658225" y="3400425"/>
            <a:ext cx="296227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1">
                <a:solidFill>
                  <a:srgbClr val="153C32"/>
                </a:solidFill>
              </a:rPr>
              <a:t>Show product context</a:t>
            </a:r>
          </a:p>
        </p:txBody>
      </p:sp>
      <p:sp>
        <p:nvSpPr>
          <p:cNvPr id="16" name="">
            <a:extLst xmlns:a="http://schemas.openxmlformats.org/drawingml/2006/main">
              <a:ext uri="{FF2B5EF4-FFF2-40B4-BE49-F238E27FC236}">
                <a16:creationId xmlns:a16="http://schemas.microsoft.com/office/drawing/2014/main" id="{DFE1A489-3443-429B-B2C2-CB741764400B}"/>
              </a:ext>
            </a:extLst>
          </p:cNvPr>
          <p:cNvSpPr>
            <a:spLocks xmlns:a="http://schemas.openxmlformats.org/drawingml/2006/main" noGrp="1"/>
          </p:cNvSpPr>
          <p:nvPr/>
        </p:nvSpPr>
        <p:spPr>
          <a:xfrm xmlns:a="http://schemas.openxmlformats.org/drawingml/2006/main">
            <a:off x="8658225" y="3743325"/>
            <a:ext cx="29622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350" b="0">
                <a:solidFill>
                  <a:srgbClr val="61766A"/>
                </a:solidFill>
              </a:rPr>
              <a:t>Compare observed and expected returns.</a:t>
            </a:r>
          </a:p>
        </p:txBody>
      </p:sp>
      <p:sp>
        <p:nvSpPr>
          <p:cNvPr id="17" name="">
            <a:extLst xmlns:a="http://schemas.openxmlformats.org/drawingml/2006/main">
              <a:ext uri="{FF2B5EF4-FFF2-40B4-BE49-F238E27FC236}">
                <a16:creationId xmlns:a16="http://schemas.microsoft.com/office/drawing/2014/main" id="{91551E68-3F8F-4728-B8F1-44B49419929A}"/>
              </a:ext>
            </a:extLst>
          </p:cNvPr>
          <p:cNvSpPr>
            <a:spLocks xmlns:a="http://schemas.openxmlformats.org/drawingml/2006/main" noGrp="1"/>
          </p:cNvSpPr>
          <p:nvPr/>
        </p:nvSpPr>
        <p:spPr>
          <a:xfrm xmlns:a="http://schemas.openxmlformats.org/drawingml/2006/main">
            <a:off x="8153400" y="4333875"/>
            <a:ext cx="400050" cy="3429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650" b="1">
                <a:solidFill>
                  <a:srgbClr val="187257"/>
                </a:solidFill>
              </a:rPr>
              <a:t>03</a:t>
            </a:r>
          </a:p>
        </p:txBody>
      </p:sp>
      <p:sp>
        <p:nvSpPr>
          <p:cNvPr id="18" name="">
            <a:extLst xmlns:a="http://schemas.openxmlformats.org/drawingml/2006/main">
              <a:ext uri="{FF2B5EF4-FFF2-40B4-BE49-F238E27FC236}">
                <a16:creationId xmlns:a16="http://schemas.microsoft.com/office/drawing/2014/main" id="{913E524C-AFE2-4990-B493-6929B1067B5D}"/>
              </a:ext>
            </a:extLst>
          </p:cNvPr>
          <p:cNvSpPr>
            <a:spLocks xmlns:a="http://schemas.openxmlformats.org/drawingml/2006/main" noGrp="1"/>
          </p:cNvSpPr>
          <p:nvPr/>
        </p:nvSpPr>
        <p:spPr>
          <a:xfrm xmlns:a="http://schemas.openxmlformats.org/drawingml/2006/main">
            <a:off x="8658225" y="4333875"/>
            <a:ext cx="296227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1">
                <a:solidFill>
                  <a:srgbClr val="153C32"/>
                </a:solidFill>
              </a:rPr>
              <a:t>Separate signals</a:t>
            </a:r>
          </a:p>
        </p:txBody>
      </p:sp>
      <p:sp>
        <p:nvSpPr>
          <p:cNvPr id="19" name="">
            <a:extLst xmlns:a="http://schemas.openxmlformats.org/drawingml/2006/main">
              <a:ext uri="{FF2B5EF4-FFF2-40B4-BE49-F238E27FC236}">
                <a16:creationId xmlns:a16="http://schemas.microsoft.com/office/drawing/2014/main" id="{1E85D196-7502-4E97-A0F0-FC702A71E4FF}"/>
              </a:ext>
            </a:extLst>
          </p:cNvPr>
          <p:cNvSpPr>
            <a:spLocks xmlns:a="http://schemas.openxmlformats.org/drawingml/2006/main" noGrp="1"/>
          </p:cNvSpPr>
          <p:nvPr/>
        </p:nvSpPr>
        <p:spPr>
          <a:xfrm xmlns:a="http://schemas.openxmlformats.org/drawingml/2006/main">
            <a:off x="8658225" y="4676775"/>
            <a:ext cx="29622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350" b="0">
                <a:solidFill>
                  <a:srgbClr val="61766A"/>
                </a:solidFill>
              </a:rPr>
              <a:t>Wardrobing stays independently labeled.</a:t>
            </a:r>
          </a:p>
        </p:txBody>
      </p:sp>
      <p:sp>
        <p:nvSpPr>
          <p:cNvPr id="20" name="">
            <a:extLst xmlns:a="http://schemas.openxmlformats.org/drawingml/2006/main">
              <a:ext uri="{FF2B5EF4-FFF2-40B4-BE49-F238E27FC236}">
                <a16:creationId xmlns:a16="http://schemas.microsoft.com/office/drawing/2014/main" id="{CE59F7F2-8AD0-4BB9-88B3-006D1B635193}"/>
              </a:ext>
            </a:extLst>
          </p:cNvPr>
          <p:cNvSpPr>
            <a:spLocks xmlns:a="http://schemas.openxmlformats.org/drawingml/2006/main" noGrp="1"/>
          </p:cNvSpPr>
          <p:nvPr/>
        </p:nvSpPr>
        <p:spPr>
          <a:xfrm xmlns:a="http://schemas.openxmlformats.org/drawingml/2006/main">
            <a:off x="8153400" y="5267325"/>
            <a:ext cx="400050" cy="3429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650" b="1">
                <a:solidFill>
                  <a:srgbClr val="187257"/>
                </a:solidFill>
              </a:rPr>
              <a:t>04</a:t>
            </a:r>
          </a:p>
        </p:txBody>
      </p:sp>
      <p:sp>
        <p:nvSpPr>
          <p:cNvPr id="21" name="">
            <a:extLst xmlns:a="http://schemas.openxmlformats.org/drawingml/2006/main">
              <a:ext uri="{FF2B5EF4-FFF2-40B4-BE49-F238E27FC236}">
                <a16:creationId xmlns:a16="http://schemas.microsoft.com/office/drawing/2014/main" id="{FCC52C80-91E9-4E68-8FBF-BB3AB3F90208}"/>
              </a:ext>
            </a:extLst>
          </p:cNvPr>
          <p:cNvSpPr>
            <a:spLocks xmlns:a="http://schemas.openxmlformats.org/drawingml/2006/main" noGrp="1"/>
          </p:cNvSpPr>
          <p:nvPr/>
        </p:nvSpPr>
        <p:spPr>
          <a:xfrm xmlns:a="http://schemas.openxmlformats.org/drawingml/2006/main">
            <a:off x="8658225" y="5267325"/>
            <a:ext cx="296227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1">
                <a:solidFill>
                  <a:srgbClr val="153C32"/>
                </a:solidFill>
              </a:rPr>
              <a:t>Record the review</a:t>
            </a:r>
          </a:p>
        </p:txBody>
      </p:sp>
      <p:sp>
        <p:nvSpPr>
          <p:cNvPr id="22" name="">
            <a:extLst xmlns:a="http://schemas.openxmlformats.org/drawingml/2006/main">
              <a:ext uri="{FF2B5EF4-FFF2-40B4-BE49-F238E27FC236}">
                <a16:creationId xmlns:a16="http://schemas.microsoft.com/office/drawing/2014/main" id="{F7DE068D-FA26-4C35-A02A-BF6390A22613}"/>
              </a:ext>
            </a:extLst>
          </p:cNvPr>
          <p:cNvSpPr>
            <a:spLocks xmlns:a="http://schemas.openxmlformats.org/drawingml/2006/main" noGrp="1"/>
          </p:cNvSpPr>
          <p:nvPr/>
        </p:nvSpPr>
        <p:spPr>
          <a:xfrm xmlns:a="http://schemas.openxmlformats.org/drawingml/2006/main">
            <a:off x="8658225" y="5610225"/>
            <a:ext cx="29622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350" b="0">
                <a:solidFill>
                  <a:srgbClr val="61766A"/>
                </a:solidFill>
              </a:rPr>
              <a:t>Append-only notes preserve history.</a:t>
            </a:r>
          </a:p>
        </p:txBody>
      </p:sp>
    </p:spTree>
    <p:extLst>
      <p:ext uri="{BB962C8B-B14F-4D97-AF65-F5344CB8AC3E}">
        <p14:creationId xmlns:p14="http://schemas.microsoft.com/office/powerpoint/2010/main" val="1468069015"/>
      </p:ext>
    </p:extLst>
  </p:cSld>
</p:sld>
</file>

<file path=ppt/slides/slide9.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01DB38E3-4012-4BCE-80B5-2506E9245766}"/>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187257"/>
                </a:solidFill>
              </a:rPr>
              <a:t>ARAI  /  XHACK 2026</a:t>
            </a:r>
          </a:p>
        </p:txBody>
      </p:sp>
      <p:sp>
        <p:nvSpPr>
          <p:cNvPr id="3" name="">
            <a:extLst xmlns:a="http://schemas.openxmlformats.org/drawingml/2006/main">
              <a:ext uri="{FF2B5EF4-FFF2-40B4-BE49-F238E27FC236}">
                <a16:creationId xmlns:a16="http://schemas.microsoft.com/office/drawing/2014/main" id="{ECEF74F5-7335-41EB-A0F6-D5C9FEEBAFFD}"/>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61766A"/>
                </a:solidFill>
              </a:rPr>
              <a:t>TECHNOLOGY STACK</a:t>
            </a:r>
          </a:p>
        </p:txBody>
      </p:sp>
      <p:sp>
        <p:nvSpPr>
          <p:cNvPr id="4" name="">
            <a:extLst xmlns:a="http://schemas.openxmlformats.org/drawingml/2006/main">
              <a:ext uri="{FF2B5EF4-FFF2-40B4-BE49-F238E27FC236}">
                <a16:creationId xmlns:a16="http://schemas.microsoft.com/office/drawing/2014/main" id="{72AC7686-A113-475D-BB89-7BB0C0AE4839}"/>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153C32"/>
                </a:solidFill>
              </a:rPr>
              <a:t>A small, familiar stack for the MVP.</a:t>
            </a:r>
          </a:p>
        </p:txBody>
      </p:sp>
      <p:sp>
        <p:nvSpPr>
          <p:cNvPr id="5" name="">
            <a:extLst xmlns:a="http://schemas.openxmlformats.org/drawingml/2006/main">
              <a:ext uri="{FF2B5EF4-FFF2-40B4-BE49-F238E27FC236}">
                <a16:creationId xmlns:a16="http://schemas.microsoft.com/office/drawing/2014/main" id="{92F001C8-7855-4446-A33F-99A143165244}"/>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61766A"/>
                </a:solidFill>
              </a:rPr>
              <a:t>Keep experimentation offline and the application runtime simple.</a:t>
            </a:r>
          </a:p>
        </p:txBody>
      </p:sp>
      <p:sp>
        <p:nvSpPr>
          <p:cNvPr id="6" name="">
            <a:extLst xmlns:a="http://schemas.openxmlformats.org/drawingml/2006/main">
              <a:ext uri="{FF2B5EF4-FFF2-40B4-BE49-F238E27FC236}">
                <a16:creationId xmlns:a16="http://schemas.microsoft.com/office/drawing/2014/main" id="{0F907A7F-C2DB-4BE3-8390-B3D66D332C0D}"/>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3DED1"/>
          </a:solidFill>
          <a:ln xmlns:a="http://schemas.openxmlformats.org/drawingml/2006/main" w="9525">
            <a:solidFill>
              <a:srgbClr val="D3DED1"/>
            </a:solidFill>
            <a:prstDash val="solid"/>
          </a:ln>
        </p:spPr>
      </p:sp>
      <p:sp>
        <p:nvSpPr>
          <p:cNvPr id="7" name="">
            <a:extLst xmlns:a="http://schemas.openxmlformats.org/drawingml/2006/main">
              <a:ext uri="{FF2B5EF4-FFF2-40B4-BE49-F238E27FC236}">
                <a16:creationId xmlns:a16="http://schemas.microsoft.com/office/drawing/2014/main" id="{447FB2FD-DD6E-4C6D-B5D6-782E0C1C664C}"/>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61766A"/>
                </a:solidFill>
              </a:rPr>
              <a:t>DESIGN PRESENTATION  •  28 SEPTEMBER 2026</a:t>
            </a:r>
          </a:p>
        </p:txBody>
      </p:sp>
      <p:sp>
        <p:nvSpPr>
          <p:cNvPr id="8" name="">
            <a:extLst xmlns:a="http://schemas.openxmlformats.org/drawingml/2006/main">
              <a:ext uri="{FF2B5EF4-FFF2-40B4-BE49-F238E27FC236}">
                <a16:creationId xmlns:a16="http://schemas.microsoft.com/office/drawing/2014/main" id="{5E471606-6280-4DE5-9F06-4B19A8B9A717}"/>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09</a:t>
            </a:r>
          </a:p>
        </p:txBody>
      </p:sp>
      <p:sp>
        <p:nvSpPr>
          <p:cNvPr id="9" name="">
            <a:extLst xmlns:a="http://schemas.openxmlformats.org/drawingml/2006/main">
              <a:ext uri="{FF2B5EF4-FFF2-40B4-BE49-F238E27FC236}">
                <a16:creationId xmlns:a16="http://schemas.microsoft.com/office/drawing/2014/main" id="{8D9D077C-2224-4199-8246-97819EEB8A9B}"/>
              </a:ext>
            </a:extLst>
          </p:cNvPr>
          <p:cNvSpPr>
            <a:spLocks xmlns:a="http://schemas.openxmlformats.org/drawingml/2006/main" noGrp="1"/>
          </p:cNvSpPr>
          <p:nvPr/>
        </p:nvSpPr>
        <p:spPr>
          <a:xfrm xmlns:a="http://schemas.openxmlformats.org/drawingml/2006/main">
            <a:off x="533400" y="2438400"/>
            <a:ext cx="111252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1288961-D679-460B-845A-F88A5A057FF3}"/>
              </a:ext>
            </a:extLst>
          </p:cNvPr>
          <p:cNvSpPr>
            <a:spLocks xmlns:a="http://schemas.openxmlformats.org/drawingml/2006/main" noGrp="1"/>
          </p:cNvSpPr>
          <p:nvPr/>
        </p:nvSpPr>
        <p:spPr>
          <a:xfrm xmlns:a="http://schemas.openxmlformats.org/drawingml/2006/main">
            <a:off x="704850" y="2590800"/>
            <a:ext cx="212407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425" b="1">
                <a:solidFill>
                  <a:srgbClr val="187257"/>
                </a:solidFill>
              </a:rPr>
              <a:t>Data + features</a:t>
            </a:r>
          </a:p>
        </p:txBody>
      </p:sp>
      <p:sp>
        <p:nvSpPr>
          <p:cNvPr id="11" name="">
            <a:extLst xmlns:a="http://schemas.openxmlformats.org/drawingml/2006/main">
              <a:ext uri="{FF2B5EF4-FFF2-40B4-BE49-F238E27FC236}">
                <a16:creationId xmlns:a16="http://schemas.microsoft.com/office/drawing/2014/main" id="{874241A6-B983-4ACA-BF4F-4DDC2756D767}"/>
              </a:ext>
            </a:extLst>
          </p:cNvPr>
          <p:cNvSpPr>
            <a:spLocks xmlns:a="http://schemas.openxmlformats.org/drawingml/2006/main" noGrp="1"/>
          </p:cNvSpPr>
          <p:nvPr/>
        </p:nvSpPr>
        <p:spPr>
          <a:xfrm xmlns:a="http://schemas.openxmlformats.org/drawingml/2006/main">
            <a:off x="2914650" y="2590800"/>
            <a:ext cx="427672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425" b="1">
                <a:solidFill>
                  <a:srgbClr val="153C32"/>
                </a:solidFill>
              </a:rPr>
              <a:t>Python · NumPy · pandas</a:t>
            </a:r>
          </a:p>
        </p:txBody>
      </p:sp>
      <p:sp>
        <p:nvSpPr>
          <p:cNvPr id="12" name="">
            <a:extLst xmlns:a="http://schemas.openxmlformats.org/drawingml/2006/main">
              <a:ext uri="{FF2B5EF4-FFF2-40B4-BE49-F238E27FC236}">
                <a16:creationId xmlns:a16="http://schemas.microsoft.com/office/drawing/2014/main" id="{0A444B85-FCF0-4F2A-BF3E-D2CD5455F37E}"/>
              </a:ext>
            </a:extLst>
          </p:cNvPr>
          <p:cNvSpPr>
            <a:spLocks xmlns:a="http://schemas.openxmlformats.org/drawingml/2006/main" noGrp="1"/>
          </p:cNvSpPr>
          <p:nvPr/>
        </p:nvSpPr>
        <p:spPr>
          <a:xfrm xmlns:a="http://schemas.openxmlformats.org/drawingml/2006/main">
            <a:off x="7334250" y="2590800"/>
            <a:ext cx="4152900" cy="33337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350" b="0">
                <a:solidFill>
                  <a:srgbClr val="61766A"/>
                </a:solidFill>
              </a:rPr>
              <a:t>Generate, validate and transform</a:t>
            </a:r>
          </a:p>
        </p:txBody>
      </p:sp>
      <p:sp>
        <p:nvSpPr>
          <p:cNvPr id="13" name="">
            <a:extLst xmlns:a="http://schemas.openxmlformats.org/drawingml/2006/main">
              <a:ext uri="{FF2B5EF4-FFF2-40B4-BE49-F238E27FC236}">
                <a16:creationId xmlns:a16="http://schemas.microsoft.com/office/drawing/2014/main" id="{A298CFBF-1953-4806-91FE-9C3C2F3F33DB}"/>
              </a:ext>
            </a:extLst>
          </p:cNvPr>
          <p:cNvSpPr>
            <a:spLocks xmlns:a="http://schemas.openxmlformats.org/drawingml/2006/main" noGrp="1"/>
          </p:cNvSpPr>
          <p:nvPr/>
        </p:nvSpPr>
        <p:spPr>
          <a:xfrm xmlns:a="http://schemas.openxmlformats.org/drawingml/2006/main">
            <a:off x="533400" y="3048000"/>
            <a:ext cx="11125200" cy="571500"/>
          </a:xfrm>
          <a:prstGeom xmlns:a="http://schemas.openxmlformats.org/drawingml/2006/main" prst="rect">
            <a:avLst/>
          </a:prstGeom>
          <a:solidFill xmlns:a="http://schemas.openxmlformats.org/drawingml/2006/main">
            <a:srgbClr val="DDEBDD"/>
          </a:solidFill>
          <a:ln xmlns:a="http://schemas.openxmlformats.org/drawingml/2006/main" w="9525">
            <a:solidFill>
              <a:srgbClr val="DDEBDD"/>
            </a:solidFill>
            <a:prstDash val="solid"/>
          </a:ln>
        </p:spPr>
      </p:sp>
      <p:sp>
        <p:nvSpPr>
          <p:cNvPr id="14" name="">
            <a:extLst xmlns:a="http://schemas.openxmlformats.org/drawingml/2006/main">
              <a:ext uri="{FF2B5EF4-FFF2-40B4-BE49-F238E27FC236}">
                <a16:creationId xmlns:a16="http://schemas.microsoft.com/office/drawing/2014/main" id="{881D4F5D-7862-45D8-898E-E309BF218650}"/>
              </a:ext>
            </a:extLst>
          </p:cNvPr>
          <p:cNvSpPr>
            <a:spLocks xmlns:a="http://schemas.openxmlformats.org/drawingml/2006/main" noGrp="1"/>
          </p:cNvSpPr>
          <p:nvPr/>
        </p:nvSpPr>
        <p:spPr>
          <a:xfrm xmlns:a="http://schemas.openxmlformats.org/drawingml/2006/main">
            <a:off x="704850" y="3200400"/>
            <a:ext cx="212407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425" b="1">
                <a:solidFill>
                  <a:srgbClr val="187257"/>
                </a:solidFill>
              </a:rPr>
              <a:t>Models</a:t>
            </a:r>
          </a:p>
        </p:txBody>
      </p:sp>
      <p:sp>
        <p:nvSpPr>
          <p:cNvPr id="15" name="">
            <a:extLst xmlns:a="http://schemas.openxmlformats.org/drawingml/2006/main">
              <a:ext uri="{FF2B5EF4-FFF2-40B4-BE49-F238E27FC236}">
                <a16:creationId xmlns:a16="http://schemas.microsoft.com/office/drawing/2014/main" id="{2FDF30B8-577C-41B6-9A0E-D30CD7939C90}"/>
              </a:ext>
            </a:extLst>
          </p:cNvPr>
          <p:cNvSpPr>
            <a:spLocks xmlns:a="http://schemas.openxmlformats.org/drawingml/2006/main" noGrp="1"/>
          </p:cNvSpPr>
          <p:nvPr/>
        </p:nvSpPr>
        <p:spPr>
          <a:xfrm xmlns:a="http://schemas.openxmlformats.org/drawingml/2006/main">
            <a:off x="2914650" y="3200400"/>
            <a:ext cx="427672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425" b="1">
                <a:solidFill>
                  <a:srgbClr val="153C32"/>
                </a:solidFill>
              </a:rPr>
              <a:t>scikit-learn</a:t>
            </a:r>
          </a:p>
        </p:txBody>
      </p:sp>
      <p:sp>
        <p:nvSpPr>
          <p:cNvPr id="16" name="">
            <a:extLst xmlns:a="http://schemas.openxmlformats.org/drawingml/2006/main">
              <a:ext uri="{FF2B5EF4-FFF2-40B4-BE49-F238E27FC236}">
                <a16:creationId xmlns:a16="http://schemas.microsoft.com/office/drawing/2014/main" id="{A8423D30-8710-4611-9477-7C8ADE07321E}"/>
              </a:ext>
            </a:extLst>
          </p:cNvPr>
          <p:cNvSpPr>
            <a:spLocks xmlns:a="http://schemas.openxmlformats.org/drawingml/2006/main" noGrp="1"/>
          </p:cNvSpPr>
          <p:nvPr/>
        </p:nvSpPr>
        <p:spPr>
          <a:xfrm xmlns:a="http://schemas.openxmlformats.org/drawingml/2006/main">
            <a:off x="7334250" y="3200400"/>
            <a:ext cx="4152900" cy="33337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350" b="0">
                <a:solidFill>
                  <a:srgbClr val="61766A"/>
                </a:solidFill>
              </a:rPr>
              <a:t>Logistic regression · HGB · Isolation Forest</a:t>
            </a:r>
          </a:p>
        </p:txBody>
      </p:sp>
      <p:sp>
        <p:nvSpPr>
          <p:cNvPr id="17" name="">
            <a:extLst xmlns:a="http://schemas.openxmlformats.org/drawingml/2006/main">
              <a:ext uri="{FF2B5EF4-FFF2-40B4-BE49-F238E27FC236}">
                <a16:creationId xmlns:a16="http://schemas.microsoft.com/office/drawing/2014/main" id="{73394D7A-54D0-4BB0-A652-5BFFDEFFDAAB}"/>
              </a:ext>
            </a:extLst>
          </p:cNvPr>
          <p:cNvSpPr>
            <a:spLocks xmlns:a="http://schemas.openxmlformats.org/drawingml/2006/main" noGrp="1"/>
          </p:cNvSpPr>
          <p:nvPr/>
        </p:nvSpPr>
        <p:spPr>
          <a:xfrm xmlns:a="http://schemas.openxmlformats.org/drawingml/2006/main">
            <a:off x="533400" y="3657600"/>
            <a:ext cx="111252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BF6C6BBA-5422-4D15-928C-51B61BE0CEC3}"/>
              </a:ext>
            </a:extLst>
          </p:cNvPr>
          <p:cNvSpPr>
            <a:spLocks xmlns:a="http://schemas.openxmlformats.org/drawingml/2006/main" noGrp="1"/>
          </p:cNvSpPr>
          <p:nvPr/>
        </p:nvSpPr>
        <p:spPr>
          <a:xfrm xmlns:a="http://schemas.openxmlformats.org/drawingml/2006/main">
            <a:off x="704850" y="3810000"/>
            <a:ext cx="212407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425" b="1">
                <a:solidFill>
                  <a:srgbClr val="187257"/>
                </a:solidFill>
              </a:rPr>
              <a:t>API + execution</a:t>
            </a:r>
          </a:p>
        </p:txBody>
      </p:sp>
      <p:sp>
        <p:nvSpPr>
          <p:cNvPr id="19" name="">
            <a:extLst xmlns:a="http://schemas.openxmlformats.org/drawingml/2006/main">
              <a:ext uri="{FF2B5EF4-FFF2-40B4-BE49-F238E27FC236}">
                <a16:creationId xmlns:a16="http://schemas.microsoft.com/office/drawing/2014/main" id="{107C1FB3-2FB6-4056-AACF-9BC6DB489C84}"/>
              </a:ext>
            </a:extLst>
          </p:cNvPr>
          <p:cNvSpPr>
            <a:spLocks xmlns:a="http://schemas.openxmlformats.org/drawingml/2006/main" noGrp="1"/>
          </p:cNvSpPr>
          <p:nvPr/>
        </p:nvSpPr>
        <p:spPr>
          <a:xfrm xmlns:a="http://schemas.openxmlformats.org/drawingml/2006/main">
            <a:off x="2914650" y="3810000"/>
            <a:ext cx="427672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425" b="1">
                <a:solidFill>
                  <a:srgbClr val="153C32"/>
                </a:solidFill>
              </a:rPr>
              <a:t>FastAPI · one worker</a:t>
            </a:r>
          </a:p>
        </p:txBody>
      </p:sp>
      <p:sp>
        <p:nvSpPr>
          <p:cNvPr id="20" name="">
            <a:extLst xmlns:a="http://schemas.openxmlformats.org/drawingml/2006/main">
              <a:ext uri="{FF2B5EF4-FFF2-40B4-BE49-F238E27FC236}">
                <a16:creationId xmlns:a16="http://schemas.microsoft.com/office/drawing/2014/main" id="{D82CEBB8-24F9-49CA-A2EC-E24B91C984CE}"/>
              </a:ext>
            </a:extLst>
          </p:cNvPr>
          <p:cNvSpPr>
            <a:spLocks xmlns:a="http://schemas.openxmlformats.org/drawingml/2006/main" noGrp="1"/>
          </p:cNvSpPr>
          <p:nvPr/>
        </p:nvSpPr>
        <p:spPr>
          <a:xfrm xmlns:a="http://schemas.openxmlformats.org/drawingml/2006/main">
            <a:off x="7334250" y="3810000"/>
            <a:ext cx="4152900" cy="33337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350" b="0">
                <a:solidFill>
                  <a:srgbClr val="61766A"/>
                </a:solidFill>
              </a:rPr>
              <a:t>Typed contracts and durable run lifecycle</a:t>
            </a:r>
          </a:p>
        </p:txBody>
      </p:sp>
      <p:sp>
        <p:nvSpPr>
          <p:cNvPr id="21" name="">
            <a:extLst xmlns:a="http://schemas.openxmlformats.org/drawingml/2006/main">
              <a:ext uri="{FF2B5EF4-FFF2-40B4-BE49-F238E27FC236}">
                <a16:creationId xmlns:a16="http://schemas.microsoft.com/office/drawing/2014/main" id="{3BD69B12-789E-46FC-A372-4C9D82D1F980}"/>
              </a:ext>
            </a:extLst>
          </p:cNvPr>
          <p:cNvSpPr>
            <a:spLocks xmlns:a="http://schemas.openxmlformats.org/drawingml/2006/main" noGrp="1"/>
          </p:cNvSpPr>
          <p:nvPr/>
        </p:nvSpPr>
        <p:spPr>
          <a:xfrm xmlns:a="http://schemas.openxmlformats.org/drawingml/2006/main">
            <a:off x="533400" y="4267200"/>
            <a:ext cx="11125200" cy="571500"/>
          </a:xfrm>
          <a:prstGeom xmlns:a="http://schemas.openxmlformats.org/drawingml/2006/main" prst="rect">
            <a:avLst/>
          </a:prstGeom>
          <a:solidFill xmlns:a="http://schemas.openxmlformats.org/drawingml/2006/main">
            <a:srgbClr val="DDEBDD"/>
          </a:solidFill>
          <a:ln xmlns:a="http://schemas.openxmlformats.org/drawingml/2006/main" w="9525">
            <a:solidFill>
              <a:srgbClr val="DDEBDD"/>
            </a:solidFill>
            <a:prstDash val="solid"/>
          </a:ln>
        </p:spPr>
      </p:sp>
      <p:sp>
        <p:nvSpPr>
          <p:cNvPr id="22" name="">
            <a:extLst xmlns:a="http://schemas.openxmlformats.org/drawingml/2006/main">
              <a:ext uri="{FF2B5EF4-FFF2-40B4-BE49-F238E27FC236}">
                <a16:creationId xmlns:a16="http://schemas.microsoft.com/office/drawing/2014/main" id="{E711444B-883E-4547-8819-35A126BBF82B}"/>
              </a:ext>
            </a:extLst>
          </p:cNvPr>
          <p:cNvSpPr>
            <a:spLocks xmlns:a="http://schemas.openxmlformats.org/drawingml/2006/main" noGrp="1"/>
          </p:cNvSpPr>
          <p:nvPr/>
        </p:nvSpPr>
        <p:spPr>
          <a:xfrm xmlns:a="http://schemas.openxmlformats.org/drawingml/2006/main">
            <a:off x="704850" y="4419600"/>
            <a:ext cx="212407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425" b="1">
                <a:solidFill>
                  <a:srgbClr val="187257"/>
                </a:solidFill>
              </a:rPr>
              <a:t>Analyst UI</a:t>
            </a:r>
          </a:p>
        </p:txBody>
      </p:sp>
      <p:sp>
        <p:nvSpPr>
          <p:cNvPr id="23" name="">
            <a:extLst xmlns:a="http://schemas.openxmlformats.org/drawingml/2006/main">
              <a:ext uri="{FF2B5EF4-FFF2-40B4-BE49-F238E27FC236}">
                <a16:creationId xmlns:a16="http://schemas.microsoft.com/office/drawing/2014/main" id="{C1E40BEB-1268-41DA-9BD6-F5E0C8C2556C}"/>
              </a:ext>
            </a:extLst>
          </p:cNvPr>
          <p:cNvSpPr>
            <a:spLocks xmlns:a="http://schemas.openxmlformats.org/drawingml/2006/main" noGrp="1"/>
          </p:cNvSpPr>
          <p:nvPr/>
        </p:nvSpPr>
        <p:spPr>
          <a:xfrm xmlns:a="http://schemas.openxmlformats.org/drawingml/2006/main">
            <a:off x="2914650" y="4419600"/>
            <a:ext cx="427672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425" b="1">
                <a:solidFill>
                  <a:srgbClr val="153C32"/>
                </a:solidFill>
              </a:rPr>
              <a:t>React · Vite</a:t>
            </a:r>
          </a:p>
        </p:txBody>
      </p:sp>
      <p:sp>
        <p:nvSpPr>
          <p:cNvPr id="24" name="">
            <a:extLst xmlns:a="http://schemas.openxmlformats.org/drawingml/2006/main">
              <a:ext uri="{FF2B5EF4-FFF2-40B4-BE49-F238E27FC236}">
                <a16:creationId xmlns:a16="http://schemas.microsoft.com/office/drawing/2014/main" id="{3BBFC8FB-990F-4CE2-BA2F-821FC3213D2C}"/>
              </a:ext>
            </a:extLst>
          </p:cNvPr>
          <p:cNvSpPr>
            <a:spLocks xmlns:a="http://schemas.openxmlformats.org/drawingml/2006/main" noGrp="1"/>
          </p:cNvSpPr>
          <p:nvPr/>
        </p:nvSpPr>
        <p:spPr>
          <a:xfrm xmlns:a="http://schemas.openxmlformats.org/drawingml/2006/main">
            <a:off x="7334250" y="4419600"/>
            <a:ext cx="4152900" cy="33337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350" b="0">
                <a:solidFill>
                  <a:srgbClr val="61766A"/>
                </a:solidFill>
              </a:rPr>
              <a:t>Customer, product and evidence views</a:t>
            </a:r>
          </a:p>
        </p:txBody>
      </p:sp>
      <p:sp>
        <p:nvSpPr>
          <p:cNvPr id="25" name="">
            <a:extLst xmlns:a="http://schemas.openxmlformats.org/drawingml/2006/main">
              <a:ext uri="{FF2B5EF4-FFF2-40B4-BE49-F238E27FC236}">
                <a16:creationId xmlns:a16="http://schemas.microsoft.com/office/drawing/2014/main" id="{0BD94D5C-CE41-4BEA-8C22-F9F4ABC0B781}"/>
              </a:ext>
            </a:extLst>
          </p:cNvPr>
          <p:cNvSpPr>
            <a:spLocks xmlns:a="http://schemas.openxmlformats.org/drawingml/2006/main" noGrp="1"/>
          </p:cNvSpPr>
          <p:nvPr/>
        </p:nvSpPr>
        <p:spPr>
          <a:xfrm xmlns:a="http://schemas.openxmlformats.org/drawingml/2006/main">
            <a:off x="533400" y="4876800"/>
            <a:ext cx="111252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02214C0F-91FC-4997-9535-BB7ABD2F1245}"/>
              </a:ext>
            </a:extLst>
          </p:cNvPr>
          <p:cNvSpPr>
            <a:spLocks xmlns:a="http://schemas.openxmlformats.org/drawingml/2006/main" noGrp="1"/>
          </p:cNvSpPr>
          <p:nvPr/>
        </p:nvSpPr>
        <p:spPr>
          <a:xfrm xmlns:a="http://schemas.openxmlformats.org/drawingml/2006/main">
            <a:off x="704850" y="5029200"/>
            <a:ext cx="212407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425" b="1">
                <a:solidFill>
                  <a:srgbClr val="187257"/>
                </a:solidFill>
              </a:rPr>
              <a:t>Persistence</a:t>
            </a:r>
          </a:p>
        </p:txBody>
      </p:sp>
      <p:sp>
        <p:nvSpPr>
          <p:cNvPr id="27" name="">
            <a:extLst xmlns:a="http://schemas.openxmlformats.org/drawingml/2006/main">
              <a:ext uri="{FF2B5EF4-FFF2-40B4-BE49-F238E27FC236}">
                <a16:creationId xmlns:a16="http://schemas.microsoft.com/office/drawing/2014/main" id="{7BB941D0-F57B-4A16-B05A-433BE9258A58}"/>
              </a:ext>
            </a:extLst>
          </p:cNvPr>
          <p:cNvSpPr>
            <a:spLocks xmlns:a="http://schemas.openxmlformats.org/drawingml/2006/main" noGrp="1"/>
          </p:cNvSpPr>
          <p:nvPr/>
        </p:nvSpPr>
        <p:spPr>
          <a:xfrm xmlns:a="http://schemas.openxmlformats.org/drawingml/2006/main">
            <a:off x="2914650" y="5029200"/>
            <a:ext cx="4276725"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425" b="1">
                <a:solidFill>
                  <a:srgbClr val="153C32"/>
                </a:solidFill>
              </a:rPr>
              <a:t>PostgreSQL · Parquet · JSON · skops</a:t>
            </a:r>
          </a:p>
        </p:txBody>
      </p:sp>
      <p:sp>
        <p:nvSpPr>
          <p:cNvPr id="28" name="">
            <a:extLst xmlns:a="http://schemas.openxmlformats.org/drawingml/2006/main">
              <a:ext uri="{FF2B5EF4-FFF2-40B4-BE49-F238E27FC236}">
                <a16:creationId xmlns:a16="http://schemas.microsoft.com/office/drawing/2014/main" id="{5191D2C4-D8B0-4B75-9048-A6D2463BD927}"/>
              </a:ext>
            </a:extLst>
          </p:cNvPr>
          <p:cNvSpPr>
            <a:spLocks xmlns:a="http://schemas.openxmlformats.org/drawingml/2006/main" noGrp="1"/>
          </p:cNvSpPr>
          <p:nvPr/>
        </p:nvSpPr>
        <p:spPr>
          <a:xfrm xmlns:a="http://schemas.openxmlformats.org/drawingml/2006/main">
            <a:off x="7334250" y="5029200"/>
            <a:ext cx="4152900" cy="33337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350" b="0">
                <a:solidFill>
                  <a:srgbClr val="61766A"/>
                </a:solidFill>
              </a:rPr>
              <a:t>Metadata, immutable results and model bundle</a:t>
            </a:r>
          </a:p>
        </p:txBody>
      </p:sp>
      <p:sp>
        <p:nvSpPr>
          <p:cNvPr id="29" name="">
            <a:extLst xmlns:a="http://schemas.openxmlformats.org/drawingml/2006/main">
              <a:ext uri="{FF2B5EF4-FFF2-40B4-BE49-F238E27FC236}">
                <a16:creationId xmlns:a16="http://schemas.microsoft.com/office/drawing/2014/main" id="{D7A73E0E-5C0B-4867-A016-B1099A3F773E}"/>
              </a:ext>
            </a:extLst>
          </p:cNvPr>
          <p:cNvSpPr>
            <a:spLocks xmlns:a="http://schemas.openxmlformats.org/drawingml/2006/main" noGrp="1"/>
          </p:cNvSpPr>
          <p:nvPr/>
        </p:nvSpPr>
        <p:spPr>
          <a:xfrm xmlns:a="http://schemas.openxmlformats.org/drawingml/2006/main">
            <a:off x="533400" y="5762625"/>
            <a:ext cx="11125200" cy="3810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AI development assistance: Codex / Claude for specifications and coding. No runtime LLM dependency.</a:t>
            </a:r>
          </a:p>
        </p:txBody>
      </p:sp>
    </p:spTree>
    <p:extLst>
      <p:ext uri="{BB962C8B-B14F-4D97-AF65-F5344CB8AC3E}">
        <p14:creationId xmlns:p14="http://schemas.microsoft.com/office/powerpoint/2010/main" val="1098392946"/>
      </p:ext>
    </p:extLst>
  </p:cSld>
</p:sld>
</file>

<file path=ppt/slides/slide10.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186928B-6631-4826-A650-ADF21BBC5295}"/>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187257"/>
                </a:solidFill>
              </a:rPr>
              <a:t>ARAI  /  XHACK 2026</a:t>
            </a:r>
          </a:p>
        </p:txBody>
      </p:sp>
      <p:sp>
        <p:nvSpPr>
          <p:cNvPr id="3" name="">
            <a:extLst xmlns:a="http://schemas.openxmlformats.org/drawingml/2006/main">
              <a:ext uri="{FF2B5EF4-FFF2-40B4-BE49-F238E27FC236}">
                <a16:creationId xmlns:a16="http://schemas.microsoft.com/office/drawing/2014/main" id="{E3943223-C336-4D63-BD17-9AB0F1368332}"/>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61766A"/>
                </a:solidFill>
              </a:rPr>
              <a:t>IMPLEMENTATION PLAN</a:t>
            </a:r>
          </a:p>
        </p:txBody>
      </p:sp>
      <p:sp>
        <p:nvSpPr>
          <p:cNvPr id="4" name="">
            <a:extLst xmlns:a="http://schemas.openxmlformats.org/drawingml/2006/main">
              <a:ext uri="{FF2B5EF4-FFF2-40B4-BE49-F238E27FC236}">
                <a16:creationId xmlns:a16="http://schemas.microsoft.com/office/drawing/2014/main" id="{F2F812E0-2EE2-4ED8-BCE6-ED49BD7D27B6}"/>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153C32"/>
                </a:solidFill>
              </a:rPr>
              <a:t>Deliver the end-to-end path before polishing.</a:t>
            </a:r>
          </a:p>
        </p:txBody>
      </p:sp>
      <p:sp>
        <p:nvSpPr>
          <p:cNvPr id="5" name="">
            <a:extLst xmlns:a="http://schemas.openxmlformats.org/drawingml/2006/main">
              <a:ext uri="{FF2B5EF4-FFF2-40B4-BE49-F238E27FC236}">
                <a16:creationId xmlns:a16="http://schemas.microsoft.com/office/drawing/2014/main" id="{DC3857BC-1B7B-45E2-B903-918923B937A5}"/>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61766A"/>
                </a:solidFill>
              </a:rPr>
              <a:t>Proposed schedule for a three-person team • owners to be assigned at the design review</a:t>
            </a:r>
          </a:p>
        </p:txBody>
      </p:sp>
      <p:sp>
        <p:nvSpPr>
          <p:cNvPr id="6" name="">
            <a:extLst xmlns:a="http://schemas.openxmlformats.org/drawingml/2006/main">
              <a:ext uri="{FF2B5EF4-FFF2-40B4-BE49-F238E27FC236}">
                <a16:creationId xmlns:a16="http://schemas.microsoft.com/office/drawing/2014/main" id="{080B1F23-8D1D-447B-998A-8B46088B3882}"/>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3DED1"/>
          </a:solidFill>
          <a:ln xmlns:a="http://schemas.openxmlformats.org/drawingml/2006/main" w="9525">
            <a:solidFill>
              <a:srgbClr val="D3DED1"/>
            </a:solidFill>
            <a:prstDash val="solid"/>
          </a:ln>
        </p:spPr>
      </p:sp>
      <p:sp>
        <p:nvSpPr>
          <p:cNvPr id="7" name="">
            <a:extLst xmlns:a="http://schemas.openxmlformats.org/drawingml/2006/main">
              <a:ext uri="{FF2B5EF4-FFF2-40B4-BE49-F238E27FC236}">
                <a16:creationId xmlns:a16="http://schemas.microsoft.com/office/drawing/2014/main" id="{F4B43DFF-749F-448C-BD27-22BA2C88C3F8}"/>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61766A"/>
                </a:solidFill>
              </a:rPr>
              <a:t>DESIGN PRESENTATION  •  28 SEPTEMBER 2026</a:t>
            </a:r>
          </a:p>
        </p:txBody>
      </p:sp>
      <p:sp>
        <p:nvSpPr>
          <p:cNvPr id="8" name="">
            <a:extLst xmlns:a="http://schemas.openxmlformats.org/drawingml/2006/main">
              <a:ext uri="{FF2B5EF4-FFF2-40B4-BE49-F238E27FC236}">
                <a16:creationId xmlns:a16="http://schemas.microsoft.com/office/drawing/2014/main" id="{602E8707-6281-45C9-B9C1-789AF86A9CCF}"/>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10</a:t>
            </a:r>
          </a:p>
        </p:txBody>
      </p:sp>
      <p:sp>
        <p:nvSpPr>
          <p:cNvPr id="9" name="">
            <a:extLst xmlns:a="http://schemas.openxmlformats.org/drawingml/2006/main">
              <a:ext uri="{FF2B5EF4-FFF2-40B4-BE49-F238E27FC236}">
                <a16:creationId xmlns:a16="http://schemas.microsoft.com/office/drawing/2014/main" id="{CCA5CE46-52FC-45D3-AB3F-8B744076E13E}"/>
              </a:ext>
            </a:extLst>
          </p:cNvPr>
          <p:cNvSpPr>
            <a:spLocks xmlns:a="http://schemas.openxmlformats.org/drawingml/2006/main" noGrp="1"/>
          </p:cNvSpPr>
          <p:nvPr/>
        </p:nvSpPr>
        <p:spPr>
          <a:xfrm xmlns:a="http://schemas.openxmlformats.org/drawingml/2006/main">
            <a:off x="533400" y="2562225"/>
            <a:ext cx="2095500" cy="2381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3DED1"/>
            </a:solidFill>
            <a:prstDash val="solid"/>
          </a:ln>
        </p:spPr>
      </p:sp>
      <p:sp>
        <p:nvSpPr>
          <p:cNvPr id="10" name="">
            <a:extLst xmlns:a="http://schemas.openxmlformats.org/drawingml/2006/main">
              <a:ext uri="{FF2B5EF4-FFF2-40B4-BE49-F238E27FC236}">
                <a16:creationId xmlns:a16="http://schemas.microsoft.com/office/drawing/2014/main" id="{8C464262-B6FA-46B6-8E24-D4FB7D4FD211}"/>
              </a:ext>
            </a:extLst>
          </p:cNvPr>
          <p:cNvSpPr>
            <a:spLocks xmlns:a="http://schemas.openxmlformats.org/drawingml/2006/main" noGrp="1"/>
          </p:cNvSpPr>
          <p:nvPr/>
        </p:nvSpPr>
        <p:spPr>
          <a:xfrm xmlns:a="http://schemas.openxmlformats.org/drawingml/2006/main">
            <a:off x="685800" y="2733675"/>
            <a:ext cx="1790700" cy="3524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28 SEP–2 OCT</a:t>
            </a:r>
          </a:p>
        </p:txBody>
      </p:sp>
      <p:sp>
        <p:nvSpPr>
          <p:cNvPr id="11" name="">
            <a:extLst xmlns:a="http://schemas.openxmlformats.org/drawingml/2006/main">
              <a:ext uri="{FF2B5EF4-FFF2-40B4-BE49-F238E27FC236}">
                <a16:creationId xmlns:a16="http://schemas.microsoft.com/office/drawing/2014/main" id="{5BA829E0-B78E-44E2-AA49-8BB61752B59A}"/>
              </a:ext>
            </a:extLst>
          </p:cNvPr>
          <p:cNvSpPr>
            <a:spLocks xmlns:a="http://schemas.openxmlformats.org/drawingml/2006/main" noGrp="1"/>
          </p:cNvSpPr>
          <p:nvPr/>
        </p:nvSpPr>
        <p:spPr>
          <a:xfrm xmlns:a="http://schemas.openxmlformats.org/drawingml/2006/main">
            <a:off x="685800" y="3209925"/>
            <a:ext cx="1790700" cy="6096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800" b="1">
                <a:solidFill>
                  <a:srgbClr val="153C32"/>
                </a:solidFill>
              </a:rPr>
              <a:t>Bootstrap</a:t>
            </a:r>
          </a:p>
        </p:txBody>
      </p:sp>
      <p:sp>
        <p:nvSpPr>
          <p:cNvPr id="12" name="">
            <a:extLst xmlns:a="http://schemas.openxmlformats.org/drawingml/2006/main">
              <a:ext uri="{FF2B5EF4-FFF2-40B4-BE49-F238E27FC236}">
                <a16:creationId xmlns:a16="http://schemas.microsoft.com/office/drawing/2014/main" id="{C9376A92-FAF5-4186-B405-9CCAC983289D}"/>
              </a:ext>
            </a:extLst>
          </p:cNvPr>
          <p:cNvSpPr>
            <a:spLocks xmlns:a="http://schemas.openxmlformats.org/drawingml/2006/main" noGrp="1"/>
          </p:cNvSpPr>
          <p:nvPr/>
        </p:nvSpPr>
        <p:spPr>
          <a:xfrm xmlns:a="http://schemas.openxmlformats.org/drawingml/2006/main">
            <a:off x="685800" y="3962400"/>
            <a:ext cx="1790700" cy="8382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Environment, contracts, small world</a:t>
            </a:r>
          </a:p>
        </p:txBody>
      </p:sp>
      <p:sp>
        <p:nvSpPr>
          <p:cNvPr id="13" name="">
            <a:extLst xmlns:a="http://schemas.openxmlformats.org/drawingml/2006/main">
              <a:ext uri="{FF2B5EF4-FFF2-40B4-BE49-F238E27FC236}">
                <a16:creationId xmlns:a16="http://schemas.microsoft.com/office/drawing/2014/main" id="{C6BECECA-1562-4188-BCF2-C7C22FBFE737}"/>
              </a:ext>
            </a:extLst>
          </p:cNvPr>
          <p:cNvSpPr>
            <a:spLocks xmlns:a="http://schemas.openxmlformats.org/drawingml/2006/main" noGrp="1"/>
          </p:cNvSpPr>
          <p:nvPr/>
        </p:nvSpPr>
        <p:spPr>
          <a:xfrm xmlns:a="http://schemas.openxmlformats.org/drawingml/2006/main">
            <a:off x="2790825" y="2562225"/>
            <a:ext cx="2095500" cy="2381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3DED1"/>
            </a:solidFill>
            <a:prstDash val="solid"/>
          </a:ln>
        </p:spPr>
      </p:sp>
      <p:sp>
        <p:nvSpPr>
          <p:cNvPr id="14" name="">
            <a:extLst xmlns:a="http://schemas.openxmlformats.org/drawingml/2006/main">
              <a:ext uri="{FF2B5EF4-FFF2-40B4-BE49-F238E27FC236}">
                <a16:creationId xmlns:a16="http://schemas.microsoft.com/office/drawing/2014/main" id="{CA69F874-06B9-46E9-820A-D1C7529089EF}"/>
              </a:ext>
            </a:extLst>
          </p:cNvPr>
          <p:cNvSpPr>
            <a:spLocks xmlns:a="http://schemas.openxmlformats.org/drawingml/2006/main" noGrp="1"/>
          </p:cNvSpPr>
          <p:nvPr/>
        </p:nvSpPr>
        <p:spPr>
          <a:xfrm xmlns:a="http://schemas.openxmlformats.org/drawingml/2006/main">
            <a:off x="2943225" y="2733675"/>
            <a:ext cx="1790700" cy="3524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5–9 OCT</a:t>
            </a:r>
          </a:p>
        </p:txBody>
      </p:sp>
      <p:sp>
        <p:nvSpPr>
          <p:cNvPr id="15" name="">
            <a:extLst xmlns:a="http://schemas.openxmlformats.org/drawingml/2006/main">
              <a:ext uri="{FF2B5EF4-FFF2-40B4-BE49-F238E27FC236}">
                <a16:creationId xmlns:a16="http://schemas.microsoft.com/office/drawing/2014/main" id="{067D2D74-D1D6-401F-8B42-51366F4431E1}"/>
              </a:ext>
            </a:extLst>
          </p:cNvPr>
          <p:cNvSpPr>
            <a:spLocks xmlns:a="http://schemas.openxmlformats.org/drawingml/2006/main" noGrp="1"/>
          </p:cNvSpPr>
          <p:nvPr/>
        </p:nvSpPr>
        <p:spPr>
          <a:xfrm xmlns:a="http://schemas.openxmlformats.org/drawingml/2006/main">
            <a:off x="2943225" y="3209925"/>
            <a:ext cx="1790700" cy="6096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800" b="1">
                <a:solidFill>
                  <a:srgbClr val="153C32"/>
                </a:solidFill>
              </a:rPr>
              <a:t>Data readiness</a:t>
            </a:r>
          </a:p>
        </p:txBody>
      </p:sp>
      <p:sp>
        <p:nvSpPr>
          <p:cNvPr id="16" name="">
            <a:extLst xmlns:a="http://schemas.openxmlformats.org/drawingml/2006/main">
              <a:ext uri="{FF2B5EF4-FFF2-40B4-BE49-F238E27FC236}">
                <a16:creationId xmlns:a16="http://schemas.microsoft.com/office/drawing/2014/main" id="{08AFAEBC-8C65-40A1-9397-0970BEE69919}"/>
              </a:ext>
            </a:extLst>
          </p:cNvPr>
          <p:cNvSpPr>
            <a:spLocks xmlns:a="http://schemas.openxmlformats.org/drawingml/2006/main" noGrp="1"/>
          </p:cNvSpPr>
          <p:nvPr/>
        </p:nvSpPr>
        <p:spPr>
          <a:xfrm xmlns:a="http://schemas.openxmlformats.org/drawingml/2006/main">
            <a:off x="2943225" y="3962400"/>
            <a:ext cx="1790700" cy="8382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Generator, validation and features</a:t>
            </a:r>
          </a:p>
        </p:txBody>
      </p:sp>
      <p:sp>
        <p:nvSpPr>
          <p:cNvPr id="17" name="">
            <a:extLst xmlns:a="http://schemas.openxmlformats.org/drawingml/2006/main">
              <a:ext uri="{FF2B5EF4-FFF2-40B4-BE49-F238E27FC236}">
                <a16:creationId xmlns:a16="http://schemas.microsoft.com/office/drawing/2014/main" id="{9C712F70-45B4-4880-8CA5-8F632B1C218D}"/>
              </a:ext>
            </a:extLst>
          </p:cNvPr>
          <p:cNvSpPr>
            <a:spLocks xmlns:a="http://schemas.openxmlformats.org/drawingml/2006/main" noGrp="1"/>
          </p:cNvSpPr>
          <p:nvPr/>
        </p:nvSpPr>
        <p:spPr>
          <a:xfrm xmlns:a="http://schemas.openxmlformats.org/drawingml/2006/main">
            <a:off x="5048250" y="2562225"/>
            <a:ext cx="2095500" cy="2381250"/>
          </a:xfrm>
          <a:prstGeom xmlns:a="http://schemas.openxmlformats.org/drawingml/2006/main" prst="roundRect">
            <a:avLst>
              <a:gd name="adj" fmla="val 3636"/>
            </a:avLst>
          </a:prstGeom>
          <a:solidFill xmlns:a="http://schemas.openxmlformats.org/drawingml/2006/main">
            <a:srgbClr val="DDEBDD"/>
          </a:solidFill>
          <a:ln xmlns:a="http://schemas.openxmlformats.org/drawingml/2006/main" w="9525">
            <a:solidFill>
              <a:srgbClr val="D3DED1"/>
            </a:solidFill>
            <a:prstDash val="solid"/>
          </a:ln>
        </p:spPr>
      </p:sp>
      <p:sp>
        <p:nvSpPr>
          <p:cNvPr id="18" name="">
            <a:extLst xmlns:a="http://schemas.openxmlformats.org/drawingml/2006/main">
              <a:ext uri="{FF2B5EF4-FFF2-40B4-BE49-F238E27FC236}">
                <a16:creationId xmlns:a16="http://schemas.microsoft.com/office/drawing/2014/main" id="{B57F744C-0A46-4522-9D46-BFD8A4AE0714}"/>
              </a:ext>
            </a:extLst>
          </p:cNvPr>
          <p:cNvSpPr>
            <a:spLocks xmlns:a="http://schemas.openxmlformats.org/drawingml/2006/main" noGrp="1"/>
          </p:cNvSpPr>
          <p:nvPr/>
        </p:nvSpPr>
        <p:spPr>
          <a:xfrm xmlns:a="http://schemas.openxmlformats.org/drawingml/2006/main">
            <a:off x="5200650" y="2733675"/>
            <a:ext cx="1790700" cy="3524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12–16 OCT</a:t>
            </a:r>
          </a:p>
        </p:txBody>
      </p:sp>
      <p:sp>
        <p:nvSpPr>
          <p:cNvPr id="19" name="">
            <a:extLst xmlns:a="http://schemas.openxmlformats.org/drawingml/2006/main">
              <a:ext uri="{FF2B5EF4-FFF2-40B4-BE49-F238E27FC236}">
                <a16:creationId xmlns:a16="http://schemas.microsoft.com/office/drawing/2014/main" id="{9E264A87-ED09-469B-92DC-AB119FC08843}"/>
              </a:ext>
            </a:extLst>
          </p:cNvPr>
          <p:cNvSpPr>
            <a:spLocks xmlns:a="http://schemas.openxmlformats.org/drawingml/2006/main" noGrp="1"/>
          </p:cNvSpPr>
          <p:nvPr/>
        </p:nvSpPr>
        <p:spPr>
          <a:xfrm xmlns:a="http://schemas.openxmlformats.org/drawingml/2006/main">
            <a:off x="5200650" y="3209925"/>
            <a:ext cx="1790700" cy="6096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800" b="1">
                <a:solidFill>
                  <a:srgbClr val="153C32"/>
                </a:solidFill>
              </a:rPr>
              <a:t>Vertical slice</a:t>
            </a:r>
          </a:p>
        </p:txBody>
      </p:sp>
      <p:sp>
        <p:nvSpPr>
          <p:cNvPr id="20" name="">
            <a:extLst xmlns:a="http://schemas.openxmlformats.org/drawingml/2006/main">
              <a:ext uri="{FF2B5EF4-FFF2-40B4-BE49-F238E27FC236}">
                <a16:creationId xmlns:a16="http://schemas.microsoft.com/office/drawing/2014/main" id="{C3B9B9D7-4E39-4C77-99D2-5E727F758C6D}"/>
              </a:ext>
            </a:extLst>
          </p:cNvPr>
          <p:cNvSpPr>
            <a:spLocks xmlns:a="http://schemas.openxmlformats.org/drawingml/2006/main" noGrp="1"/>
          </p:cNvSpPr>
          <p:nvPr/>
        </p:nvSpPr>
        <p:spPr>
          <a:xfrm xmlns:a="http://schemas.openxmlformats.org/drawingml/2006/main">
            <a:off x="5200650" y="3962400"/>
            <a:ext cx="1790700" cy="8382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Baseline → API → analyst UI</a:t>
            </a:r>
          </a:p>
        </p:txBody>
      </p:sp>
      <p:sp>
        <p:nvSpPr>
          <p:cNvPr id="21" name="">
            <a:extLst xmlns:a="http://schemas.openxmlformats.org/drawingml/2006/main">
              <a:ext uri="{FF2B5EF4-FFF2-40B4-BE49-F238E27FC236}">
                <a16:creationId xmlns:a16="http://schemas.microsoft.com/office/drawing/2014/main" id="{482F7EE0-8A1C-49FD-97B9-B4A0A894C543}"/>
              </a:ext>
            </a:extLst>
          </p:cNvPr>
          <p:cNvSpPr>
            <a:spLocks xmlns:a="http://schemas.openxmlformats.org/drawingml/2006/main" noGrp="1"/>
          </p:cNvSpPr>
          <p:nvPr/>
        </p:nvSpPr>
        <p:spPr>
          <a:xfrm xmlns:a="http://schemas.openxmlformats.org/drawingml/2006/main">
            <a:off x="7305675" y="2562225"/>
            <a:ext cx="2095500" cy="2381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3DED1"/>
            </a:solidFill>
            <a:prstDash val="solid"/>
          </a:ln>
        </p:spPr>
      </p:sp>
      <p:sp>
        <p:nvSpPr>
          <p:cNvPr id="22" name="">
            <a:extLst xmlns:a="http://schemas.openxmlformats.org/drawingml/2006/main">
              <a:ext uri="{FF2B5EF4-FFF2-40B4-BE49-F238E27FC236}">
                <a16:creationId xmlns:a16="http://schemas.microsoft.com/office/drawing/2014/main" id="{824249DF-2913-4259-ADEB-5C3C0BF44026}"/>
              </a:ext>
            </a:extLst>
          </p:cNvPr>
          <p:cNvSpPr>
            <a:spLocks xmlns:a="http://schemas.openxmlformats.org/drawingml/2006/main" noGrp="1"/>
          </p:cNvSpPr>
          <p:nvPr/>
        </p:nvSpPr>
        <p:spPr>
          <a:xfrm xmlns:a="http://schemas.openxmlformats.org/drawingml/2006/main">
            <a:off x="7458075" y="2733675"/>
            <a:ext cx="1790700" cy="3524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19–23 OCT</a:t>
            </a:r>
          </a:p>
        </p:txBody>
      </p:sp>
      <p:sp>
        <p:nvSpPr>
          <p:cNvPr id="23" name="">
            <a:extLst xmlns:a="http://schemas.openxmlformats.org/drawingml/2006/main">
              <a:ext uri="{FF2B5EF4-FFF2-40B4-BE49-F238E27FC236}">
                <a16:creationId xmlns:a16="http://schemas.microsoft.com/office/drawing/2014/main" id="{C68BBD69-B120-4CC3-B8B7-965097B0316E}"/>
              </a:ext>
            </a:extLst>
          </p:cNvPr>
          <p:cNvSpPr>
            <a:spLocks xmlns:a="http://schemas.openxmlformats.org/drawingml/2006/main" noGrp="1"/>
          </p:cNvSpPr>
          <p:nvPr/>
        </p:nvSpPr>
        <p:spPr>
          <a:xfrm xmlns:a="http://schemas.openxmlformats.org/drawingml/2006/main">
            <a:off x="7458075" y="3209925"/>
            <a:ext cx="1790700" cy="6096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800" b="1">
                <a:solidFill>
                  <a:srgbClr val="153C32"/>
                </a:solidFill>
              </a:rPr>
              <a:t>Model gate</a:t>
            </a:r>
          </a:p>
        </p:txBody>
      </p:sp>
      <p:sp>
        <p:nvSpPr>
          <p:cNvPr id="24" name="">
            <a:extLst xmlns:a="http://schemas.openxmlformats.org/drawingml/2006/main">
              <a:ext uri="{FF2B5EF4-FFF2-40B4-BE49-F238E27FC236}">
                <a16:creationId xmlns:a16="http://schemas.microsoft.com/office/drawing/2014/main" id="{4118E74E-EA1A-44B3-B505-ED8AE8DF6C17}"/>
              </a:ext>
            </a:extLst>
          </p:cNvPr>
          <p:cNvSpPr>
            <a:spLocks xmlns:a="http://schemas.openxmlformats.org/drawingml/2006/main" noGrp="1"/>
          </p:cNvSpPr>
          <p:nvPr/>
        </p:nvSpPr>
        <p:spPr>
          <a:xfrm xmlns:a="http://schemas.openxmlformats.org/drawingml/2006/main">
            <a:off x="7458075" y="3962400"/>
            <a:ext cx="1790700" cy="8382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Full experiment and held-out test</a:t>
            </a:r>
          </a:p>
        </p:txBody>
      </p:sp>
      <p:sp>
        <p:nvSpPr>
          <p:cNvPr id="25" name="">
            <a:extLst xmlns:a="http://schemas.openxmlformats.org/drawingml/2006/main">
              <a:ext uri="{FF2B5EF4-FFF2-40B4-BE49-F238E27FC236}">
                <a16:creationId xmlns:a16="http://schemas.microsoft.com/office/drawing/2014/main" id="{27A9D16D-34FE-480D-9464-9AF1EE7C57B5}"/>
              </a:ext>
            </a:extLst>
          </p:cNvPr>
          <p:cNvSpPr>
            <a:spLocks xmlns:a="http://schemas.openxmlformats.org/drawingml/2006/main" noGrp="1"/>
          </p:cNvSpPr>
          <p:nvPr/>
        </p:nvSpPr>
        <p:spPr>
          <a:xfrm xmlns:a="http://schemas.openxmlformats.org/drawingml/2006/main">
            <a:off x="9563100" y="2562225"/>
            <a:ext cx="2095500" cy="2381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3DED1"/>
            </a:solidFill>
            <a:prstDash val="solid"/>
          </a:ln>
        </p:spPr>
      </p:sp>
      <p:sp>
        <p:nvSpPr>
          <p:cNvPr id="26" name="">
            <a:extLst xmlns:a="http://schemas.openxmlformats.org/drawingml/2006/main">
              <a:ext uri="{FF2B5EF4-FFF2-40B4-BE49-F238E27FC236}">
                <a16:creationId xmlns:a16="http://schemas.microsoft.com/office/drawing/2014/main" id="{44FD7E90-92AA-4498-BC7C-53BC4D9F72BF}"/>
              </a:ext>
            </a:extLst>
          </p:cNvPr>
          <p:cNvSpPr>
            <a:spLocks xmlns:a="http://schemas.openxmlformats.org/drawingml/2006/main" noGrp="1"/>
          </p:cNvSpPr>
          <p:nvPr/>
        </p:nvSpPr>
        <p:spPr>
          <a:xfrm xmlns:a="http://schemas.openxmlformats.org/drawingml/2006/main">
            <a:off x="9715500" y="2733675"/>
            <a:ext cx="1790700" cy="3524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26–30 OCT</a:t>
            </a:r>
          </a:p>
        </p:txBody>
      </p:sp>
      <p:sp>
        <p:nvSpPr>
          <p:cNvPr id="27" name="">
            <a:extLst xmlns:a="http://schemas.openxmlformats.org/drawingml/2006/main">
              <a:ext uri="{FF2B5EF4-FFF2-40B4-BE49-F238E27FC236}">
                <a16:creationId xmlns:a16="http://schemas.microsoft.com/office/drawing/2014/main" id="{28EF37C9-6E59-41DD-960F-C3F22227E4C9}"/>
              </a:ext>
            </a:extLst>
          </p:cNvPr>
          <p:cNvSpPr>
            <a:spLocks xmlns:a="http://schemas.openxmlformats.org/drawingml/2006/main" noGrp="1"/>
          </p:cNvSpPr>
          <p:nvPr/>
        </p:nvSpPr>
        <p:spPr>
          <a:xfrm xmlns:a="http://schemas.openxmlformats.org/drawingml/2006/main">
            <a:off x="9715500" y="3209925"/>
            <a:ext cx="1790700" cy="6096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800" b="1">
                <a:solidFill>
                  <a:srgbClr val="153C32"/>
                </a:solidFill>
              </a:rPr>
              <a:t>Freeze + rehearse</a:t>
            </a:r>
          </a:p>
        </p:txBody>
      </p:sp>
      <p:sp>
        <p:nvSpPr>
          <p:cNvPr id="28" name="">
            <a:extLst xmlns:a="http://schemas.openxmlformats.org/drawingml/2006/main">
              <a:ext uri="{FF2B5EF4-FFF2-40B4-BE49-F238E27FC236}">
                <a16:creationId xmlns:a16="http://schemas.microsoft.com/office/drawing/2014/main" id="{2AF2194E-CCCA-4F07-AA4D-90FB28825DA9}"/>
              </a:ext>
            </a:extLst>
          </p:cNvPr>
          <p:cNvSpPr>
            <a:spLocks xmlns:a="http://schemas.openxmlformats.org/drawingml/2006/main" noGrp="1"/>
          </p:cNvSpPr>
          <p:nvPr/>
        </p:nvSpPr>
        <p:spPr>
          <a:xfrm xmlns:a="http://schemas.openxmlformats.org/drawingml/2006/main">
            <a:off x="9715500" y="3962400"/>
            <a:ext cx="1790700" cy="8382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Acceptance checks and demo recovery</a:t>
            </a:r>
          </a:p>
        </p:txBody>
      </p:sp>
      <p:sp>
        <p:nvSpPr>
          <p:cNvPr id="29" name="">
            <a:extLst xmlns:a="http://schemas.openxmlformats.org/drawingml/2006/main">
              <a:ext uri="{FF2B5EF4-FFF2-40B4-BE49-F238E27FC236}">
                <a16:creationId xmlns:a16="http://schemas.microsoft.com/office/drawing/2014/main" id="{E865D5BC-C9F3-431D-9A1A-1F6CDD9DB8C1}"/>
              </a:ext>
            </a:extLst>
          </p:cNvPr>
          <p:cNvSpPr>
            <a:spLocks xmlns:a="http://schemas.openxmlformats.org/drawingml/2006/main" noGrp="1"/>
          </p:cNvSpPr>
          <p:nvPr/>
        </p:nvSpPr>
        <p:spPr>
          <a:xfrm xmlns:a="http://schemas.openxmlformats.org/drawingml/2006/main">
            <a:off x="533400" y="5286375"/>
            <a:ext cx="11125200" cy="847725"/>
          </a:xfrm>
          <a:prstGeom xmlns:a="http://schemas.openxmlformats.org/drawingml/2006/main" prst="roundRect">
            <a:avLst>
              <a:gd name="adj" fmla="val 8989"/>
            </a:avLst>
          </a:prstGeom>
          <a:solidFill xmlns:a="http://schemas.openxmlformats.org/drawingml/2006/main">
            <a:srgbClr val="DDEBDD"/>
          </a:solidFill>
          <a:ln xmlns:a="http://schemas.openxmlformats.org/drawingml/2006/main" w="9525">
            <a:solidFill>
              <a:srgbClr val="DDEBDD"/>
            </a:solidFill>
            <a:prstDash val="solid"/>
          </a:ln>
        </p:spPr>
      </p:sp>
      <p:sp>
        <p:nvSpPr>
          <p:cNvPr id="30" name="">
            <a:extLst xmlns:a="http://schemas.openxmlformats.org/drawingml/2006/main">
              <a:ext uri="{FF2B5EF4-FFF2-40B4-BE49-F238E27FC236}">
                <a16:creationId xmlns:a16="http://schemas.microsoft.com/office/drawing/2014/main" id="{9EB0C07A-47E9-4FD0-B1A0-6806011490CB}"/>
              </a:ext>
            </a:extLst>
          </p:cNvPr>
          <p:cNvSpPr>
            <a:spLocks xmlns:a="http://schemas.openxmlformats.org/drawingml/2006/main" noGrp="1"/>
          </p:cNvSpPr>
          <p:nvPr/>
        </p:nvSpPr>
        <p:spPr>
          <a:xfrm xmlns:a="http://schemas.openxmlformats.org/drawingml/2006/main">
            <a:off x="742950" y="5429250"/>
            <a:ext cx="247650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1">
                <a:solidFill>
                  <a:srgbClr val="187257"/>
                </a:solidFill>
              </a:rPr>
              <a:t>Delivery checkpoints</a:t>
            </a:r>
          </a:p>
        </p:txBody>
      </p:sp>
      <p:sp>
        <p:nvSpPr>
          <p:cNvPr id="31" name="">
            <a:extLst xmlns:a="http://schemas.openxmlformats.org/drawingml/2006/main">
              <a:ext uri="{FF2B5EF4-FFF2-40B4-BE49-F238E27FC236}">
                <a16:creationId xmlns:a16="http://schemas.microsoft.com/office/drawing/2014/main" id="{D447F00B-040A-4A94-B9D7-0AABC358E7D3}"/>
              </a:ext>
            </a:extLst>
          </p:cNvPr>
          <p:cNvSpPr>
            <a:spLocks xmlns:a="http://schemas.openxmlformats.org/drawingml/2006/main" noGrp="1"/>
          </p:cNvSpPr>
          <p:nvPr/>
        </p:nvSpPr>
        <p:spPr>
          <a:xfrm xmlns:a="http://schemas.openxmlformats.org/drawingml/2006/main">
            <a:off x="3333750" y="5429250"/>
            <a:ext cx="8096250" cy="571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153C32"/>
                </a:solidFill>
              </a:rPr>
              <a:t>9 Oct: data readiness  •  1–14 Nov: target demo window</a:t>
            </a:r>
          </a:p>
          <a:p xmlns:a="http://schemas.openxmlformats.org/drawingml/2006/main">
            <a:r>
              <a:rPr sz="1575" b="0">
                <a:solidFill>
                  <a:srgbClr val="153C32"/>
                </a:solidFill>
              </a:rPr>
              <a:t>Protect the final week for testing and rehearsal.</a:t>
            </a:r>
          </a:p>
        </p:txBody>
      </p:sp>
    </p:spTree>
    <p:extLst>
      <p:ext uri="{BB962C8B-B14F-4D97-AF65-F5344CB8AC3E}">
        <p14:creationId xmlns:p14="http://schemas.microsoft.com/office/powerpoint/2010/main" val="1621109739"/>
      </p:ext>
    </p:extLst>
  </p:cSld>
</p:sld>
</file>

<file path=ppt/slides/slide11.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6C81B5C-DE68-4CB1-80A5-62721A790A55}"/>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187257"/>
                </a:solidFill>
              </a:rPr>
              <a:t>ARAI  /  XHACK 2026</a:t>
            </a:r>
          </a:p>
        </p:txBody>
      </p:sp>
      <p:sp>
        <p:nvSpPr>
          <p:cNvPr id="3" name="">
            <a:extLst xmlns:a="http://schemas.openxmlformats.org/drawingml/2006/main">
              <a:ext uri="{FF2B5EF4-FFF2-40B4-BE49-F238E27FC236}">
                <a16:creationId xmlns:a16="http://schemas.microsoft.com/office/drawing/2014/main" id="{9F7E6EB9-44A5-484D-98A0-58115E45299B}"/>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61766A"/>
                </a:solidFill>
              </a:rPr>
              <a:t>FEASIBILITY &amp; RISKS</a:t>
            </a:r>
          </a:p>
        </p:txBody>
      </p:sp>
      <p:sp>
        <p:nvSpPr>
          <p:cNvPr id="4" name="">
            <a:extLst xmlns:a="http://schemas.openxmlformats.org/drawingml/2006/main">
              <a:ext uri="{FF2B5EF4-FFF2-40B4-BE49-F238E27FC236}">
                <a16:creationId xmlns:a16="http://schemas.microsoft.com/office/drawing/2014/main" id="{22E86FBD-02D2-4409-B10C-178C901D5E20}"/>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153C32"/>
                </a:solidFill>
              </a:rPr>
              <a:t>Make uncertainty visible and contain its impact.</a:t>
            </a:r>
          </a:p>
        </p:txBody>
      </p:sp>
      <p:sp>
        <p:nvSpPr>
          <p:cNvPr id="5" name="">
            <a:extLst xmlns:a="http://schemas.openxmlformats.org/drawingml/2006/main">
              <a:ext uri="{FF2B5EF4-FFF2-40B4-BE49-F238E27FC236}">
                <a16:creationId xmlns:a16="http://schemas.microsoft.com/office/drawing/2014/main" id="{D426872D-56A0-46C1-A6D8-0DF2CC3D12A1}"/>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61766A"/>
                </a:solidFill>
              </a:rPr>
              <a:t>The design includes a working demonstration path even when ML results are disappointing.</a:t>
            </a:r>
          </a:p>
        </p:txBody>
      </p:sp>
      <p:sp>
        <p:nvSpPr>
          <p:cNvPr id="6" name="">
            <a:extLst xmlns:a="http://schemas.openxmlformats.org/drawingml/2006/main">
              <a:ext uri="{FF2B5EF4-FFF2-40B4-BE49-F238E27FC236}">
                <a16:creationId xmlns:a16="http://schemas.microsoft.com/office/drawing/2014/main" id="{43A7A02A-132A-45E7-8778-6DE977B785A0}"/>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3DED1"/>
          </a:solidFill>
          <a:ln xmlns:a="http://schemas.openxmlformats.org/drawingml/2006/main" w="9525">
            <a:solidFill>
              <a:srgbClr val="D3DED1"/>
            </a:solidFill>
            <a:prstDash val="solid"/>
          </a:ln>
        </p:spPr>
      </p:sp>
      <p:sp>
        <p:nvSpPr>
          <p:cNvPr id="7" name="">
            <a:extLst xmlns:a="http://schemas.openxmlformats.org/drawingml/2006/main">
              <a:ext uri="{FF2B5EF4-FFF2-40B4-BE49-F238E27FC236}">
                <a16:creationId xmlns:a16="http://schemas.microsoft.com/office/drawing/2014/main" id="{25CB9A20-45BB-486C-90C1-209CBAA679B6}"/>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61766A"/>
                </a:solidFill>
              </a:rPr>
              <a:t>DESIGN PRESENTATION  •  28 SEPTEMBER 2026</a:t>
            </a:r>
          </a:p>
        </p:txBody>
      </p:sp>
      <p:sp>
        <p:nvSpPr>
          <p:cNvPr id="8" name="">
            <a:extLst xmlns:a="http://schemas.openxmlformats.org/drawingml/2006/main">
              <a:ext uri="{FF2B5EF4-FFF2-40B4-BE49-F238E27FC236}">
                <a16:creationId xmlns:a16="http://schemas.microsoft.com/office/drawing/2014/main" id="{A420AF53-B6A3-48B9-A8B4-C5610E7BE5AD}"/>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11</a:t>
            </a:r>
          </a:p>
        </p:txBody>
      </p:sp>
      <p:sp>
        <p:nvSpPr>
          <p:cNvPr id="9" name="">
            <a:extLst xmlns:a="http://schemas.openxmlformats.org/drawingml/2006/main">
              <a:ext uri="{FF2B5EF4-FFF2-40B4-BE49-F238E27FC236}">
                <a16:creationId xmlns:a16="http://schemas.microsoft.com/office/drawing/2014/main" id="{7A2A7AD0-5EEC-4E54-B88E-EF1C640EFAD4}"/>
              </a:ext>
            </a:extLst>
          </p:cNvPr>
          <p:cNvSpPr>
            <a:spLocks xmlns:a="http://schemas.openxmlformats.org/drawingml/2006/main" noGrp="1"/>
          </p:cNvSpPr>
          <p:nvPr/>
        </p:nvSpPr>
        <p:spPr>
          <a:xfrm xmlns:a="http://schemas.openxmlformats.org/drawingml/2006/main">
            <a:off x="533400" y="2533650"/>
            <a:ext cx="11125200"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9525">
            <a:solidFill>
              <a:srgbClr val="D3DED1"/>
            </a:solidFill>
            <a:prstDash val="solid"/>
          </a:ln>
        </p:spPr>
      </p:sp>
      <p:sp>
        <p:nvSpPr>
          <p:cNvPr id="10" name="">
            <a:extLst xmlns:a="http://schemas.openxmlformats.org/drawingml/2006/main">
              <a:ext uri="{FF2B5EF4-FFF2-40B4-BE49-F238E27FC236}">
                <a16:creationId xmlns:a16="http://schemas.microsoft.com/office/drawing/2014/main" id="{AD71B5DE-2665-40F5-9889-A187B10DED8F}"/>
              </a:ext>
            </a:extLst>
          </p:cNvPr>
          <p:cNvSpPr>
            <a:spLocks xmlns:a="http://schemas.openxmlformats.org/drawingml/2006/main" noGrp="1"/>
          </p:cNvSpPr>
          <p:nvPr/>
        </p:nvSpPr>
        <p:spPr>
          <a:xfrm xmlns:a="http://schemas.openxmlformats.org/drawingml/2006/main">
            <a:off x="733425" y="2695575"/>
            <a:ext cx="2543175" cy="3619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650" b="1">
                <a:solidFill>
                  <a:srgbClr val="153C32"/>
                </a:solidFill>
              </a:rPr>
              <a:t>Synthetic shortcuts</a:t>
            </a:r>
          </a:p>
        </p:txBody>
      </p:sp>
      <p:sp>
        <p:nvSpPr>
          <p:cNvPr id="11" name="">
            <a:extLst xmlns:a="http://schemas.openxmlformats.org/drawingml/2006/main">
              <a:ext uri="{FF2B5EF4-FFF2-40B4-BE49-F238E27FC236}">
                <a16:creationId xmlns:a16="http://schemas.microsoft.com/office/drawing/2014/main" id="{BD9A6060-CB08-4F8E-9E1E-FC1FFD4CD3B7}"/>
              </a:ext>
            </a:extLst>
          </p:cNvPr>
          <p:cNvSpPr>
            <a:spLocks xmlns:a="http://schemas.openxmlformats.org/drawingml/2006/main" noGrp="1"/>
          </p:cNvSpPr>
          <p:nvPr/>
        </p:nvSpPr>
        <p:spPr>
          <a:xfrm xmlns:a="http://schemas.openxmlformats.org/drawingml/2006/main">
            <a:off x="733425" y="3076575"/>
            <a:ext cx="3171825" cy="419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A model learns generator artifacts.</a:t>
            </a:r>
          </a:p>
        </p:txBody>
      </p:sp>
      <p:sp>
        <p:nvSpPr>
          <p:cNvPr id="12" name="">
            <a:extLst xmlns:a="http://schemas.openxmlformats.org/drawingml/2006/main">
              <a:ext uri="{FF2B5EF4-FFF2-40B4-BE49-F238E27FC236}">
                <a16:creationId xmlns:a16="http://schemas.microsoft.com/office/drawing/2014/main" id="{1378B5C3-80CF-4C5A-BA70-ED52BE840A6E}"/>
              </a:ext>
            </a:extLst>
          </p:cNvPr>
          <p:cNvSpPr>
            <a:spLocks xmlns:a="http://schemas.openxmlformats.org/drawingml/2006/main" noGrp="1"/>
          </p:cNvSpPr>
          <p:nvPr/>
        </p:nvSpPr>
        <p:spPr>
          <a:xfrm xmlns:a="http://schemas.openxmlformats.org/drawingml/2006/main">
            <a:off x="4143375" y="2695575"/>
            <a:ext cx="1190625" cy="2286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75" b="1">
                <a:solidFill>
                  <a:srgbClr val="187257"/>
                </a:solidFill>
              </a:rPr>
              <a:t>RESPONSE</a:t>
            </a:r>
          </a:p>
        </p:txBody>
      </p:sp>
      <p:sp>
        <p:nvSpPr>
          <p:cNvPr id="13" name="">
            <a:extLst xmlns:a="http://schemas.openxmlformats.org/drawingml/2006/main">
              <a:ext uri="{FF2B5EF4-FFF2-40B4-BE49-F238E27FC236}">
                <a16:creationId xmlns:a16="http://schemas.microsoft.com/office/drawing/2014/main" id="{A54C6FB2-25E7-42C3-A6BA-ED957645CB7B}"/>
              </a:ext>
            </a:extLst>
          </p:cNvPr>
          <p:cNvSpPr>
            <a:spLocks xmlns:a="http://schemas.openxmlformats.org/drawingml/2006/main" noGrp="1"/>
          </p:cNvSpPr>
          <p:nvPr/>
        </p:nvSpPr>
        <p:spPr>
          <a:xfrm xmlns:a="http://schemas.openxmlformats.org/drawingml/2006/main">
            <a:off x="5457825" y="2695575"/>
            <a:ext cx="5962650" cy="7810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153C32"/>
                </a:solidFill>
              </a:rPr>
              <a:t>Isolated truth, independent worlds, stress cases and explicit limits on real-world claims.</a:t>
            </a:r>
          </a:p>
        </p:txBody>
      </p:sp>
      <p:sp>
        <p:nvSpPr>
          <p:cNvPr id="14" name="">
            <a:extLst xmlns:a="http://schemas.openxmlformats.org/drawingml/2006/main">
              <a:ext uri="{FF2B5EF4-FFF2-40B4-BE49-F238E27FC236}">
                <a16:creationId xmlns:a16="http://schemas.microsoft.com/office/drawing/2014/main" id="{DA33F707-FE3C-4A31-8495-19F8768BF5A1}"/>
              </a:ext>
            </a:extLst>
          </p:cNvPr>
          <p:cNvSpPr>
            <a:spLocks xmlns:a="http://schemas.openxmlformats.org/drawingml/2006/main" noGrp="1"/>
          </p:cNvSpPr>
          <p:nvPr/>
        </p:nvSpPr>
        <p:spPr>
          <a:xfrm xmlns:a="http://schemas.openxmlformats.org/drawingml/2006/main">
            <a:off x="533400" y="3733800"/>
            <a:ext cx="11125200"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9525">
            <a:solidFill>
              <a:srgbClr val="D3DED1"/>
            </a:solidFill>
            <a:prstDash val="solid"/>
          </a:ln>
        </p:spPr>
      </p:sp>
      <p:sp>
        <p:nvSpPr>
          <p:cNvPr id="15" name="">
            <a:extLst xmlns:a="http://schemas.openxmlformats.org/drawingml/2006/main">
              <a:ext uri="{FF2B5EF4-FFF2-40B4-BE49-F238E27FC236}">
                <a16:creationId xmlns:a16="http://schemas.microsoft.com/office/drawing/2014/main" id="{60212082-1D29-4D72-83A7-0F0F397EAACA}"/>
              </a:ext>
            </a:extLst>
          </p:cNvPr>
          <p:cNvSpPr>
            <a:spLocks xmlns:a="http://schemas.openxmlformats.org/drawingml/2006/main" noGrp="1"/>
          </p:cNvSpPr>
          <p:nvPr/>
        </p:nvSpPr>
        <p:spPr>
          <a:xfrm xmlns:a="http://schemas.openxmlformats.org/drawingml/2006/main">
            <a:off x="733425" y="3895725"/>
            <a:ext cx="2543175" cy="3619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650" b="1">
                <a:solidFill>
                  <a:srgbClr val="153C32"/>
                </a:solidFill>
              </a:rPr>
              <a:t>No candidate qualifies</a:t>
            </a:r>
          </a:p>
        </p:txBody>
      </p:sp>
      <p:sp>
        <p:nvSpPr>
          <p:cNvPr id="16" name="">
            <a:extLst xmlns:a="http://schemas.openxmlformats.org/drawingml/2006/main">
              <a:ext uri="{FF2B5EF4-FFF2-40B4-BE49-F238E27FC236}">
                <a16:creationId xmlns:a16="http://schemas.microsoft.com/office/drawing/2014/main" id="{06BA9A56-AFF8-48D7-B2D6-14CC77B179DC}"/>
              </a:ext>
            </a:extLst>
          </p:cNvPr>
          <p:cNvSpPr>
            <a:spLocks xmlns:a="http://schemas.openxmlformats.org/drawingml/2006/main" noGrp="1"/>
          </p:cNvSpPr>
          <p:nvPr/>
        </p:nvSpPr>
        <p:spPr>
          <a:xfrm xmlns:a="http://schemas.openxmlformats.org/drawingml/2006/main">
            <a:off x="733425" y="4276725"/>
            <a:ext cx="3171825" cy="419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A complex model does not beat the baseline.</a:t>
            </a:r>
          </a:p>
        </p:txBody>
      </p:sp>
      <p:sp>
        <p:nvSpPr>
          <p:cNvPr id="17" name="">
            <a:extLst xmlns:a="http://schemas.openxmlformats.org/drawingml/2006/main">
              <a:ext uri="{FF2B5EF4-FFF2-40B4-BE49-F238E27FC236}">
                <a16:creationId xmlns:a16="http://schemas.microsoft.com/office/drawing/2014/main" id="{FA4A5CAA-ED75-497B-B372-5D996C241CA5}"/>
              </a:ext>
            </a:extLst>
          </p:cNvPr>
          <p:cNvSpPr>
            <a:spLocks xmlns:a="http://schemas.openxmlformats.org/drawingml/2006/main" noGrp="1"/>
          </p:cNvSpPr>
          <p:nvPr/>
        </p:nvSpPr>
        <p:spPr>
          <a:xfrm xmlns:a="http://schemas.openxmlformats.org/drawingml/2006/main">
            <a:off x="4143375" y="3895725"/>
            <a:ext cx="1190625" cy="2286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75" b="1">
                <a:solidFill>
                  <a:srgbClr val="187257"/>
                </a:solidFill>
              </a:rPr>
              <a:t>RESPONSE</a:t>
            </a:r>
          </a:p>
        </p:txBody>
      </p:sp>
      <p:sp>
        <p:nvSpPr>
          <p:cNvPr id="18" name="">
            <a:extLst xmlns:a="http://schemas.openxmlformats.org/drawingml/2006/main">
              <a:ext uri="{FF2B5EF4-FFF2-40B4-BE49-F238E27FC236}">
                <a16:creationId xmlns:a16="http://schemas.microsoft.com/office/drawing/2014/main" id="{24CB291A-A066-4E62-B162-382CFBCF57FB}"/>
              </a:ext>
            </a:extLst>
          </p:cNvPr>
          <p:cNvSpPr>
            <a:spLocks xmlns:a="http://schemas.openxmlformats.org/drawingml/2006/main" noGrp="1"/>
          </p:cNvSpPr>
          <p:nvPr/>
        </p:nvSpPr>
        <p:spPr>
          <a:xfrm xmlns:a="http://schemas.openxmlformats.org/drawingml/2006/main">
            <a:off x="5457825" y="3895725"/>
            <a:ext cx="5962650" cy="7810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153C32"/>
                </a:solidFill>
              </a:rPr>
              <a:t>Serve the baseline with the same evidence views; disclose the failed gate.</a:t>
            </a:r>
          </a:p>
        </p:txBody>
      </p:sp>
      <p:sp>
        <p:nvSpPr>
          <p:cNvPr id="19" name="">
            <a:extLst xmlns:a="http://schemas.openxmlformats.org/drawingml/2006/main">
              <a:ext uri="{FF2B5EF4-FFF2-40B4-BE49-F238E27FC236}">
                <a16:creationId xmlns:a16="http://schemas.microsoft.com/office/drawing/2014/main" id="{E8EFA288-E0CF-4C30-B033-838C9F85BFBD}"/>
              </a:ext>
            </a:extLst>
          </p:cNvPr>
          <p:cNvSpPr>
            <a:spLocks xmlns:a="http://schemas.openxmlformats.org/drawingml/2006/main" noGrp="1"/>
          </p:cNvSpPr>
          <p:nvPr/>
        </p:nvSpPr>
        <p:spPr>
          <a:xfrm xmlns:a="http://schemas.openxmlformats.org/drawingml/2006/main">
            <a:off x="533400" y="4933950"/>
            <a:ext cx="11125200"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9525">
            <a:solidFill>
              <a:srgbClr val="D3DED1"/>
            </a:solidFill>
            <a:prstDash val="solid"/>
          </a:ln>
        </p:spPr>
      </p:sp>
      <p:sp>
        <p:nvSpPr>
          <p:cNvPr id="20" name="">
            <a:extLst xmlns:a="http://schemas.openxmlformats.org/drawingml/2006/main">
              <a:ext uri="{FF2B5EF4-FFF2-40B4-BE49-F238E27FC236}">
                <a16:creationId xmlns:a16="http://schemas.microsoft.com/office/drawing/2014/main" id="{0E50C099-5B6E-4BC2-BB35-CFC61794F99C}"/>
              </a:ext>
            </a:extLst>
          </p:cNvPr>
          <p:cNvSpPr>
            <a:spLocks xmlns:a="http://schemas.openxmlformats.org/drawingml/2006/main" noGrp="1"/>
          </p:cNvSpPr>
          <p:nvPr/>
        </p:nvSpPr>
        <p:spPr>
          <a:xfrm xmlns:a="http://schemas.openxmlformats.org/drawingml/2006/main">
            <a:off x="733425" y="5095875"/>
            <a:ext cx="2543175" cy="3619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650" b="1">
                <a:solidFill>
                  <a:srgbClr val="153C32"/>
                </a:solidFill>
              </a:rPr>
              <a:t>Delivery or runtime failure</a:t>
            </a:r>
          </a:p>
        </p:txBody>
      </p:sp>
      <p:sp>
        <p:nvSpPr>
          <p:cNvPr id="21" name="">
            <a:extLst xmlns:a="http://schemas.openxmlformats.org/drawingml/2006/main">
              <a:ext uri="{FF2B5EF4-FFF2-40B4-BE49-F238E27FC236}">
                <a16:creationId xmlns:a16="http://schemas.microsoft.com/office/drawing/2014/main" id="{253AA385-DD39-405E-B98D-55EBF9D3840D}"/>
              </a:ext>
            </a:extLst>
          </p:cNvPr>
          <p:cNvSpPr>
            <a:spLocks xmlns:a="http://schemas.openxmlformats.org/drawingml/2006/main" noGrp="1"/>
          </p:cNvSpPr>
          <p:nvPr/>
        </p:nvSpPr>
        <p:spPr>
          <a:xfrm xmlns:a="http://schemas.openxmlformats.org/drawingml/2006/main">
            <a:off x="733425" y="5476875"/>
            <a:ext cx="3171825" cy="419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Integration and long runs threaten the demo.</a:t>
            </a:r>
          </a:p>
        </p:txBody>
      </p:sp>
      <p:sp>
        <p:nvSpPr>
          <p:cNvPr id="22" name="">
            <a:extLst xmlns:a="http://schemas.openxmlformats.org/drawingml/2006/main">
              <a:ext uri="{FF2B5EF4-FFF2-40B4-BE49-F238E27FC236}">
                <a16:creationId xmlns:a16="http://schemas.microsoft.com/office/drawing/2014/main" id="{5D6ADC95-B4BD-4513-8A46-EDCF3D6113A0}"/>
              </a:ext>
            </a:extLst>
          </p:cNvPr>
          <p:cNvSpPr>
            <a:spLocks xmlns:a="http://schemas.openxmlformats.org/drawingml/2006/main" noGrp="1"/>
          </p:cNvSpPr>
          <p:nvPr/>
        </p:nvSpPr>
        <p:spPr>
          <a:xfrm xmlns:a="http://schemas.openxmlformats.org/drawingml/2006/main">
            <a:off x="4143375" y="5095875"/>
            <a:ext cx="1190625" cy="2286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75" b="1">
                <a:solidFill>
                  <a:srgbClr val="187257"/>
                </a:solidFill>
              </a:rPr>
              <a:t>RESPONSE</a:t>
            </a:r>
          </a:p>
        </p:txBody>
      </p:sp>
      <p:sp>
        <p:nvSpPr>
          <p:cNvPr id="23" name="">
            <a:extLst xmlns:a="http://schemas.openxmlformats.org/drawingml/2006/main">
              <a:ext uri="{FF2B5EF4-FFF2-40B4-BE49-F238E27FC236}">
                <a16:creationId xmlns:a16="http://schemas.microsoft.com/office/drawing/2014/main" id="{B3908C70-753A-4A3F-962B-7D6A5959CBE7}"/>
              </a:ext>
            </a:extLst>
          </p:cNvPr>
          <p:cNvSpPr>
            <a:spLocks xmlns:a="http://schemas.openxmlformats.org/drawingml/2006/main" noGrp="1"/>
          </p:cNvSpPr>
          <p:nvPr/>
        </p:nvSpPr>
        <p:spPr>
          <a:xfrm xmlns:a="http://schemas.openxmlformats.org/drawingml/2006/main">
            <a:off x="5457825" y="5095875"/>
            <a:ext cx="5962650" cy="7810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153C32"/>
                </a:solidFill>
              </a:rPr>
              <a:t>Baseline vertical slice, one worker, immutable artifacts and a reserved rehearsal week.</a:t>
            </a:r>
          </a:p>
        </p:txBody>
      </p:sp>
    </p:spTree>
    <p:extLst>
      <p:ext uri="{BB962C8B-B14F-4D97-AF65-F5344CB8AC3E}">
        <p14:creationId xmlns:p14="http://schemas.microsoft.com/office/powerpoint/2010/main" val="1434364392"/>
      </p:ext>
    </p:extLst>
  </p:cSld>
</p:sld>
</file>

<file path=ppt/slides/slide12.xml><?xml version="1.0" encoding="utf-8"?>
<p:sld xmlns:p="http://schemas.openxmlformats.org/presentationml/2006/main">
  <p:cSld>
    <p:bg>
      <p:bgPr>
        <a:solidFill xmlns:a="http://schemas.openxmlformats.org/drawingml/2006/main">
          <a:srgbClr val="153C32"/>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8A01879-FE26-44D9-9CCD-AD773CB451BB}"/>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DDEBDD"/>
                </a:solidFill>
              </a:rPr>
              <a:t>ARAI  /  XHACK 2026</a:t>
            </a:r>
          </a:p>
        </p:txBody>
      </p:sp>
      <p:sp>
        <p:nvSpPr>
          <p:cNvPr id="3" name="">
            <a:extLst xmlns:a="http://schemas.openxmlformats.org/drawingml/2006/main">
              <a:ext uri="{FF2B5EF4-FFF2-40B4-BE49-F238E27FC236}">
                <a16:creationId xmlns:a16="http://schemas.microsoft.com/office/drawing/2014/main" id="{792EA379-8635-4508-9781-3BCEED06BF50}"/>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DDEBDD"/>
                </a:solidFill>
              </a:rPr>
              <a:t>DESIGN REVIEW OUTCOME</a:t>
            </a:r>
          </a:p>
        </p:txBody>
      </p:sp>
      <p:sp>
        <p:nvSpPr>
          <p:cNvPr id="4" name="">
            <a:extLst xmlns:a="http://schemas.openxmlformats.org/drawingml/2006/main">
              <a:ext uri="{FF2B5EF4-FFF2-40B4-BE49-F238E27FC236}">
                <a16:creationId xmlns:a16="http://schemas.microsoft.com/office/drawing/2014/main" id="{86C98BD6-2248-449E-995C-74E2873AD5E4}"/>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FFFFFF"/>
                </a:solidFill>
              </a:rPr>
              <a:t>A clear baseline. A bounded build.</a:t>
            </a:r>
          </a:p>
        </p:txBody>
      </p:sp>
      <p:sp>
        <p:nvSpPr>
          <p:cNvPr id="5" name="">
            <a:extLst xmlns:a="http://schemas.openxmlformats.org/drawingml/2006/main">
              <a:ext uri="{FF2B5EF4-FFF2-40B4-BE49-F238E27FC236}">
                <a16:creationId xmlns:a16="http://schemas.microsoft.com/office/drawing/2014/main" id="{89A931D7-51E0-47D3-8F59-B853B8A390F5}"/>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DDEBDD"/>
                </a:solidFill>
              </a:rPr>
              <a:t>Ready to move from specification into implementation.</a:t>
            </a:r>
          </a:p>
        </p:txBody>
      </p:sp>
      <p:sp>
        <p:nvSpPr>
          <p:cNvPr id="6" name="">
            <a:extLst xmlns:a="http://schemas.openxmlformats.org/drawingml/2006/main">
              <a:ext uri="{FF2B5EF4-FFF2-40B4-BE49-F238E27FC236}">
                <a16:creationId xmlns:a16="http://schemas.microsoft.com/office/drawing/2014/main" id="{D9CDD48D-EE45-43C0-AFBD-2CCDAC2AEEDD}"/>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396052"/>
          </a:solidFill>
          <a:ln xmlns:a="http://schemas.openxmlformats.org/drawingml/2006/main" w="9525">
            <a:solidFill>
              <a:srgbClr val="396052"/>
            </a:solidFill>
            <a:prstDash val="solid"/>
          </a:ln>
        </p:spPr>
      </p:sp>
      <p:sp>
        <p:nvSpPr>
          <p:cNvPr id="7" name="">
            <a:extLst xmlns:a="http://schemas.openxmlformats.org/drawingml/2006/main">
              <a:ext uri="{FF2B5EF4-FFF2-40B4-BE49-F238E27FC236}">
                <a16:creationId xmlns:a16="http://schemas.microsoft.com/office/drawing/2014/main" id="{5E8E4436-5261-4D1C-AAB2-6B145E0DF05C}"/>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DDEBDD"/>
                </a:solidFill>
              </a:rPr>
              <a:t>DESIGN PRESENTATION  •  28 SEPTEMBER 2026</a:t>
            </a:r>
          </a:p>
        </p:txBody>
      </p:sp>
      <p:sp>
        <p:nvSpPr>
          <p:cNvPr id="8" name="">
            <a:extLst xmlns:a="http://schemas.openxmlformats.org/drawingml/2006/main">
              <a:ext uri="{FF2B5EF4-FFF2-40B4-BE49-F238E27FC236}">
                <a16:creationId xmlns:a16="http://schemas.microsoft.com/office/drawing/2014/main" id="{036374F4-BC34-4A1D-A0DF-B66F348792EA}"/>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DDEBDD"/>
                </a:solidFill>
              </a:rPr>
              <a:t>12</a:t>
            </a:r>
          </a:p>
        </p:txBody>
      </p:sp>
      <p:sp>
        <p:nvSpPr>
          <p:cNvPr id="9" name="">
            <a:extLst xmlns:a="http://schemas.openxmlformats.org/drawingml/2006/main">
              <a:ext uri="{FF2B5EF4-FFF2-40B4-BE49-F238E27FC236}">
                <a16:creationId xmlns:a16="http://schemas.microsoft.com/office/drawing/2014/main" id="{31881A6B-147F-44F8-9552-C3ED7362C2DA}"/>
              </a:ext>
            </a:extLst>
          </p:cNvPr>
          <p:cNvSpPr>
            <a:spLocks xmlns:a="http://schemas.openxmlformats.org/drawingml/2006/main" noGrp="1"/>
          </p:cNvSpPr>
          <p:nvPr/>
        </p:nvSpPr>
        <p:spPr>
          <a:xfrm xmlns:a="http://schemas.openxmlformats.org/drawingml/2006/main">
            <a:off x="533400" y="2628900"/>
            <a:ext cx="3562350" cy="1466850"/>
          </a:xfrm>
          <a:prstGeom xmlns:a="http://schemas.openxmlformats.org/drawingml/2006/main" prst="roundRect">
            <a:avLst>
              <a:gd name="adj" fmla="val 5195"/>
            </a:avLst>
          </a:prstGeom>
          <a:solidFill xmlns:a="http://schemas.openxmlformats.org/drawingml/2006/main">
            <a:srgbClr val="234C3F"/>
          </a:solidFill>
          <a:ln xmlns:a="http://schemas.openxmlformats.org/drawingml/2006/main" w="9525">
            <a:solidFill>
              <a:srgbClr val="396052"/>
            </a:solidFill>
            <a:prstDash val="solid"/>
          </a:ln>
        </p:spPr>
      </p:sp>
      <p:sp>
        <p:nvSpPr>
          <p:cNvPr id="10" name="">
            <a:extLst xmlns:a="http://schemas.openxmlformats.org/drawingml/2006/main">
              <a:ext uri="{FF2B5EF4-FFF2-40B4-BE49-F238E27FC236}">
                <a16:creationId xmlns:a16="http://schemas.microsoft.com/office/drawing/2014/main" id="{B05D5FFA-5017-42E1-B711-9EC378F68A02}"/>
              </a:ext>
            </a:extLst>
          </p:cNvPr>
          <p:cNvSpPr>
            <a:spLocks xmlns:a="http://schemas.openxmlformats.org/drawingml/2006/main" noGrp="1"/>
          </p:cNvSpPr>
          <p:nvPr/>
        </p:nvSpPr>
        <p:spPr>
          <a:xfrm xmlns:a="http://schemas.openxmlformats.org/drawingml/2006/main">
            <a:off x="742950" y="2724150"/>
            <a:ext cx="3114675" cy="685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4275" b="1">
                <a:solidFill>
                  <a:srgbClr val="FFFFFF"/>
                </a:solidFill>
              </a:rPr>
              <a:t>16</a:t>
            </a:r>
          </a:p>
        </p:txBody>
      </p:sp>
      <p:sp>
        <p:nvSpPr>
          <p:cNvPr id="11" name="">
            <a:extLst xmlns:a="http://schemas.openxmlformats.org/drawingml/2006/main">
              <a:ext uri="{FF2B5EF4-FFF2-40B4-BE49-F238E27FC236}">
                <a16:creationId xmlns:a16="http://schemas.microsoft.com/office/drawing/2014/main" id="{54DC4FB6-8A55-418A-A9C8-0C0D95EEE39B}"/>
              </a:ext>
            </a:extLst>
          </p:cNvPr>
          <p:cNvSpPr>
            <a:spLocks xmlns:a="http://schemas.openxmlformats.org/drawingml/2006/main" noGrp="1"/>
          </p:cNvSpPr>
          <p:nvPr/>
        </p:nvSpPr>
        <p:spPr>
          <a:xfrm xmlns:a="http://schemas.openxmlformats.org/drawingml/2006/main">
            <a:off x="742950" y="3524250"/>
            <a:ext cx="3143250" cy="419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DDEBDD"/>
                </a:solidFill>
              </a:rPr>
              <a:t>Component specifications</a:t>
            </a:r>
          </a:p>
        </p:txBody>
      </p:sp>
      <p:sp>
        <p:nvSpPr>
          <p:cNvPr id="12" name="">
            <a:extLst xmlns:a="http://schemas.openxmlformats.org/drawingml/2006/main">
              <a:ext uri="{FF2B5EF4-FFF2-40B4-BE49-F238E27FC236}">
                <a16:creationId xmlns:a16="http://schemas.microsoft.com/office/drawing/2014/main" id="{B8C47AB6-9D3C-4E8F-80A8-4514BB9F823F}"/>
              </a:ext>
            </a:extLst>
          </p:cNvPr>
          <p:cNvSpPr>
            <a:spLocks xmlns:a="http://schemas.openxmlformats.org/drawingml/2006/main" noGrp="1"/>
          </p:cNvSpPr>
          <p:nvPr/>
        </p:nvSpPr>
        <p:spPr>
          <a:xfrm xmlns:a="http://schemas.openxmlformats.org/drawingml/2006/main">
            <a:off x="4314825" y="2628900"/>
            <a:ext cx="3562350" cy="1466850"/>
          </a:xfrm>
          <a:prstGeom xmlns:a="http://schemas.openxmlformats.org/drawingml/2006/main" prst="roundRect">
            <a:avLst>
              <a:gd name="adj" fmla="val 5195"/>
            </a:avLst>
          </a:prstGeom>
          <a:solidFill xmlns:a="http://schemas.openxmlformats.org/drawingml/2006/main">
            <a:srgbClr val="234C3F"/>
          </a:solidFill>
          <a:ln xmlns:a="http://schemas.openxmlformats.org/drawingml/2006/main" w="9525">
            <a:solidFill>
              <a:srgbClr val="396052"/>
            </a:solidFill>
            <a:prstDash val="solid"/>
          </a:ln>
        </p:spPr>
      </p:sp>
      <p:sp>
        <p:nvSpPr>
          <p:cNvPr id="13" name="">
            <a:extLst xmlns:a="http://schemas.openxmlformats.org/drawingml/2006/main">
              <a:ext uri="{FF2B5EF4-FFF2-40B4-BE49-F238E27FC236}">
                <a16:creationId xmlns:a16="http://schemas.microsoft.com/office/drawing/2014/main" id="{23EB299E-92EC-400A-86D6-5687D8ADBCA7}"/>
              </a:ext>
            </a:extLst>
          </p:cNvPr>
          <p:cNvSpPr>
            <a:spLocks xmlns:a="http://schemas.openxmlformats.org/drawingml/2006/main" noGrp="1"/>
          </p:cNvSpPr>
          <p:nvPr/>
        </p:nvSpPr>
        <p:spPr>
          <a:xfrm xmlns:a="http://schemas.openxmlformats.org/drawingml/2006/main">
            <a:off x="4524375" y="2724150"/>
            <a:ext cx="3114675" cy="685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4275" b="1">
                <a:solidFill>
                  <a:srgbClr val="FFFFFF"/>
                </a:solidFill>
              </a:rPr>
              <a:t>90</a:t>
            </a:r>
          </a:p>
        </p:txBody>
      </p:sp>
      <p:sp>
        <p:nvSpPr>
          <p:cNvPr id="14" name="">
            <a:extLst xmlns:a="http://schemas.openxmlformats.org/drawingml/2006/main">
              <a:ext uri="{FF2B5EF4-FFF2-40B4-BE49-F238E27FC236}">
                <a16:creationId xmlns:a16="http://schemas.microsoft.com/office/drawing/2014/main" id="{2788CA1D-942A-4EBC-B4AE-F7954B9A102A}"/>
              </a:ext>
            </a:extLst>
          </p:cNvPr>
          <p:cNvSpPr>
            <a:spLocks xmlns:a="http://schemas.openxmlformats.org/drawingml/2006/main" noGrp="1"/>
          </p:cNvSpPr>
          <p:nvPr/>
        </p:nvSpPr>
        <p:spPr>
          <a:xfrm xmlns:a="http://schemas.openxmlformats.org/drawingml/2006/main">
            <a:off x="4524375" y="3524250"/>
            <a:ext cx="3143250" cy="419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DDEBDD"/>
                </a:solidFill>
              </a:rPr>
              <a:t>Defined acceptance criteria</a:t>
            </a:r>
          </a:p>
        </p:txBody>
      </p:sp>
      <p:sp>
        <p:nvSpPr>
          <p:cNvPr id="15" name="">
            <a:extLst xmlns:a="http://schemas.openxmlformats.org/drawingml/2006/main">
              <a:ext uri="{FF2B5EF4-FFF2-40B4-BE49-F238E27FC236}">
                <a16:creationId xmlns:a16="http://schemas.microsoft.com/office/drawing/2014/main" id="{69853176-F8F5-40E0-9C9D-E322F868A13E}"/>
              </a:ext>
            </a:extLst>
          </p:cNvPr>
          <p:cNvSpPr>
            <a:spLocks xmlns:a="http://schemas.openxmlformats.org/drawingml/2006/main" noGrp="1"/>
          </p:cNvSpPr>
          <p:nvPr/>
        </p:nvSpPr>
        <p:spPr>
          <a:xfrm xmlns:a="http://schemas.openxmlformats.org/drawingml/2006/main">
            <a:off x="8096250" y="2628900"/>
            <a:ext cx="3562350" cy="1466850"/>
          </a:xfrm>
          <a:prstGeom xmlns:a="http://schemas.openxmlformats.org/drawingml/2006/main" prst="roundRect">
            <a:avLst>
              <a:gd name="adj" fmla="val 5195"/>
            </a:avLst>
          </a:prstGeom>
          <a:solidFill xmlns:a="http://schemas.openxmlformats.org/drawingml/2006/main">
            <a:srgbClr val="234C3F"/>
          </a:solidFill>
          <a:ln xmlns:a="http://schemas.openxmlformats.org/drawingml/2006/main" w="9525">
            <a:solidFill>
              <a:srgbClr val="396052"/>
            </a:solidFill>
            <a:prstDash val="solid"/>
          </a:ln>
        </p:spPr>
      </p:sp>
      <p:sp>
        <p:nvSpPr>
          <p:cNvPr id="16" name="">
            <a:extLst xmlns:a="http://schemas.openxmlformats.org/drawingml/2006/main">
              <a:ext uri="{FF2B5EF4-FFF2-40B4-BE49-F238E27FC236}">
                <a16:creationId xmlns:a16="http://schemas.microsoft.com/office/drawing/2014/main" id="{B5B43BC1-E3D6-4BF8-9D7B-C39AC361B3C5}"/>
              </a:ext>
            </a:extLst>
          </p:cNvPr>
          <p:cNvSpPr>
            <a:spLocks xmlns:a="http://schemas.openxmlformats.org/drawingml/2006/main" noGrp="1"/>
          </p:cNvSpPr>
          <p:nvPr/>
        </p:nvSpPr>
        <p:spPr>
          <a:xfrm xmlns:a="http://schemas.openxmlformats.org/drawingml/2006/main">
            <a:off x="8305800" y="2724150"/>
            <a:ext cx="3114675" cy="685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4275" b="1">
                <a:solidFill>
                  <a:srgbClr val="FFFFFF"/>
                </a:solidFill>
              </a:rPr>
              <a:t>1</a:t>
            </a:r>
          </a:p>
        </p:txBody>
      </p:sp>
      <p:sp>
        <p:nvSpPr>
          <p:cNvPr id="17" name="">
            <a:extLst xmlns:a="http://schemas.openxmlformats.org/drawingml/2006/main">
              <a:ext uri="{FF2B5EF4-FFF2-40B4-BE49-F238E27FC236}">
                <a16:creationId xmlns:a16="http://schemas.microsoft.com/office/drawing/2014/main" id="{514DD7E9-44C6-4686-A0A2-FE4B0C153E59}"/>
              </a:ext>
            </a:extLst>
          </p:cNvPr>
          <p:cNvSpPr>
            <a:spLocks xmlns:a="http://schemas.openxmlformats.org/drawingml/2006/main" noGrp="1"/>
          </p:cNvSpPr>
          <p:nvPr/>
        </p:nvSpPr>
        <p:spPr>
          <a:xfrm xmlns:a="http://schemas.openxmlformats.org/drawingml/2006/main">
            <a:off x="8305800" y="3524250"/>
            <a:ext cx="3143250" cy="419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DDEBDD"/>
                </a:solidFill>
              </a:rPr>
              <a:t>Portable clickable wireframe</a:t>
            </a:r>
          </a:p>
        </p:txBody>
      </p:sp>
      <p:sp>
        <p:nvSpPr>
          <p:cNvPr id="18" name="">
            <a:extLst xmlns:a="http://schemas.openxmlformats.org/drawingml/2006/main">
              <a:ext uri="{FF2B5EF4-FFF2-40B4-BE49-F238E27FC236}">
                <a16:creationId xmlns:a16="http://schemas.microsoft.com/office/drawing/2014/main" id="{0A335C29-4BA9-4E1C-B36A-0432E5A06D8F}"/>
              </a:ext>
            </a:extLst>
          </p:cNvPr>
          <p:cNvSpPr>
            <a:spLocks xmlns:a="http://schemas.openxmlformats.org/drawingml/2006/main" noGrp="1"/>
          </p:cNvSpPr>
          <p:nvPr/>
        </p:nvSpPr>
        <p:spPr>
          <a:xfrm xmlns:a="http://schemas.openxmlformats.org/drawingml/2006/main">
            <a:off x="533400" y="4505325"/>
            <a:ext cx="11125200" cy="52387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2025" b="1">
                <a:solidFill>
                  <a:srgbClr val="FFFFFF"/>
                </a:solidFill>
              </a:rPr>
              <a:t>TODAY: align on scope, architecture, owners and demo date.</a:t>
            </a:r>
          </a:p>
        </p:txBody>
      </p:sp>
      <p:sp>
        <p:nvSpPr>
          <p:cNvPr id="19" name="">
            <a:extLst xmlns:a="http://schemas.openxmlformats.org/drawingml/2006/main">
              <a:ext uri="{FF2B5EF4-FFF2-40B4-BE49-F238E27FC236}">
                <a16:creationId xmlns:a16="http://schemas.microsoft.com/office/drawing/2014/main" id="{7F97D18B-C6AA-420B-8482-86E346ACB10B}"/>
              </a:ext>
            </a:extLst>
          </p:cNvPr>
          <p:cNvSpPr>
            <a:spLocks xmlns:a="http://schemas.openxmlformats.org/drawingml/2006/main" noGrp="1"/>
          </p:cNvSpPr>
          <p:nvPr/>
        </p:nvSpPr>
        <p:spPr>
          <a:xfrm xmlns:a="http://schemas.openxmlformats.org/drawingml/2006/main">
            <a:off x="533400" y="5276850"/>
            <a:ext cx="11125200" cy="6286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2025" b="0">
                <a:solidFill>
                  <a:srgbClr val="DDEBDD"/>
                </a:solidFill>
              </a:rPr>
              <a:t>NEXT: bootstrap a small world and prove the baseline-to-UI path.</a:t>
            </a:r>
          </a:p>
        </p:txBody>
      </p:sp>
    </p:spTree>
    <p:extLst>
      <p:ext uri="{BB962C8B-B14F-4D97-AF65-F5344CB8AC3E}">
        <p14:creationId xmlns:p14="http://schemas.microsoft.com/office/powerpoint/2010/main" val="1510315231"/>
      </p:ext>
    </p:extLst>
  </p:cSld>
</p:sld>
</file>

<file path=ppt/slides/slide13.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92E5C34-55E5-4EAD-B475-7F7EED42AEEB}"/>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187257"/>
                </a:solidFill>
              </a:rPr>
              <a:t>ARAI  /  XHACK 2026</a:t>
            </a:r>
          </a:p>
        </p:txBody>
      </p:sp>
      <p:sp>
        <p:nvSpPr>
          <p:cNvPr id="3" name="">
            <a:extLst xmlns:a="http://schemas.openxmlformats.org/drawingml/2006/main">
              <a:ext uri="{FF2B5EF4-FFF2-40B4-BE49-F238E27FC236}">
                <a16:creationId xmlns:a16="http://schemas.microsoft.com/office/drawing/2014/main" id="{81A4C1A9-E32D-40F5-BAB9-E7D8992682BA}"/>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61766A"/>
                </a:solidFill>
              </a:rPr>
              <a:t>BACKUP / FEATURE DESIGN</a:t>
            </a:r>
          </a:p>
        </p:txBody>
      </p:sp>
      <p:sp>
        <p:nvSpPr>
          <p:cNvPr id="4" name="">
            <a:extLst xmlns:a="http://schemas.openxmlformats.org/drawingml/2006/main">
              <a:ext uri="{FF2B5EF4-FFF2-40B4-BE49-F238E27FC236}">
                <a16:creationId xmlns:a16="http://schemas.microsoft.com/office/drawing/2014/main" id="{EF3394F9-480E-4DB2-9E08-2BF95D64A793}"/>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153C32"/>
                </a:solidFill>
              </a:rPr>
              <a:t>Compare customers with their product context.</a:t>
            </a:r>
          </a:p>
        </p:txBody>
      </p:sp>
      <p:sp>
        <p:nvSpPr>
          <p:cNvPr id="5" name="">
            <a:extLst xmlns:a="http://schemas.openxmlformats.org/drawingml/2006/main">
              <a:ext uri="{FF2B5EF4-FFF2-40B4-BE49-F238E27FC236}">
                <a16:creationId xmlns:a16="http://schemas.microsoft.com/office/drawing/2014/main" id="{93261FCD-8037-4FDC-90C9-43FB7A9B0C7D}"/>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61766A"/>
                </a:solidFill>
              </a:rPr>
              <a:t>Eighteen numeric features support one overall investigation ranking.</a:t>
            </a:r>
          </a:p>
        </p:txBody>
      </p:sp>
      <p:sp>
        <p:nvSpPr>
          <p:cNvPr id="6" name="">
            <a:extLst xmlns:a="http://schemas.openxmlformats.org/drawingml/2006/main">
              <a:ext uri="{FF2B5EF4-FFF2-40B4-BE49-F238E27FC236}">
                <a16:creationId xmlns:a16="http://schemas.microsoft.com/office/drawing/2014/main" id="{A88FB19D-74E6-4482-91FC-477CA8B2ECB5}"/>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3DED1"/>
          </a:solidFill>
          <a:ln xmlns:a="http://schemas.openxmlformats.org/drawingml/2006/main" w="9525">
            <a:solidFill>
              <a:srgbClr val="D3DED1"/>
            </a:solidFill>
            <a:prstDash val="solid"/>
          </a:ln>
        </p:spPr>
      </p:sp>
      <p:sp>
        <p:nvSpPr>
          <p:cNvPr id="7" name="">
            <a:extLst xmlns:a="http://schemas.openxmlformats.org/drawingml/2006/main">
              <a:ext uri="{FF2B5EF4-FFF2-40B4-BE49-F238E27FC236}">
                <a16:creationId xmlns:a16="http://schemas.microsoft.com/office/drawing/2014/main" id="{7A1FA0A0-9612-43D9-938A-05D6DA06FC06}"/>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61766A"/>
                </a:solidFill>
              </a:rPr>
              <a:t>DESIGN PRESENTATION  •  28 SEPTEMBER 2026</a:t>
            </a:r>
          </a:p>
        </p:txBody>
      </p:sp>
      <p:sp>
        <p:nvSpPr>
          <p:cNvPr id="8" name="">
            <a:extLst xmlns:a="http://schemas.openxmlformats.org/drawingml/2006/main">
              <a:ext uri="{FF2B5EF4-FFF2-40B4-BE49-F238E27FC236}">
                <a16:creationId xmlns:a16="http://schemas.microsoft.com/office/drawing/2014/main" id="{600C9905-C060-4826-9D73-E036F3EB1E7C}"/>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13</a:t>
            </a:r>
          </a:p>
        </p:txBody>
      </p:sp>
      <p:sp>
        <p:nvSpPr>
          <p:cNvPr id="9" name="">
            <a:extLst xmlns:a="http://schemas.openxmlformats.org/drawingml/2006/main">
              <a:ext uri="{FF2B5EF4-FFF2-40B4-BE49-F238E27FC236}">
                <a16:creationId xmlns:a16="http://schemas.microsoft.com/office/drawing/2014/main" id="{80864EAD-4F26-48D6-87ED-4FFCB010AF6C}"/>
              </a:ext>
            </a:extLst>
          </p:cNvPr>
          <p:cNvSpPr>
            <a:spLocks xmlns:a="http://schemas.openxmlformats.org/drawingml/2006/main" noGrp="1"/>
          </p:cNvSpPr>
          <p:nvPr/>
        </p:nvSpPr>
        <p:spPr>
          <a:xfrm xmlns:a="http://schemas.openxmlformats.org/drawingml/2006/main">
            <a:off x="533400" y="2533650"/>
            <a:ext cx="5438775" cy="1714500"/>
          </a:xfrm>
          <a:prstGeom xmlns:a="http://schemas.openxmlformats.org/drawingml/2006/main" prst="roundRect">
            <a:avLst>
              <a:gd name="adj" fmla="val 4444"/>
            </a:avLst>
          </a:prstGeom>
          <a:solidFill xmlns:a="http://schemas.openxmlformats.org/drawingml/2006/main">
            <a:srgbClr val="DDEBDD"/>
          </a:solidFill>
          <a:ln xmlns:a="http://schemas.openxmlformats.org/drawingml/2006/main" w="9525">
            <a:solidFill>
              <a:srgbClr val="D3DED1"/>
            </a:solidFill>
            <a:prstDash val="solid"/>
          </a:ln>
        </p:spPr>
      </p:sp>
      <p:sp>
        <p:nvSpPr>
          <p:cNvPr id="10" name="">
            <a:extLst xmlns:a="http://schemas.openxmlformats.org/drawingml/2006/main">
              <a:ext uri="{FF2B5EF4-FFF2-40B4-BE49-F238E27FC236}">
                <a16:creationId xmlns:a16="http://schemas.microsoft.com/office/drawing/2014/main" id="{0246B31D-766D-4DA8-81FA-343A05EB6216}"/>
              </a:ext>
            </a:extLst>
          </p:cNvPr>
          <p:cNvSpPr>
            <a:spLocks xmlns:a="http://schemas.openxmlformats.org/drawingml/2006/main" noGrp="1"/>
          </p:cNvSpPr>
          <p:nvPr/>
        </p:nvSpPr>
        <p:spPr>
          <a:xfrm xmlns:a="http://schemas.openxmlformats.org/drawingml/2006/main">
            <a:off x="742950" y="2724150"/>
            <a:ext cx="50196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High returns + high peer returns</a:t>
            </a:r>
          </a:p>
        </p:txBody>
      </p:sp>
      <p:sp>
        <p:nvSpPr>
          <p:cNvPr id="11" name="">
            <a:extLst xmlns:a="http://schemas.openxmlformats.org/drawingml/2006/main">
              <a:ext uri="{FF2B5EF4-FFF2-40B4-BE49-F238E27FC236}">
                <a16:creationId xmlns:a16="http://schemas.microsoft.com/office/drawing/2014/main" id="{E1C28FB2-C189-4E04-B6F7-FD925930FFFF}"/>
              </a:ext>
            </a:extLst>
          </p:cNvPr>
          <p:cNvSpPr>
            <a:spLocks xmlns:a="http://schemas.openxmlformats.org/drawingml/2006/main" noGrp="1"/>
          </p:cNvSpPr>
          <p:nvPr/>
        </p:nvSpPr>
        <p:spPr>
          <a:xfrm xmlns:a="http://schemas.openxmlformats.org/drawingml/2006/main">
            <a:off x="742950" y="3333750"/>
            <a:ext cx="5019675" cy="8191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Product fit or quality may explain the behavior. Inspect style and SKU evidence.</a:t>
            </a:r>
          </a:p>
        </p:txBody>
      </p:sp>
      <p:sp>
        <p:nvSpPr>
          <p:cNvPr id="12" name="">
            <a:extLst xmlns:a="http://schemas.openxmlformats.org/drawingml/2006/main">
              <a:ext uri="{FF2B5EF4-FFF2-40B4-BE49-F238E27FC236}">
                <a16:creationId xmlns:a16="http://schemas.microsoft.com/office/drawing/2014/main" id="{8ADEFBB2-7F8D-4F7E-AB58-3C75C2E2533B}"/>
              </a:ext>
            </a:extLst>
          </p:cNvPr>
          <p:cNvSpPr>
            <a:spLocks xmlns:a="http://schemas.openxmlformats.org/drawingml/2006/main" noGrp="1"/>
          </p:cNvSpPr>
          <p:nvPr/>
        </p:nvSpPr>
        <p:spPr>
          <a:xfrm xmlns:a="http://schemas.openxmlformats.org/drawingml/2006/main">
            <a:off x="6219825" y="2533650"/>
            <a:ext cx="5438775"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3DED1"/>
            </a:solidFill>
            <a:prstDash val="solid"/>
          </a:ln>
        </p:spPr>
      </p:sp>
      <p:sp>
        <p:nvSpPr>
          <p:cNvPr id="13" name="">
            <a:extLst xmlns:a="http://schemas.openxmlformats.org/drawingml/2006/main">
              <a:ext uri="{FF2B5EF4-FFF2-40B4-BE49-F238E27FC236}">
                <a16:creationId xmlns:a16="http://schemas.microsoft.com/office/drawing/2014/main" id="{9B9FCFA9-1628-419B-82E6-1FD1BFB7E29F}"/>
              </a:ext>
            </a:extLst>
          </p:cNvPr>
          <p:cNvSpPr>
            <a:spLocks xmlns:a="http://schemas.openxmlformats.org/drawingml/2006/main" noGrp="1"/>
          </p:cNvSpPr>
          <p:nvPr/>
        </p:nvSpPr>
        <p:spPr>
          <a:xfrm xmlns:a="http://schemas.openxmlformats.org/drawingml/2006/main">
            <a:off x="6429375" y="2724150"/>
            <a:ext cx="5019675"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High returns + low peer returns</a:t>
            </a:r>
          </a:p>
        </p:txBody>
      </p:sp>
      <p:sp>
        <p:nvSpPr>
          <p:cNvPr id="14" name="">
            <a:extLst xmlns:a="http://schemas.openxmlformats.org/drawingml/2006/main">
              <a:ext uri="{FF2B5EF4-FFF2-40B4-BE49-F238E27FC236}">
                <a16:creationId xmlns:a16="http://schemas.microsoft.com/office/drawing/2014/main" id="{92328BBD-DE28-4598-AAE8-C3EACFDB6593}"/>
              </a:ext>
            </a:extLst>
          </p:cNvPr>
          <p:cNvSpPr>
            <a:spLocks xmlns:a="http://schemas.openxmlformats.org/drawingml/2006/main" noGrp="1"/>
          </p:cNvSpPr>
          <p:nvPr/>
        </p:nvSpPr>
        <p:spPr>
          <a:xfrm xmlns:a="http://schemas.openxmlformats.org/drawingml/2006/main">
            <a:off x="6429375" y="3333750"/>
            <a:ext cx="5019675" cy="8191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An unexplained excess is an investigation signal, not proof of intent.</a:t>
            </a:r>
          </a:p>
        </p:txBody>
      </p:sp>
      <p:sp>
        <p:nvSpPr>
          <p:cNvPr id="15" name="">
            <a:extLst xmlns:a="http://schemas.openxmlformats.org/drawingml/2006/main">
              <a:ext uri="{FF2B5EF4-FFF2-40B4-BE49-F238E27FC236}">
                <a16:creationId xmlns:a16="http://schemas.microsoft.com/office/drawing/2014/main" id="{EE990D58-7CB4-42A8-8F75-735FC7E7EEBE}"/>
              </a:ext>
            </a:extLst>
          </p:cNvPr>
          <p:cNvSpPr>
            <a:spLocks xmlns:a="http://schemas.openxmlformats.org/drawingml/2006/main" noGrp="1"/>
          </p:cNvSpPr>
          <p:nvPr/>
        </p:nvSpPr>
        <p:spPr>
          <a:xfrm xmlns:a="http://schemas.openxmlformats.org/drawingml/2006/main">
            <a:off x="533400" y="4533900"/>
            <a:ext cx="3543300" cy="1419225"/>
          </a:xfrm>
          <a:prstGeom xmlns:a="http://schemas.openxmlformats.org/drawingml/2006/main" prst="roundRect">
            <a:avLst>
              <a:gd name="adj" fmla="val 5369"/>
            </a:avLst>
          </a:prstGeom>
          <a:solidFill xmlns:a="http://schemas.openxmlformats.org/drawingml/2006/main">
            <a:srgbClr val="FFFFFF"/>
          </a:solidFill>
          <a:ln xmlns:a="http://schemas.openxmlformats.org/drawingml/2006/main" w="9525">
            <a:solidFill>
              <a:srgbClr val="D3DED1"/>
            </a:solidFill>
            <a:prstDash val="solid"/>
          </a:ln>
        </p:spPr>
      </p:sp>
      <p:sp>
        <p:nvSpPr>
          <p:cNvPr id="16" name="">
            <a:extLst xmlns:a="http://schemas.openxmlformats.org/drawingml/2006/main">
              <a:ext uri="{FF2B5EF4-FFF2-40B4-BE49-F238E27FC236}">
                <a16:creationId xmlns:a16="http://schemas.microsoft.com/office/drawing/2014/main" id="{AFF9BAE0-F011-4545-995F-A8A119FDE40F}"/>
              </a:ext>
            </a:extLst>
          </p:cNvPr>
          <p:cNvSpPr>
            <a:spLocks xmlns:a="http://schemas.openxmlformats.org/drawingml/2006/main" noGrp="1"/>
          </p:cNvSpPr>
          <p:nvPr/>
        </p:nvSpPr>
        <p:spPr>
          <a:xfrm xmlns:a="http://schemas.openxmlformats.org/drawingml/2006/main">
            <a:off x="685800" y="4648200"/>
            <a:ext cx="323850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Mature observations</a:t>
            </a:r>
          </a:p>
        </p:txBody>
      </p:sp>
      <p:sp>
        <p:nvSpPr>
          <p:cNvPr id="17" name="">
            <a:extLst xmlns:a="http://schemas.openxmlformats.org/drawingml/2006/main">
              <a:ext uri="{FF2B5EF4-FFF2-40B4-BE49-F238E27FC236}">
                <a16:creationId xmlns:a16="http://schemas.microsoft.com/office/drawing/2014/main" id="{F6401BBF-9B0F-4680-B3C0-1ACB63B72FDC}"/>
              </a:ext>
            </a:extLst>
          </p:cNvPr>
          <p:cNvSpPr>
            <a:spLocks xmlns:a="http://schemas.openxmlformats.org/drawingml/2006/main" noGrp="1"/>
          </p:cNvSpPr>
          <p:nvPr/>
        </p:nvSpPr>
        <p:spPr>
          <a:xfrm xmlns:a="http://schemas.openxmlformats.org/drawingml/2006/main">
            <a:off x="685800" y="5000625"/>
            <a:ext cx="3238500" cy="8858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Captured return window elapsed; at least 3 mature sale lines to rank.</a:t>
            </a:r>
          </a:p>
        </p:txBody>
      </p:sp>
      <p:sp>
        <p:nvSpPr>
          <p:cNvPr id="18" name="">
            <a:extLst xmlns:a="http://schemas.openxmlformats.org/drawingml/2006/main">
              <a:ext uri="{FF2B5EF4-FFF2-40B4-BE49-F238E27FC236}">
                <a16:creationId xmlns:a16="http://schemas.microsoft.com/office/drawing/2014/main" id="{0E1A8C2F-E06B-45D2-9C7F-AC4BA7402900}"/>
              </a:ext>
            </a:extLst>
          </p:cNvPr>
          <p:cNvSpPr>
            <a:spLocks xmlns:a="http://schemas.openxmlformats.org/drawingml/2006/main" noGrp="1"/>
          </p:cNvSpPr>
          <p:nvPr/>
        </p:nvSpPr>
        <p:spPr>
          <a:xfrm xmlns:a="http://schemas.openxmlformats.org/drawingml/2006/main">
            <a:off x="4324350" y="4533900"/>
            <a:ext cx="3543300" cy="1419225"/>
          </a:xfrm>
          <a:prstGeom xmlns:a="http://schemas.openxmlformats.org/drawingml/2006/main" prst="roundRect">
            <a:avLst>
              <a:gd name="adj" fmla="val 5369"/>
            </a:avLst>
          </a:prstGeom>
          <a:solidFill xmlns:a="http://schemas.openxmlformats.org/drawingml/2006/main">
            <a:srgbClr val="FFFFFF"/>
          </a:solidFill>
          <a:ln xmlns:a="http://schemas.openxmlformats.org/drawingml/2006/main" w="9525">
            <a:solidFill>
              <a:srgbClr val="D3DED1"/>
            </a:solidFill>
            <a:prstDash val="solid"/>
          </a:ln>
        </p:spPr>
      </p:sp>
      <p:sp>
        <p:nvSpPr>
          <p:cNvPr id="19" name="">
            <a:extLst xmlns:a="http://schemas.openxmlformats.org/drawingml/2006/main">
              <a:ext uri="{FF2B5EF4-FFF2-40B4-BE49-F238E27FC236}">
                <a16:creationId xmlns:a16="http://schemas.microsoft.com/office/drawing/2014/main" id="{DD7DC38B-6A8F-40AF-B064-8B2174E75D02}"/>
              </a:ext>
            </a:extLst>
          </p:cNvPr>
          <p:cNvSpPr>
            <a:spLocks xmlns:a="http://schemas.openxmlformats.org/drawingml/2006/main" noGrp="1"/>
          </p:cNvSpPr>
          <p:nvPr/>
        </p:nvSpPr>
        <p:spPr>
          <a:xfrm xmlns:a="http://schemas.openxmlformats.org/drawingml/2006/main">
            <a:off x="4476750" y="4648200"/>
            <a:ext cx="323850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Self-excluded expectation</a:t>
            </a:r>
          </a:p>
        </p:txBody>
      </p:sp>
      <p:sp>
        <p:nvSpPr>
          <p:cNvPr id="20" name="">
            <a:extLst xmlns:a="http://schemas.openxmlformats.org/drawingml/2006/main">
              <a:ext uri="{FF2B5EF4-FFF2-40B4-BE49-F238E27FC236}">
                <a16:creationId xmlns:a16="http://schemas.microsoft.com/office/drawing/2014/main" id="{809F8CB7-56BA-45BC-BD0C-833BA2408A79}"/>
              </a:ext>
            </a:extLst>
          </p:cNvPr>
          <p:cNvSpPr>
            <a:spLocks xmlns:a="http://schemas.openxmlformats.org/drawingml/2006/main" noGrp="1"/>
          </p:cNvSpPr>
          <p:nvPr/>
        </p:nvSpPr>
        <p:spPr>
          <a:xfrm xmlns:a="http://schemas.openxmlformats.org/drawingml/2006/main">
            <a:off x="4476750" y="5000625"/>
            <a:ext cx="3238500" cy="8858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Category → style → SKU smoothing; customer excluded; k = 20.</a:t>
            </a:r>
          </a:p>
        </p:txBody>
      </p:sp>
      <p:sp>
        <p:nvSpPr>
          <p:cNvPr id="21" name="">
            <a:extLst xmlns:a="http://schemas.openxmlformats.org/drawingml/2006/main">
              <a:ext uri="{FF2B5EF4-FFF2-40B4-BE49-F238E27FC236}">
                <a16:creationId xmlns:a16="http://schemas.microsoft.com/office/drawing/2014/main" id="{D8AE1F05-69F9-425C-855B-0075A7B2767D}"/>
              </a:ext>
            </a:extLst>
          </p:cNvPr>
          <p:cNvSpPr>
            <a:spLocks xmlns:a="http://schemas.openxmlformats.org/drawingml/2006/main" noGrp="1"/>
          </p:cNvSpPr>
          <p:nvPr/>
        </p:nvSpPr>
        <p:spPr>
          <a:xfrm xmlns:a="http://schemas.openxmlformats.org/drawingml/2006/main">
            <a:off x="8115300" y="4533900"/>
            <a:ext cx="3543300" cy="1419225"/>
          </a:xfrm>
          <a:prstGeom xmlns:a="http://schemas.openxmlformats.org/drawingml/2006/main" prst="roundRect">
            <a:avLst>
              <a:gd name="adj" fmla="val 5369"/>
            </a:avLst>
          </a:prstGeom>
          <a:solidFill xmlns:a="http://schemas.openxmlformats.org/drawingml/2006/main">
            <a:srgbClr val="FFFFFF"/>
          </a:solidFill>
          <a:ln xmlns:a="http://schemas.openxmlformats.org/drawingml/2006/main" w="9525">
            <a:solidFill>
              <a:srgbClr val="D3DED1"/>
            </a:solidFill>
            <a:prstDash val="solid"/>
          </a:ln>
        </p:spPr>
      </p:sp>
      <p:sp>
        <p:nvSpPr>
          <p:cNvPr id="22" name="">
            <a:extLst xmlns:a="http://schemas.openxmlformats.org/drawingml/2006/main">
              <a:ext uri="{FF2B5EF4-FFF2-40B4-BE49-F238E27FC236}">
                <a16:creationId xmlns:a16="http://schemas.microsoft.com/office/drawing/2014/main" id="{7B7C466F-14F8-47CD-89BC-0EB4B1D861B9}"/>
              </a:ext>
            </a:extLst>
          </p:cNvPr>
          <p:cNvSpPr>
            <a:spLocks xmlns:a="http://schemas.openxmlformats.org/drawingml/2006/main" noGrp="1"/>
          </p:cNvSpPr>
          <p:nvPr/>
        </p:nvSpPr>
        <p:spPr>
          <a:xfrm xmlns:a="http://schemas.openxmlformats.org/drawingml/2006/main">
            <a:off x="8267700" y="4648200"/>
            <a:ext cx="3238500" cy="3048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1">
                <a:solidFill>
                  <a:srgbClr val="153C32"/>
                </a:solidFill>
              </a:rPr>
              <a:t>Relationship safeguards</a:t>
            </a:r>
          </a:p>
        </p:txBody>
      </p:sp>
      <p:sp>
        <p:nvSpPr>
          <p:cNvPr id="23" name="">
            <a:extLst xmlns:a="http://schemas.openxmlformats.org/drawingml/2006/main">
              <a:ext uri="{FF2B5EF4-FFF2-40B4-BE49-F238E27FC236}">
                <a16:creationId xmlns:a16="http://schemas.microsoft.com/office/drawing/2014/main" id="{425CEEB8-CB63-4528-A714-F720C8252342}"/>
              </a:ext>
            </a:extLst>
          </p:cNvPr>
          <p:cNvSpPr>
            <a:spLocks xmlns:a="http://schemas.openxmlformats.org/drawingml/2006/main" noGrp="1"/>
          </p:cNvSpPr>
          <p:nvPr/>
        </p:nvSpPr>
        <p:spPr>
          <a:xfrm xmlns:a="http://schemas.openxmlformats.org/drawingml/2006/main">
            <a:off x="8267700" y="5000625"/>
            <a:ext cx="3238500" cy="8858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75" b="0">
                <a:solidFill>
                  <a:srgbClr val="61766A"/>
                </a:solidFill>
              </a:rPr>
              <a:t>At least 2 identifier types; exclude identifiers with fanout &gt; 25.</a:t>
            </a:r>
          </a:p>
        </p:txBody>
      </p:sp>
    </p:spTree>
    <p:extLst>
      <p:ext uri="{BB962C8B-B14F-4D97-AF65-F5344CB8AC3E}">
        <p14:creationId xmlns:p14="http://schemas.microsoft.com/office/powerpoint/2010/main" val="1643336924"/>
      </p:ext>
    </p:extLst>
  </p:cSld>
</p:sld>
</file>

<file path=ppt/slides/slide14.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C8CED4DD-1CBF-4DD4-BF4D-E5A962D4C2C0}"/>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187257"/>
                </a:solidFill>
              </a:rPr>
              <a:t>ARAI  /  XHACK 2026</a:t>
            </a:r>
          </a:p>
        </p:txBody>
      </p:sp>
      <p:sp>
        <p:nvSpPr>
          <p:cNvPr id="3" name="">
            <a:extLst xmlns:a="http://schemas.openxmlformats.org/drawingml/2006/main">
              <a:ext uri="{FF2B5EF4-FFF2-40B4-BE49-F238E27FC236}">
                <a16:creationId xmlns:a16="http://schemas.microsoft.com/office/drawing/2014/main" id="{44DF2B62-4705-40AC-AFEE-4F0C690BB8CE}"/>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61766A"/>
                </a:solidFill>
              </a:rPr>
              <a:t>BACKUP / MODEL DESIGN</a:t>
            </a:r>
          </a:p>
        </p:txBody>
      </p:sp>
      <p:sp>
        <p:nvSpPr>
          <p:cNvPr id="4" name="">
            <a:extLst xmlns:a="http://schemas.openxmlformats.org/drawingml/2006/main">
              <a:ext uri="{FF2B5EF4-FFF2-40B4-BE49-F238E27FC236}">
                <a16:creationId xmlns:a16="http://schemas.microsoft.com/office/drawing/2014/main" id="{7B41D0CA-0822-4B7B-8636-EE1DBE9FF478}"/>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153C32"/>
                </a:solidFill>
              </a:rPr>
              <a:t>Five candidates. One frozen selection rule.</a:t>
            </a:r>
          </a:p>
        </p:txBody>
      </p:sp>
      <p:sp>
        <p:nvSpPr>
          <p:cNvPr id="5" name="">
            <a:extLst xmlns:a="http://schemas.openxmlformats.org/drawingml/2006/main">
              <a:ext uri="{FF2B5EF4-FFF2-40B4-BE49-F238E27FC236}">
                <a16:creationId xmlns:a16="http://schemas.microsoft.com/office/drawing/2014/main" id="{6843C8CD-5534-4903-A8CE-BBCF5AE1BC2D}"/>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61766A"/>
                </a:solidFill>
              </a:rPr>
              <a:t>Simple supervised and unsupervised approaches share the same evaluation population.</a:t>
            </a:r>
          </a:p>
        </p:txBody>
      </p:sp>
      <p:sp>
        <p:nvSpPr>
          <p:cNvPr id="6" name="">
            <a:extLst xmlns:a="http://schemas.openxmlformats.org/drawingml/2006/main">
              <a:ext uri="{FF2B5EF4-FFF2-40B4-BE49-F238E27FC236}">
                <a16:creationId xmlns:a16="http://schemas.microsoft.com/office/drawing/2014/main" id="{3762F205-0B74-4F19-9635-68BD6640ADAE}"/>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3DED1"/>
          </a:solidFill>
          <a:ln xmlns:a="http://schemas.openxmlformats.org/drawingml/2006/main" w="9525">
            <a:solidFill>
              <a:srgbClr val="D3DED1"/>
            </a:solidFill>
            <a:prstDash val="solid"/>
          </a:ln>
        </p:spPr>
      </p:sp>
      <p:sp>
        <p:nvSpPr>
          <p:cNvPr id="7" name="">
            <a:extLst xmlns:a="http://schemas.openxmlformats.org/drawingml/2006/main">
              <a:ext uri="{FF2B5EF4-FFF2-40B4-BE49-F238E27FC236}">
                <a16:creationId xmlns:a16="http://schemas.microsoft.com/office/drawing/2014/main" id="{BC26C006-5D96-4A2C-A7AC-718A7FE53EFD}"/>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61766A"/>
                </a:solidFill>
              </a:rPr>
              <a:t>DESIGN PRESENTATION  •  28 SEPTEMBER 2026</a:t>
            </a:r>
          </a:p>
        </p:txBody>
      </p:sp>
      <p:sp>
        <p:nvSpPr>
          <p:cNvPr id="8" name="">
            <a:extLst xmlns:a="http://schemas.openxmlformats.org/drawingml/2006/main">
              <a:ext uri="{FF2B5EF4-FFF2-40B4-BE49-F238E27FC236}">
                <a16:creationId xmlns:a16="http://schemas.microsoft.com/office/drawing/2014/main" id="{346F548F-433F-41F0-8C4B-18895D5B46D5}"/>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14</a:t>
            </a:r>
          </a:p>
        </p:txBody>
      </p:sp>
      <p:sp>
        <p:nvSpPr>
          <p:cNvPr id="9" name="">
            <a:extLst xmlns:a="http://schemas.openxmlformats.org/drawingml/2006/main">
              <a:ext uri="{FF2B5EF4-FFF2-40B4-BE49-F238E27FC236}">
                <a16:creationId xmlns:a16="http://schemas.microsoft.com/office/drawing/2014/main" id="{C636E9E4-A9E2-44B6-97F5-15D7CC457710}"/>
              </a:ext>
            </a:extLst>
          </p:cNvPr>
          <p:cNvSpPr>
            <a:spLocks xmlns:a="http://schemas.openxmlformats.org/drawingml/2006/main" noGrp="1"/>
          </p:cNvSpPr>
          <p:nvPr/>
        </p:nvSpPr>
        <p:spPr>
          <a:xfrm xmlns:a="http://schemas.openxmlformats.org/drawingml/2006/main">
            <a:off x="533400" y="2514600"/>
            <a:ext cx="35433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3DED1"/>
            </a:solidFill>
            <a:prstDash val="solid"/>
          </a:ln>
        </p:spPr>
      </p:sp>
      <p:sp>
        <p:nvSpPr>
          <p:cNvPr id="10" name="">
            <a:extLst xmlns:a="http://schemas.openxmlformats.org/drawingml/2006/main">
              <a:ext uri="{FF2B5EF4-FFF2-40B4-BE49-F238E27FC236}">
                <a16:creationId xmlns:a16="http://schemas.microsoft.com/office/drawing/2014/main" id="{03CFB275-A02B-4245-92F6-C081F22D8682}"/>
              </a:ext>
            </a:extLst>
          </p:cNvPr>
          <p:cNvSpPr>
            <a:spLocks xmlns:a="http://schemas.openxmlformats.org/drawingml/2006/main" noGrp="1"/>
          </p:cNvSpPr>
          <p:nvPr/>
        </p:nvSpPr>
        <p:spPr>
          <a:xfrm xmlns:a="http://schemas.openxmlformats.org/drawingml/2006/main">
            <a:off x="742950" y="2705100"/>
            <a:ext cx="312420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1 × Logistic regression</a:t>
            </a:r>
          </a:p>
        </p:txBody>
      </p:sp>
      <p:sp>
        <p:nvSpPr>
          <p:cNvPr id="11" name="">
            <a:extLst xmlns:a="http://schemas.openxmlformats.org/drawingml/2006/main">
              <a:ext uri="{FF2B5EF4-FFF2-40B4-BE49-F238E27FC236}">
                <a16:creationId xmlns:a16="http://schemas.microsoft.com/office/drawing/2014/main" id="{C96F4311-691C-457A-80FB-BAFFEB2E6D9A}"/>
              </a:ext>
            </a:extLst>
          </p:cNvPr>
          <p:cNvSpPr>
            <a:spLocks xmlns:a="http://schemas.openxmlformats.org/drawingml/2006/main" noGrp="1"/>
          </p:cNvSpPr>
          <p:nvPr/>
        </p:nvSpPr>
        <p:spPr>
          <a:xfrm xmlns:a="http://schemas.openxmlformats.org/drawingml/2006/main">
            <a:off x="742950" y="3314700"/>
            <a:ext cx="3124200" cy="12954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Scaled features</a:t>
            </a:r>
          </a:p>
          <a:p xmlns:a="http://schemas.openxmlformats.org/drawingml/2006/main">
            <a:r>
              <a:rPr sz="1500" b="0">
                <a:solidFill>
                  <a:srgbClr val="61766A"/>
                </a:solidFill>
              </a:rPr>
              <a:t>C = 1 · lbfgs</a:t>
            </a:r>
          </a:p>
          <a:p xmlns:a="http://schemas.openxmlformats.org/drawingml/2006/main">
            <a:r>
              <a:rPr sz="1500" b="0">
                <a:solidFill>
                  <a:srgbClr val="61766A"/>
                </a:solidFill>
              </a:rPr>
              <a:t>max_iter = 1,000</a:t>
            </a:r>
          </a:p>
        </p:txBody>
      </p:sp>
      <p:sp>
        <p:nvSpPr>
          <p:cNvPr id="12" name="">
            <a:extLst xmlns:a="http://schemas.openxmlformats.org/drawingml/2006/main">
              <a:ext uri="{FF2B5EF4-FFF2-40B4-BE49-F238E27FC236}">
                <a16:creationId xmlns:a16="http://schemas.microsoft.com/office/drawing/2014/main" id="{B94C81F9-B9E7-4980-92FA-27B004B09A0E}"/>
              </a:ext>
            </a:extLst>
          </p:cNvPr>
          <p:cNvSpPr>
            <a:spLocks xmlns:a="http://schemas.openxmlformats.org/drawingml/2006/main" noGrp="1"/>
          </p:cNvSpPr>
          <p:nvPr/>
        </p:nvSpPr>
        <p:spPr>
          <a:xfrm xmlns:a="http://schemas.openxmlformats.org/drawingml/2006/main">
            <a:off x="4324350" y="2514600"/>
            <a:ext cx="3543300" cy="2190750"/>
          </a:xfrm>
          <a:prstGeom xmlns:a="http://schemas.openxmlformats.org/drawingml/2006/main" prst="roundRect">
            <a:avLst>
              <a:gd name="adj" fmla="val 3478"/>
            </a:avLst>
          </a:prstGeom>
          <a:solidFill xmlns:a="http://schemas.openxmlformats.org/drawingml/2006/main">
            <a:srgbClr val="DDEBDD"/>
          </a:solidFill>
          <a:ln xmlns:a="http://schemas.openxmlformats.org/drawingml/2006/main" w="9525">
            <a:solidFill>
              <a:srgbClr val="D3DED1"/>
            </a:solidFill>
            <a:prstDash val="solid"/>
          </a:ln>
        </p:spPr>
      </p:sp>
      <p:sp>
        <p:nvSpPr>
          <p:cNvPr id="13" name="">
            <a:extLst xmlns:a="http://schemas.openxmlformats.org/drawingml/2006/main">
              <a:ext uri="{FF2B5EF4-FFF2-40B4-BE49-F238E27FC236}">
                <a16:creationId xmlns:a16="http://schemas.microsoft.com/office/drawing/2014/main" id="{37AB80C2-24F1-4C39-AA11-3FADA94D679A}"/>
              </a:ext>
            </a:extLst>
          </p:cNvPr>
          <p:cNvSpPr>
            <a:spLocks xmlns:a="http://schemas.openxmlformats.org/drawingml/2006/main" noGrp="1"/>
          </p:cNvSpPr>
          <p:nvPr/>
        </p:nvSpPr>
        <p:spPr>
          <a:xfrm xmlns:a="http://schemas.openxmlformats.org/drawingml/2006/main">
            <a:off x="4533900" y="2705100"/>
            <a:ext cx="312420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2 × Histogram boosting</a:t>
            </a:r>
          </a:p>
        </p:txBody>
      </p:sp>
      <p:sp>
        <p:nvSpPr>
          <p:cNvPr id="14" name="">
            <a:extLst xmlns:a="http://schemas.openxmlformats.org/drawingml/2006/main">
              <a:ext uri="{FF2B5EF4-FFF2-40B4-BE49-F238E27FC236}">
                <a16:creationId xmlns:a16="http://schemas.microsoft.com/office/drawing/2014/main" id="{2385EF9B-3292-4C76-912D-26DB73ECE86A}"/>
              </a:ext>
            </a:extLst>
          </p:cNvPr>
          <p:cNvSpPr>
            <a:spLocks xmlns:a="http://schemas.openxmlformats.org/drawingml/2006/main" noGrp="1"/>
          </p:cNvSpPr>
          <p:nvPr/>
        </p:nvSpPr>
        <p:spPr>
          <a:xfrm xmlns:a="http://schemas.openxmlformats.org/drawingml/2006/main">
            <a:off x="4533900" y="3314700"/>
            <a:ext cx="3124200" cy="12954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15 or 31 leaves</a:t>
            </a:r>
          </a:p>
          <a:p xmlns:a="http://schemas.openxmlformats.org/drawingml/2006/main">
            <a:r>
              <a:rPr sz="1500" b="0">
                <a:solidFill>
                  <a:srgbClr val="61766A"/>
                </a:solidFill>
              </a:rPr>
              <a:t>200 iterations · learning rate 0.05</a:t>
            </a:r>
          </a:p>
          <a:p xmlns:a="http://schemas.openxmlformats.org/drawingml/2006/main">
            <a:r>
              <a:rPr sz="1500" b="0">
                <a:solidFill>
                  <a:srgbClr val="61766A"/>
                </a:solidFill>
              </a:rPr>
              <a:t>min leaf = 50 · L2 = 1</a:t>
            </a:r>
          </a:p>
        </p:txBody>
      </p:sp>
      <p:sp>
        <p:nvSpPr>
          <p:cNvPr id="15" name="">
            <a:extLst xmlns:a="http://schemas.openxmlformats.org/drawingml/2006/main">
              <a:ext uri="{FF2B5EF4-FFF2-40B4-BE49-F238E27FC236}">
                <a16:creationId xmlns:a16="http://schemas.microsoft.com/office/drawing/2014/main" id="{B01015CE-0B6E-4A84-8677-690A394D5912}"/>
              </a:ext>
            </a:extLst>
          </p:cNvPr>
          <p:cNvSpPr>
            <a:spLocks xmlns:a="http://schemas.openxmlformats.org/drawingml/2006/main" noGrp="1"/>
          </p:cNvSpPr>
          <p:nvPr/>
        </p:nvSpPr>
        <p:spPr>
          <a:xfrm xmlns:a="http://schemas.openxmlformats.org/drawingml/2006/main">
            <a:off x="8115300" y="2514600"/>
            <a:ext cx="35433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3DED1"/>
            </a:solidFill>
            <a:prstDash val="solid"/>
          </a:ln>
        </p:spPr>
      </p:sp>
      <p:sp>
        <p:nvSpPr>
          <p:cNvPr id="16" name="">
            <a:extLst xmlns:a="http://schemas.openxmlformats.org/drawingml/2006/main">
              <a:ext uri="{FF2B5EF4-FFF2-40B4-BE49-F238E27FC236}">
                <a16:creationId xmlns:a16="http://schemas.microsoft.com/office/drawing/2014/main" id="{243CCA32-E7DE-4EC1-9FE2-CFF1CE3553D7}"/>
              </a:ext>
            </a:extLst>
          </p:cNvPr>
          <p:cNvSpPr>
            <a:spLocks xmlns:a="http://schemas.openxmlformats.org/drawingml/2006/main" noGrp="1"/>
          </p:cNvSpPr>
          <p:nvPr/>
        </p:nvSpPr>
        <p:spPr>
          <a:xfrm xmlns:a="http://schemas.openxmlformats.org/drawingml/2006/main">
            <a:off x="8324850" y="2705100"/>
            <a:ext cx="312420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2 × Isolation Forest</a:t>
            </a:r>
          </a:p>
        </p:txBody>
      </p:sp>
      <p:sp>
        <p:nvSpPr>
          <p:cNvPr id="17" name="">
            <a:extLst xmlns:a="http://schemas.openxmlformats.org/drawingml/2006/main">
              <a:ext uri="{FF2B5EF4-FFF2-40B4-BE49-F238E27FC236}">
                <a16:creationId xmlns:a16="http://schemas.microsoft.com/office/drawing/2014/main" id="{7A661213-EA61-4EB3-BEEA-CA0049677C9E}"/>
              </a:ext>
            </a:extLst>
          </p:cNvPr>
          <p:cNvSpPr>
            <a:spLocks xmlns:a="http://schemas.openxmlformats.org/drawingml/2006/main" noGrp="1"/>
          </p:cNvSpPr>
          <p:nvPr/>
        </p:nvSpPr>
        <p:spPr>
          <a:xfrm xmlns:a="http://schemas.openxmlformats.org/drawingml/2006/main">
            <a:off x="8324850" y="3314700"/>
            <a:ext cx="3124200" cy="12954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300 trees</a:t>
            </a:r>
          </a:p>
          <a:p xmlns:a="http://schemas.openxmlformats.org/drawingml/2006/main">
            <a:r>
              <a:rPr sz="1500" b="0">
                <a:solidFill>
                  <a:srgbClr val="61766A"/>
                </a:solidFill>
              </a:rPr>
              <a:t>max_samples = 256 or 1,024</a:t>
            </a:r>
          </a:p>
          <a:p xmlns:a="http://schemas.openxmlformats.org/drawingml/2006/main">
            <a:r>
              <a:rPr sz="1500" b="0">
                <a:solidFill>
                  <a:srgbClr val="61766A"/>
                </a:solidFill>
              </a:rPr>
              <a:t>contamination = auto</a:t>
            </a:r>
          </a:p>
        </p:txBody>
      </p:sp>
      <p:sp>
        <p:nvSpPr>
          <p:cNvPr id="18" name="">
            <a:extLst xmlns:a="http://schemas.openxmlformats.org/drawingml/2006/main">
              <a:ext uri="{FF2B5EF4-FFF2-40B4-BE49-F238E27FC236}">
                <a16:creationId xmlns:a16="http://schemas.microsoft.com/office/drawing/2014/main" id="{5348138B-AFBA-4A34-B61D-B2C07D567414}"/>
              </a:ext>
            </a:extLst>
          </p:cNvPr>
          <p:cNvSpPr>
            <a:spLocks xmlns:a="http://schemas.openxmlformats.org/drawingml/2006/main" noGrp="1"/>
          </p:cNvSpPr>
          <p:nvPr/>
        </p:nvSpPr>
        <p:spPr>
          <a:xfrm xmlns:a="http://schemas.openxmlformats.org/drawingml/2006/main">
            <a:off x="533400" y="5172075"/>
            <a:ext cx="11125200" cy="847725"/>
          </a:xfrm>
          <a:prstGeom xmlns:a="http://schemas.openxmlformats.org/drawingml/2006/main" prst="roundRect">
            <a:avLst>
              <a:gd name="adj" fmla="val 8989"/>
            </a:avLst>
          </a:prstGeom>
          <a:solidFill xmlns:a="http://schemas.openxmlformats.org/drawingml/2006/main">
            <a:srgbClr val="DDEBDD"/>
          </a:solidFill>
          <a:ln xmlns:a="http://schemas.openxmlformats.org/drawingml/2006/main" w="9525">
            <a:solidFill>
              <a:srgbClr val="DDEBDD"/>
            </a:solidFill>
            <a:prstDash val="solid"/>
          </a:ln>
        </p:spPr>
      </p:sp>
      <p:sp>
        <p:nvSpPr>
          <p:cNvPr id="19" name="">
            <a:extLst xmlns:a="http://schemas.openxmlformats.org/drawingml/2006/main">
              <a:ext uri="{FF2B5EF4-FFF2-40B4-BE49-F238E27FC236}">
                <a16:creationId xmlns:a16="http://schemas.microsoft.com/office/drawing/2014/main" id="{D2CC88DD-6298-4448-B0D1-0D6F4DCB5F06}"/>
              </a:ext>
            </a:extLst>
          </p:cNvPr>
          <p:cNvSpPr>
            <a:spLocks xmlns:a="http://schemas.openxmlformats.org/drawingml/2006/main" noGrp="1"/>
          </p:cNvSpPr>
          <p:nvPr/>
        </p:nvSpPr>
        <p:spPr>
          <a:xfrm xmlns:a="http://schemas.openxmlformats.org/drawingml/2006/main">
            <a:off x="742950" y="5314950"/>
            <a:ext cx="247650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1">
                <a:solidFill>
                  <a:srgbClr val="187257"/>
                </a:solidFill>
              </a:rPr>
              <a:t>Score interpretation</a:t>
            </a:r>
          </a:p>
        </p:txBody>
      </p:sp>
      <p:sp>
        <p:nvSpPr>
          <p:cNvPr id="20" name="">
            <a:extLst xmlns:a="http://schemas.openxmlformats.org/drawingml/2006/main">
              <a:ext uri="{FF2B5EF4-FFF2-40B4-BE49-F238E27FC236}">
                <a16:creationId xmlns:a16="http://schemas.microsoft.com/office/drawing/2014/main" id="{C8157CBF-CA37-4F49-93DC-D530C825CE65}"/>
              </a:ext>
            </a:extLst>
          </p:cNvPr>
          <p:cNvSpPr>
            <a:spLocks xmlns:a="http://schemas.openxmlformats.org/drawingml/2006/main" noGrp="1"/>
          </p:cNvSpPr>
          <p:nvPr/>
        </p:nvSpPr>
        <p:spPr>
          <a:xfrm xmlns:a="http://schemas.openxmlformats.org/drawingml/2006/main">
            <a:off x="3333750" y="5314950"/>
            <a:ext cx="8096250" cy="571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153C32"/>
                </a:solidFill>
              </a:rPr>
              <a:t>Percentiles use stored training references. They are not calibrated abuse probabilities.</a:t>
            </a:r>
          </a:p>
        </p:txBody>
      </p:sp>
    </p:spTree>
    <p:extLst>
      <p:ext uri="{BB962C8B-B14F-4D97-AF65-F5344CB8AC3E}">
        <p14:creationId xmlns:p14="http://schemas.microsoft.com/office/powerpoint/2010/main" val="3599735"/>
      </p:ext>
    </p:extLst>
  </p:cSld>
</p:sld>
</file>

<file path=ppt/slides/slide15.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079EEF5-93DB-4637-85FD-B7D69086F5F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7B5DCEA-E11F-4158-B123-897A1268A804}"/>
              </a:ext>
            </a:extLst>
          </p:cNvPr>
          <p:cNvSpPr>
            <a:spLocks xmlns:a="http://schemas.openxmlformats.org/drawingml/2006/main" noGrp="1"/>
          </p:cNvSpPr>
          <p:nvPr/>
        </p:nvSpPr>
        <p:spPr>
          <a:xfrm xmlns:a="http://schemas.openxmlformats.org/drawingml/2006/main">
            <a:off x="533400" y="266700"/>
            <a:ext cx="666750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187257"/>
                </a:solidFill>
              </a:rPr>
              <a:t>ARAI  /  XHACK 2026</a:t>
            </a:r>
          </a:p>
        </p:txBody>
      </p:sp>
      <p:sp>
        <p:nvSpPr>
          <p:cNvPr id="3" name="">
            <a:extLst xmlns:a="http://schemas.openxmlformats.org/drawingml/2006/main">
              <a:ext uri="{FF2B5EF4-FFF2-40B4-BE49-F238E27FC236}">
                <a16:creationId xmlns:a16="http://schemas.microsoft.com/office/drawing/2014/main" id="{7A1D5080-0A0F-44AC-A501-5388691739DA}"/>
              </a:ext>
            </a:extLst>
          </p:cNvPr>
          <p:cNvSpPr>
            <a:spLocks xmlns:a="http://schemas.openxmlformats.org/drawingml/2006/main" noGrp="1"/>
          </p:cNvSpPr>
          <p:nvPr/>
        </p:nvSpPr>
        <p:spPr>
          <a:xfrm xmlns:a="http://schemas.openxmlformats.org/drawingml/2006/main">
            <a:off x="8743950" y="266700"/>
            <a:ext cx="29146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0">
                <a:solidFill>
                  <a:srgbClr val="61766A"/>
                </a:solidFill>
              </a:rPr>
              <a:t>BACKUP / SERVING DESIGN</a:t>
            </a:r>
          </a:p>
        </p:txBody>
      </p:sp>
      <p:sp>
        <p:nvSpPr>
          <p:cNvPr id="4" name="">
            <a:extLst xmlns:a="http://schemas.openxmlformats.org/drawingml/2006/main">
              <a:ext uri="{FF2B5EF4-FFF2-40B4-BE49-F238E27FC236}">
                <a16:creationId xmlns:a16="http://schemas.microsoft.com/office/drawing/2014/main" id="{2D1CBC0F-5941-4D0D-B2A5-9F812CCA7E91}"/>
              </a:ext>
            </a:extLst>
          </p:cNvPr>
          <p:cNvSpPr>
            <a:spLocks xmlns:a="http://schemas.openxmlformats.org/drawingml/2006/main" noGrp="1"/>
          </p:cNvSpPr>
          <p:nvPr/>
        </p:nvSpPr>
        <p:spPr>
          <a:xfrm xmlns:a="http://schemas.openxmlformats.org/drawingml/2006/main">
            <a:off x="533400" y="781050"/>
            <a:ext cx="11125200" cy="9715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3150" b="1">
                <a:solidFill>
                  <a:srgbClr val="153C32"/>
                </a:solidFill>
              </a:rPr>
              <a:t>Every result belongs to a reproducible run.</a:t>
            </a:r>
          </a:p>
        </p:txBody>
      </p:sp>
      <p:sp>
        <p:nvSpPr>
          <p:cNvPr id="5" name="">
            <a:extLst xmlns:a="http://schemas.openxmlformats.org/drawingml/2006/main">
              <a:ext uri="{FF2B5EF4-FFF2-40B4-BE49-F238E27FC236}">
                <a16:creationId xmlns:a16="http://schemas.microsoft.com/office/drawing/2014/main" id="{B5990C6D-8D36-4B73-819E-FAFE5810BE44}"/>
              </a:ext>
            </a:extLst>
          </p:cNvPr>
          <p:cNvSpPr>
            <a:spLocks xmlns:a="http://schemas.openxmlformats.org/drawingml/2006/main" noGrp="1"/>
          </p:cNvSpPr>
          <p:nvPr/>
        </p:nvSpPr>
        <p:spPr>
          <a:xfrm xmlns:a="http://schemas.openxmlformats.org/drawingml/2006/main">
            <a:off x="533400" y="1781175"/>
            <a:ext cx="11125200" cy="514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61766A"/>
                </a:solidFill>
              </a:rPr>
              <a:t>A portable local deployment is the first supported delivery target.</a:t>
            </a:r>
          </a:p>
        </p:txBody>
      </p:sp>
      <p:sp>
        <p:nvSpPr>
          <p:cNvPr id="6" name="">
            <a:extLst xmlns:a="http://schemas.openxmlformats.org/drawingml/2006/main">
              <a:ext uri="{FF2B5EF4-FFF2-40B4-BE49-F238E27FC236}">
                <a16:creationId xmlns:a16="http://schemas.microsoft.com/office/drawing/2014/main" id="{4D563FFD-2F3D-49C3-8233-F860695BC694}"/>
              </a:ext>
            </a:extLst>
          </p:cNvPr>
          <p:cNvSpPr>
            <a:spLocks xmlns:a="http://schemas.openxmlformats.org/drawingml/2006/main" noGrp="1"/>
          </p:cNvSpPr>
          <p:nvPr/>
        </p:nvSpPr>
        <p:spPr>
          <a:xfrm xmlns:a="http://schemas.openxmlformats.org/drawingml/2006/main">
            <a:off x="533400" y="6334125"/>
            <a:ext cx="11125200" cy="9525"/>
          </a:xfrm>
          <a:prstGeom xmlns:a="http://schemas.openxmlformats.org/drawingml/2006/main" prst="rect">
            <a:avLst/>
          </a:prstGeom>
          <a:solidFill xmlns:a="http://schemas.openxmlformats.org/drawingml/2006/main">
            <a:srgbClr val="D3DED1"/>
          </a:solidFill>
          <a:ln xmlns:a="http://schemas.openxmlformats.org/drawingml/2006/main" w="9525">
            <a:solidFill>
              <a:srgbClr val="D3DED1"/>
            </a:solidFill>
            <a:prstDash val="solid"/>
          </a:ln>
        </p:spPr>
      </p:sp>
      <p:sp>
        <p:nvSpPr>
          <p:cNvPr id="7" name="">
            <a:extLst xmlns:a="http://schemas.openxmlformats.org/drawingml/2006/main">
              <a:ext uri="{FF2B5EF4-FFF2-40B4-BE49-F238E27FC236}">
                <a16:creationId xmlns:a16="http://schemas.microsoft.com/office/drawing/2014/main" id="{BECC8E58-E26D-459B-A5F7-1AAFA655CD51}"/>
              </a:ext>
            </a:extLst>
          </p:cNvPr>
          <p:cNvSpPr>
            <a:spLocks xmlns:a="http://schemas.openxmlformats.org/drawingml/2006/main" noGrp="1"/>
          </p:cNvSpPr>
          <p:nvPr/>
        </p:nvSpPr>
        <p:spPr>
          <a:xfrm xmlns:a="http://schemas.openxmlformats.org/drawingml/2006/main">
            <a:off x="533400" y="6496050"/>
            <a:ext cx="9429750" cy="190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900" b="0">
                <a:solidFill>
                  <a:srgbClr val="61766A"/>
                </a:solidFill>
              </a:rPr>
              <a:t>DESIGN PRESENTATION  •  28 SEPTEMBER 2026</a:t>
            </a:r>
          </a:p>
        </p:txBody>
      </p:sp>
      <p:sp>
        <p:nvSpPr>
          <p:cNvPr id="8" name="">
            <a:extLst xmlns:a="http://schemas.openxmlformats.org/drawingml/2006/main">
              <a:ext uri="{FF2B5EF4-FFF2-40B4-BE49-F238E27FC236}">
                <a16:creationId xmlns:a16="http://schemas.microsoft.com/office/drawing/2014/main" id="{5C05CEA1-183D-4E3F-A82F-B89FF5EBEA6D}"/>
              </a:ext>
            </a:extLst>
          </p:cNvPr>
          <p:cNvSpPr>
            <a:spLocks xmlns:a="http://schemas.openxmlformats.org/drawingml/2006/main" noGrp="1"/>
          </p:cNvSpPr>
          <p:nvPr/>
        </p:nvSpPr>
        <p:spPr>
          <a:xfrm xmlns:a="http://schemas.openxmlformats.org/drawingml/2006/main">
            <a:off x="11144250" y="6467475"/>
            <a:ext cx="514350" cy="238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200" b="1">
                <a:solidFill>
                  <a:srgbClr val="187257"/>
                </a:solidFill>
              </a:rPr>
              <a:t>15</a:t>
            </a:r>
          </a:p>
        </p:txBody>
      </p:sp>
      <p:sp>
        <p:nvSpPr>
          <p:cNvPr id="9" name="">
            <a:extLst xmlns:a="http://schemas.openxmlformats.org/drawingml/2006/main">
              <a:ext uri="{FF2B5EF4-FFF2-40B4-BE49-F238E27FC236}">
                <a16:creationId xmlns:a16="http://schemas.microsoft.com/office/drawing/2014/main" id="{4F92FE64-1E37-489B-B841-B98F469A181F}"/>
              </a:ext>
            </a:extLst>
          </p:cNvPr>
          <p:cNvSpPr>
            <a:spLocks xmlns:a="http://schemas.openxmlformats.org/drawingml/2006/main" noGrp="1"/>
          </p:cNvSpPr>
          <p:nvPr/>
        </p:nvSpPr>
        <p:spPr>
          <a:xfrm xmlns:a="http://schemas.openxmlformats.org/drawingml/2006/main">
            <a:off x="533400" y="2590800"/>
            <a:ext cx="260985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3DED1"/>
            </a:solidFill>
            <a:prstDash val="solid"/>
          </a:ln>
        </p:spPr>
      </p:sp>
      <p:sp>
        <p:nvSpPr>
          <p:cNvPr id="10" name="">
            <a:extLst xmlns:a="http://schemas.openxmlformats.org/drawingml/2006/main">
              <a:ext uri="{FF2B5EF4-FFF2-40B4-BE49-F238E27FC236}">
                <a16:creationId xmlns:a16="http://schemas.microsoft.com/office/drawing/2014/main" id="{13034CB1-342E-4206-823A-2C5537560900}"/>
              </a:ext>
            </a:extLst>
          </p:cNvPr>
          <p:cNvSpPr>
            <a:spLocks xmlns:a="http://schemas.openxmlformats.org/drawingml/2006/main" noGrp="1"/>
          </p:cNvSpPr>
          <p:nvPr/>
        </p:nvSpPr>
        <p:spPr>
          <a:xfrm xmlns:a="http://schemas.openxmlformats.org/drawingml/2006/main">
            <a:off x="742950" y="2781300"/>
            <a:ext cx="219075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Register</a:t>
            </a:r>
          </a:p>
        </p:txBody>
      </p:sp>
      <p:sp>
        <p:nvSpPr>
          <p:cNvPr id="11" name="">
            <a:extLst xmlns:a="http://schemas.openxmlformats.org/drawingml/2006/main">
              <a:ext uri="{FF2B5EF4-FFF2-40B4-BE49-F238E27FC236}">
                <a16:creationId xmlns:a16="http://schemas.microsoft.com/office/drawing/2014/main" id="{38842ECF-B6D5-461A-AC1F-ED8CE483D9C5}"/>
              </a:ext>
            </a:extLst>
          </p:cNvPr>
          <p:cNvSpPr>
            <a:spLocks xmlns:a="http://schemas.openxmlformats.org/drawingml/2006/main" noGrp="1"/>
          </p:cNvSpPr>
          <p:nvPr/>
        </p:nvSpPr>
        <p:spPr>
          <a:xfrm xmlns:a="http://schemas.openxmlformats.org/drawingml/2006/main">
            <a:off x="742950" y="3390900"/>
            <a:ext cx="2190750" cy="12954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Seven CSVs + manifest; validate schema and hashes</a:t>
            </a:r>
          </a:p>
        </p:txBody>
      </p:sp>
      <p:sp>
        <p:nvSpPr>
          <p:cNvPr id="12" name="">
            <a:extLst xmlns:a="http://schemas.openxmlformats.org/drawingml/2006/main">
              <a:ext uri="{FF2B5EF4-FFF2-40B4-BE49-F238E27FC236}">
                <a16:creationId xmlns:a16="http://schemas.microsoft.com/office/drawing/2014/main" id="{EF066291-89A8-4E43-B358-567C9A5D93BF}"/>
              </a:ext>
            </a:extLst>
          </p:cNvPr>
          <p:cNvSpPr>
            <a:spLocks xmlns:a="http://schemas.openxmlformats.org/drawingml/2006/main" noGrp="1"/>
          </p:cNvSpPr>
          <p:nvPr/>
        </p:nvSpPr>
        <p:spPr>
          <a:xfrm xmlns:a="http://schemas.openxmlformats.org/drawingml/2006/main">
            <a:off x="3181350" y="3571875"/>
            <a:ext cx="152400" cy="171450"/>
          </a:xfrm>
          <a:prstGeom xmlns:a="http://schemas.openxmlformats.org/drawingml/2006/main" prst="rightArrow">
            <a:avLst/>
          </a:prstGeom>
          <a:solidFill xmlns:a="http://schemas.openxmlformats.org/drawingml/2006/main">
            <a:srgbClr val="187257"/>
          </a:solidFill>
          <a:ln xmlns:a="http://schemas.openxmlformats.org/drawingml/2006/main" w="0">
            <a:solidFill>
              <a:srgbClr val="187257"/>
            </a:solidFill>
          </a:ln>
        </p:spPr>
      </p:sp>
      <p:sp>
        <p:nvSpPr>
          <p:cNvPr id="13" name="">
            <a:extLst xmlns:a="http://schemas.openxmlformats.org/drawingml/2006/main">
              <a:ext uri="{FF2B5EF4-FFF2-40B4-BE49-F238E27FC236}">
                <a16:creationId xmlns:a16="http://schemas.microsoft.com/office/drawing/2014/main" id="{DB3AE09D-0C43-4AAA-B3AB-F950E9FA16BE}"/>
              </a:ext>
            </a:extLst>
          </p:cNvPr>
          <p:cNvSpPr>
            <a:spLocks xmlns:a="http://schemas.openxmlformats.org/drawingml/2006/main" noGrp="1"/>
          </p:cNvSpPr>
          <p:nvPr/>
        </p:nvSpPr>
        <p:spPr>
          <a:xfrm xmlns:a="http://schemas.openxmlformats.org/drawingml/2006/main">
            <a:off x="3371850" y="2590800"/>
            <a:ext cx="260985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3DED1"/>
            </a:solidFill>
            <a:prstDash val="solid"/>
          </a:ln>
        </p:spPr>
      </p:sp>
      <p:sp>
        <p:nvSpPr>
          <p:cNvPr id="14" name="">
            <a:extLst xmlns:a="http://schemas.openxmlformats.org/drawingml/2006/main">
              <a:ext uri="{FF2B5EF4-FFF2-40B4-BE49-F238E27FC236}">
                <a16:creationId xmlns:a16="http://schemas.microsoft.com/office/drawing/2014/main" id="{CA0175EB-28E9-428F-B9E1-E8C18E4D9883}"/>
              </a:ext>
            </a:extLst>
          </p:cNvPr>
          <p:cNvSpPr>
            <a:spLocks xmlns:a="http://schemas.openxmlformats.org/drawingml/2006/main" noGrp="1"/>
          </p:cNvSpPr>
          <p:nvPr/>
        </p:nvSpPr>
        <p:spPr>
          <a:xfrm xmlns:a="http://schemas.openxmlformats.org/drawingml/2006/main">
            <a:off x="3581400" y="2781300"/>
            <a:ext cx="219075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Submit</a:t>
            </a:r>
          </a:p>
        </p:txBody>
      </p:sp>
      <p:sp>
        <p:nvSpPr>
          <p:cNvPr id="15" name="">
            <a:extLst xmlns:a="http://schemas.openxmlformats.org/drawingml/2006/main">
              <a:ext uri="{FF2B5EF4-FFF2-40B4-BE49-F238E27FC236}">
                <a16:creationId xmlns:a16="http://schemas.microsoft.com/office/drawing/2014/main" id="{C87DC211-52A8-4F8D-8344-7A41BDDF9EDE}"/>
              </a:ext>
            </a:extLst>
          </p:cNvPr>
          <p:cNvSpPr>
            <a:spLocks xmlns:a="http://schemas.openxmlformats.org/drawingml/2006/main" noGrp="1"/>
          </p:cNvSpPr>
          <p:nvPr/>
        </p:nvSpPr>
        <p:spPr>
          <a:xfrm xmlns:a="http://schemas.openxmlformats.org/drawingml/2006/main">
            <a:off x="3581400" y="3390900"/>
            <a:ext cx="2190750" cy="12954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Dataset and model identity; idempotent request</a:t>
            </a:r>
          </a:p>
        </p:txBody>
      </p:sp>
      <p:sp>
        <p:nvSpPr>
          <p:cNvPr id="16" name="">
            <a:extLst xmlns:a="http://schemas.openxmlformats.org/drawingml/2006/main">
              <a:ext uri="{FF2B5EF4-FFF2-40B4-BE49-F238E27FC236}">
                <a16:creationId xmlns:a16="http://schemas.microsoft.com/office/drawing/2014/main" id="{6FFE6C39-EB5E-4D4A-AFB6-971C1AA46BC7}"/>
              </a:ext>
            </a:extLst>
          </p:cNvPr>
          <p:cNvSpPr>
            <a:spLocks xmlns:a="http://schemas.openxmlformats.org/drawingml/2006/main" noGrp="1"/>
          </p:cNvSpPr>
          <p:nvPr/>
        </p:nvSpPr>
        <p:spPr>
          <a:xfrm xmlns:a="http://schemas.openxmlformats.org/drawingml/2006/main">
            <a:off x="6019800" y="3571875"/>
            <a:ext cx="152400" cy="171450"/>
          </a:xfrm>
          <a:prstGeom xmlns:a="http://schemas.openxmlformats.org/drawingml/2006/main" prst="rightArrow">
            <a:avLst/>
          </a:prstGeom>
          <a:solidFill xmlns:a="http://schemas.openxmlformats.org/drawingml/2006/main">
            <a:srgbClr val="187257"/>
          </a:solidFill>
          <a:ln xmlns:a="http://schemas.openxmlformats.org/drawingml/2006/main" w="0">
            <a:solidFill>
              <a:srgbClr val="187257"/>
            </a:solidFill>
          </a:ln>
        </p:spPr>
      </p:sp>
      <p:sp>
        <p:nvSpPr>
          <p:cNvPr id="17" name="">
            <a:extLst xmlns:a="http://schemas.openxmlformats.org/drawingml/2006/main">
              <a:ext uri="{FF2B5EF4-FFF2-40B4-BE49-F238E27FC236}">
                <a16:creationId xmlns:a16="http://schemas.microsoft.com/office/drawing/2014/main" id="{A72A304A-89D3-45CF-B9E1-ECA3C7E54DF5}"/>
              </a:ext>
            </a:extLst>
          </p:cNvPr>
          <p:cNvSpPr>
            <a:spLocks xmlns:a="http://schemas.openxmlformats.org/drawingml/2006/main" noGrp="1"/>
          </p:cNvSpPr>
          <p:nvPr/>
        </p:nvSpPr>
        <p:spPr>
          <a:xfrm xmlns:a="http://schemas.openxmlformats.org/drawingml/2006/main">
            <a:off x="6210300" y="2590800"/>
            <a:ext cx="2609850" cy="2190750"/>
          </a:xfrm>
          <a:prstGeom xmlns:a="http://schemas.openxmlformats.org/drawingml/2006/main" prst="roundRect">
            <a:avLst>
              <a:gd name="adj" fmla="val 3478"/>
            </a:avLst>
          </a:prstGeom>
          <a:solidFill xmlns:a="http://schemas.openxmlformats.org/drawingml/2006/main">
            <a:srgbClr val="DDEBDD"/>
          </a:solidFill>
          <a:ln xmlns:a="http://schemas.openxmlformats.org/drawingml/2006/main" w="9525">
            <a:solidFill>
              <a:srgbClr val="D3DED1"/>
            </a:solidFill>
            <a:prstDash val="solid"/>
          </a:ln>
        </p:spPr>
      </p:sp>
      <p:sp>
        <p:nvSpPr>
          <p:cNvPr id="18" name="">
            <a:extLst xmlns:a="http://schemas.openxmlformats.org/drawingml/2006/main">
              <a:ext uri="{FF2B5EF4-FFF2-40B4-BE49-F238E27FC236}">
                <a16:creationId xmlns:a16="http://schemas.microsoft.com/office/drawing/2014/main" id="{C317827A-E872-4897-8D0B-5222DC953D3A}"/>
              </a:ext>
            </a:extLst>
          </p:cNvPr>
          <p:cNvSpPr>
            <a:spLocks xmlns:a="http://schemas.openxmlformats.org/drawingml/2006/main" noGrp="1"/>
          </p:cNvSpPr>
          <p:nvPr/>
        </p:nvSpPr>
        <p:spPr>
          <a:xfrm xmlns:a="http://schemas.openxmlformats.org/drawingml/2006/main">
            <a:off x="6419850" y="2781300"/>
            <a:ext cx="219075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Execute</a:t>
            </a:r>
          </a:p>
        </p:txBody>
      </p:sp>
      <p:sp>
        <p:nvSpPr>
          <p:cNvPr id="19" name="">
            <a:extLst xmlns:a="http://schemas.openxmlformats.org/drawingml/2006/main">
              <a:ext uri="{FF2B5EF4-FFF2-40B4-BE49-F238E27FC236}">
                <a16:creationId xmlns:a16="http://schemas.microsoft.com/office/drawing/2014/main" id="{5B06C424-2BBD-4F58-B3F8-78B3EE94DE1E}"/>
              </a:ext>
            </a:extLst>
          </p:cNvPr>
          <p:cNvSpPr>
            <a:spLocks xmlns:a="http://schemas.openxmlformats.org/drawingml/2006/main" noGrp="1"/>
          </p:cNvSpPr>
          <p:nvPr/>
        </p:nvSpPr>
        <p:spPr>
          <a:xfrm xmlns:a="http://schemas.openxmlformats.org/drawingml/2006/main">
            <a:off x="6419850" y="3390900"/>
            <a:ext cx="2190750" cy="12954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One worker; frozen features and bundle; atomic publication</a:t>
            </a:r>
          </a:p>
        </p:txBody>
      </p:sp>
      <p:sp>
        <p:nvSpPr>
          <p:cNvPr id="20" name="">
            <a:extLst xmlns:a="http://schemas.openxmlformats.org/drawingml/2006/main">
              <a:ext uri="{FF2B5EF4-FFF2-40B4-BE49-F238E27FC236}">
                <a16:creationId xmlns:a16="http://schemas.microsoft.com/office/drawing/2014/main" id="{8E303BF7-55BB-4E4F-9549-1BE7ADDBFEAA}"/>
              </a:ext>
            </a:extLst>
          </p:cNvPr>
          <p:cNvSpPr>
            <a:spLocks xmlns:a="http://schemas.openxmlformats.org/drawingml/2006/main" noGrp="1"/>
          </p:cNvSpPr>
          <p:nvPr/>
        </p:nvSpPr>
        <p:spPr>
          <a:xfrm xmlns:a="http://schemas.openxmlformats.org/drawingml/2006/main">
            <a:off x="8858250" y="3571875"/>
            <a:ext cx="152400" cy="171450"/>
          </a:xfrm>
          <a:prstGeom xmlns:a="http://schemas.openxmlformats.org/drawingml/2006/main" prst="rightArrow">
            <a:avLst/>
          </a:prstGeom>
          <a:solidFill xmlns:a="http://schemas.openxmlformats.org/drawingml/2006/main">
            <a:srgbClr val="187257"/>
          </a:solidFill>
          <a:ln xmlns:a="http://schemas.openxmlformats.org/drawingml/2006/main" w="0">
            <a:solidFill>
              <a:srgbClr val="187257"/>
            </a:solidFill>
          </a:ln>
        </p:spPr>
      </p:sp>
      <p:sp>
        <p:nvSpPr>
          <p:cNvPr id="21" name="">
            <a:extLst xmlns:a="http://schemas.openxmlformats.org/drawingml/2006/main">
              <a:ext uri="{FF2B5EF4-FFF2-40B4-BE49-F238E27FC236}">
                <a16:creationId xmlns:a16="http://schemas.microsoft.com/office/drawing/2014/main" id="{EAAACE2C-C087-4CFF-BD50-7A1EF865A2AA}"/>
              </a:ext>
            </a:extLst>
          </p:cNvPr>
          <p:cNvSpPr>
            <a:spLocks xmlns:a="http://schemas.openxmlformats.org/drawingml/2006/main" noGrp="1"/>
          </p:cNvSpPr>
          <p:nvPr/>
        </p:nvSpPr>
        <p:spPr>
          <a:xfrm xmlns:a="http://schemas.openxmlformats.org/drawingml/2006/main">
            <a:off x="9048750" y="2590800"/>
            <a:ext cx="260985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3DED1"/>
            </a:solidFill>
            <a:prstDash val="solid"/>
          </a:ln>
        </p:spPr>
      </p:sp>
      <p:sp>
        <p:nvSpPr>
          <p:cNvPr id="22" name="">
            <a:extLst xmlns:a="http://schemas.openxmlformats.org/drawingml/2006/main">
              <a:ext uri="{FF2B5EF4-FFF2-40B4-BE49-F238E27FC236}">
                <a16:creationId xmlns:a16="http://schemas.microsoft.com/office/drawing/2014/main" id="{572AE980-F442-4A97-9787-F58DCD8DB5D7}"/>
              </a:ext>
            </a:extLst>
          </p:cNvPr>
          <p:cNvSpPr>
            <a:spLocks xmlns:a="http://schemas.openxmlformats.org/drawingml/2006/main" noGrp="1"/>
          </p:cNvSpPr>
          <p:nvPr/>
        </p:nvSpPr>
        <p:spPr>
          <a:xfrm xmlns:a="http://schemas.openxmlformats.org/drawingml/2006/main">
            <a:off x="9258300" y="2781300"/>
            <a:ext cx="219075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725" b="1">
                <a:solidFill>
                  <a:srgbClr val="153C32"/>
                </a:solidFill>
              </a:rPr>
              <a:t>Review</a:t>
            </a:r>
          </a:p>
        </p:txBody>
      </p:sp>
      <p:sp>
        <p:nvSpPr>
          <p:cNvPr id="23" name="">
            <a:extLst xmlns:a="http://schemas.openxmlformats.org/drawingml/2006/main">
              <a:ext uri="{FF2B5EF4-FFF2-40B4-BE49-F238E27FC236}">
                <a16:creationId xmlns:a16="http://schemas.microsoft.com/office/drawing/2014/main" id="{E6B4D77A-4A81-4AA4-BE5E-07A959FE8AD5}"/>
              </a:ext>
            </a:extLst>
          </p:cNvPr>
          <p:cNvSpPr>
            <a:spLocks xmlns:a="http://schemas.openxmlformats.org/drawingml/2006/main" noGrp="1"/>
          </p:cNvSpPr>
          <p:nvPr/>
        </p:nvSpPr>
        <p:spPr>
          <a:xfrm xmlns:a="http://schemas.openxmlformats.org/drawingml/2006/main">
            <a:off x="9258300" y="3390900"/>
            <a:ext cx="2190750" cy="12954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00" b="0">
                <a:solidFill>
                  <a:srgbClr val="61766A"/>
                </a:solidFill>
              </a:rPr>
              <a:t>Immutable outputs with append-only analyst notes</a:t>
            </a:r>
          </a:p>
        </p:txBody>
      </p:sp>
      <p:sp>
        <p:nvSpPr>
          <p:cNvPr id="24" name="">
            <a:extLst xmlns:a="http://schemas.openxmlformats.org/drawingml/2006/main">
              <a:ext uri="{FF2B5EF4-FFF2-40B4-BE49-F238E27FC236}">
                <a16:creationId xmlns:a16="http://schemas.microsoft.com/office/drawing/2014/main" id="{A241976C-59C2-4BAA-9158-16534B8CAE3D}"/>
              </a:ext>
            </a:extLst>
          </p:cNvPr>
          <p:cNvSpPr>
            <a:spLocks xmlns:a="http://schemas.openxmlformats.org/drawingml/2006/main" noGrp="1"/>
          </p:cNvSpPr>
          <p:nvPr/>
        </p:nvSpPr>
        <p:spPr>
          <a:xfrm xmlns:a="http://schemas.openxmlformats.org/drawingml/2006/main">
            <a:off x="533400" y="5286375"/>
            <a:ext cx="11125200" cy="847725"/>
          </a:xfrm>
          <a:prstGeom xmlns:a="http://schemas.openxmlformats.org/drawingml/2006/main" prst="roundRect">
            <a:avLst>
              <a:gd name="adj" fmla="val 8989"/>
            </a:avLst>
          </a:prstGeom>
          <a:solidFill xmlns:a="http://schemas.openxmlformats.org/drawingml/2006/main">
            <a:srgbClr val="DDEBDD"/>
          </a:solidFill>
          <a:ln xmlns:a="http://schemas.openxmlformats.org/drawingml/2006/main" w="9525">
            <a:solidFill>
              <a:srgbClr val="DDEBDD"/>
            </a:solidFill>
            <a:prstDash val="solid"/>
          </a:ln>
        </p:spPr>
      </p:sp>
      <p:sp>
        <p:nvSpPr>
          <p:cNvPr id="25" name="">
            <a:extLst xmlns:a="http://schemas.openxmlformats.org/drawingml/2006/main">
              <a:ext uri="{FF2B5EF4-FFF2-40B4-BE49-F238E27FC236}">
                <a16:creationId xmlns:a16="http://schemas.microsoft.com/office/drawing/2014/main" id="{D8695A2A-B4D5-4B2A-940D-B6E7402C70CB}"/>
              </a:ext>
            </a:extLst>
          </p:cNvPr>
          <p:cNvSpPr>
            <a:spLocks xmlns:a="http://schemas.openxmlformats.org/drawingml/2006/main" noGrp="1"/>
          </p:cNvSpPr>
          <p:nvPr/>
        </p:nvSpPr>
        <p:spPr>
          <a:xfrm xmlns:a="http://schemas.openxmlformats.org/drawingml/2006/main">
            <a:off x="742950" y="5429250"/>
            <a:ext cx="2476500" cy="5524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1">
                <a:solidFill>
                  <a:srgbClr val="187257"/>
                </a:solidFill>
              </a:rPr>
              <a:t>Operational safeguards</a:t>
            </a:r>
          </a:p>
        </p:txBody>
      </p:sp>
      <p:sp>
        <p:nvSpPr>
          <p:cNvPr id="26" name="">
            <a:extLst xmlns:a="http://schemas.openxmlformats.org/drawingml/2006/main">
              <a:ext uri="{FF2B5EF4-FFF2-40B4-BE49-F238E27FC236}">
                <a16:creationId xmlns:a16="http://schemas.microsoft.com/office/drawing/2014/main" id="{F7B55B55-4D90-47D5-840D-4A4EEFC87B87}"/>
              </a:ext>
            </a:extLst>
          </p:cNvPr>
          <p:cNvSpPr>
            <a:spLocks xmlns:a="http://schemas.openxmlformats.org/drawingml/2006/main" noGrp="1"/>
          </p:cNvSpPr>
          <p:nvPr/>
        </p:nvSpPr>
        <p:spPr>
          <a:xfrm xmlns:a="http://schemas.openxmlformats.org/drawingml/2006/main">
            <a:off x="3333750" y="5429250"/>
            <a:ext cx="8096250" cy="5715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575" b="0">
                <a:solidFill>
                  <a:srgbClr val="153C32"/>
                </a:solidFill>
              </a:rPr>
              <a:t>Durable run states, retry and crash recovery, versioned artifacts, externalized configuration.</a:t>
            </a:r>
          </a:p>
        </p:txBody>
      </p:sp>
    </p:spTree>
    <p:extLst>
      <p:ext uri="{BB962C8B-B14F-4D97-AF65-F5344CB8AC3E}">
        <p14:creationId xmlns:p14="http://schemas.microsoft.com/office/powerpoint/2010/main" val="19254866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2026-09-26T17:23:43.5500000Z</dcterms:created>
  <dcterms:modified xsi:type="dcterms:W3CDTF">2026-09-26T17:23:43.5500000Z</dcterms:modified>
</coreProperties>
</file>