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distinction: a return is an event, not proof of abuse. ARAI is a proposed investigation workbench for online apparel. The goal of this meeting is to align on a feasible design and delivery plan. Suggested main presentation time is 10–12 minutes; slides 14–16 are backup.</a:t>
            </a:r>
          </a:p>
          <a:p>
            <a:endParaRPr/>
          </a:p>
          <a:p>
            <a:r>
              <a:t>Design baseline: components/01-goals-and-scope.md; components/13-react-vite-ui.md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ambiguity before introducing any model. We do not claim a quantified business loss because no verified business dataset or cost model exists in this baseline. Benign heavy returners, defect-driven buyers and shared households are explicit controls in evaluation.</a:t>
            </a:r>
          </a:p>
          <a:p>
            <a:endParaRPr/>
          </a:p>
          <a:p>
            <a:r>
              <a:t>Design baseline: components/01-goals-and-scope.md; components/02-synthetic-data-generation.md; components/08-model-evaluation.md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produces one investigation ranking. Individual signal panels do not claim that a model predicted an abuse type. The fallback preserves a demonstrable end-to-end product even if no candidate clears the evaluation gate. This is a design choice, not a claim that a model has already passed.</a:t>
            </a:r>
          </a:p>
          <a:p>
            <a:endParaRPr/>
          </a:p>
          <a:p>
            <a:r>
              <a:t>Design baseline: components/01-goals-and-scope.md; components/09-model-selection.md; components/11-inference-service.md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fourth view is a category-relative timing indicator. It does not establish physical wear or proven wardrobing. Relationship evidence requires multiple identifier types and excludes high-fanout identifiers. The UI exposes context so an analyst can challenge the ranking.</a:t>
            </a:r>
          </a:p>
          <a:p>
            <a:endParaRPr/>
          </a:p>
          <a:p>
            <a:r>
              <a:t>Design baseline: components/06-feature-engineering.md; components/13-react-vite-ui.md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top lane as offline components and the lower lane as application components. The generator produces operational tables and separate private truth. The shared feature engine supplies offline experiments and inference. Training, validation and held-out testing select a versioned frozen bundle. The analyst uses React/Vite to call FastAPI. One worker executes scoring using the bundle, operational data and the same feature contract. PostgreSQL holds durable run state, metadata and append-only audit; artifact storage holds immutable outputs. Arrows summarize primary component dependencies; API reads and responses also use the metadata/result stores. Private truth remains offline and is never a serving input.</a:t>
            </a:r>
          </a:p>
          <a:p>
            <a:endParaRPr/>
          </a:p>
          <a:p>
            <a:r>
              <a:t>Design baseline: components/03-data-contracts.md; components/06-feature-engineering.md; components/10-artifacts-and-versioning.md; components/11-inference-service.md; components/12-fastapi-and-api-contract.md; components/14-storage-and-audit.md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describes model development: generate independent worlds, validate operational data, explore and compute features, train five candidates on ten worlds, select using five validation worlds and evaluate the frozen selection once on five held-out test worlds. Package the selected model if it clears the required gate; otherwise package the disclosed baseline path. The separate private-truth channel supports supervised training and offline evaluation but is excluded from feature columns. The lower row describes a scoring run. Register seven operational CSVs and their manifest, reject invalid inputs, compute the same features, score using a frozen bundle without fitting, publish immutable results atomically, then expose evidence and append-only analyst notes in the UI. Dataset validation happens at registration and run preflight as defined by the API contracts.</a:t>
            </a:r>
          </a:p>
          <a:p>
            <a:endParaRPr/>
          </a:p>
          <a:p>
            <a:r>
              <a:t>Design baseline: components/02-synthetic-data-generation.md; components/04-data-validation-cleaning.md; components/05-data-exploration.md; components/06-feature-engineering.md; components/07-training-and-validation.md; components/09-model-selection.md; components/11-inference-service.md; components/12-fastapi-and-api-contract.md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Catalog input contains 300 SKUs and 37 styles. Ten thousand profiles per world is the planned generator scale, not a completed dataset claim. The reference history is 10 September 2025 to 9 September 2026, cutoff 23:59:59 IST. Honest activity is created first; reserved units receive explicit abuse actions. Labels derive from completed submitted deception or temporary use, not from persona names or return volume.</a:t>
            </a:r>
          </a:p>
          <a:p>
            <a:endParaRPr/>
          </a:p>
          <a:p>
            <a:r>
              <a:t>Design baseline: components/02-synthetic-data-generation.md; components/03-data-contracts.md; contracts/generator-config.yaml; contracts/private-truth.yaml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candidates use the same eligible population, features and review budget. Select on validation precision, then worst benign-group false-positive rate, then fixed ordinal. Freeze the selected fit and test once; do not search for a runner-up after test failure. Each validation benign group requires at least 200 pooled negatives. Sensitivity checks use 1% and 10% budgets. Three fixture worlds and seven stress worlds bring the overall seed plan to 31 distinct seeds. No performance results exist yet.</a:t>
            </a:r>
          </a:p>
          <a:p>
            <a:endParaRPr/>
          </a:p>
          <a:p>
            <a:r>
              <a:t>Design baseline: components/07-training-and-validation.md; components/08-model-evaluation.md; components/09-model-selection.md; contracts/experiment.yaml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image comes from the revised standalone wireframe already included in the portable spec. Its numbers are fixtures, not experiment outcomes. Key corrections from the original PDF are INR, apparel context, percentile rather than confidence, separate overall and wardrobing scores, product context and analyst notes. The wireframe can be demonstrated offline separately from this slide; no laptop-specific hyperlink is required by this PowerPoint.</a:t>
            </a:r>
          </a:p>
          <a:p>
            <a:endParaRPr/>
          </a:p>
          <a:p>
            <a:r>
              <a:t>Design baseline: components/13-react-vite-ui.md; wireframe/index.html; verification/wireframe-case.png</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stack is specified, not installed or deployed as a completed system. Local-first packaging supports development on another machine. Secrets stay outside the portable spec. Optional VM hosting adds TLS, access control and private database networking after the local rehearsal works. Do not expand this slide into unverified performance or compatibility claims.</a:t>
            </a:r>
          </a:p>
          <a:p>
            <a:endParaRPr/>
          </a:p>
          <a:p>
            <a:r>
              <a:t>Design baseline: components/07-training-and-validation.md; components/12-fastapi-and-api-contract.md; components/13-react-vite-ui.md;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schedule is a proposal, not a claim that owners or deadlines have already been committed. Suggested ownership lanes are data/ML, backend/runtime and frontend/integration, with shared acceptance checks. Bootstrap a small fixture world, then prove a baseline-driven complete workflow before running the full experiment. Preserve the specified evaluation protocol; reduce presentation polish or defer cloud hosting if time is tight. Confirm the actual demo day within the existing November 1–14 target.</a:t>
            </a:r>
          </a:p>
          <a:p>
            <a:endParaRPr/>
          </a:p>
          <a:p>
            <a:r>
              <a:t>Design baseline: components/16-testing-and-delivery.md;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Synthetic success establishes behavior within controlled worlds, not proven fraud detection in production. The baseline fallback is an intentional feasibility mechanism. Application failure handling includes idempotent submissions, stable run states, recoverable publication and durable audit records. Cloud deployment is optional after rehearsal.</a:t>
            </a:r>
          </a:p>
          <a:p>
            <a:endParaRPr/>
          </a:p>
          <a:p>
            <a:r>
              <a:t>Design baseline: components/08-model-evaluation.md; components/11-inference-service.md; components/14-storage-and-audit.md; components/16-testing-and-delivery.md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the main presentation here. The specifications and wireframe are ready; the 90 runtime acceptance criteria have not yet been executed against an implementation. We have not yet built or trained the product. Ask the reviewers to align on scope and architecture, assign owners and confirm the demo date. The next concrete milestone is a small reproducible world connected to the baseline-driven UI. Backup slides follow only if questions require them.</a:t>
            </a:r>
          </a:p>
          <a:p>
            <a:endParaRPr/>
          </a:p>
          <a:p>
            <a:r>
              <a:t>Design baseline: README.md; components/16-testing-and-delivery.md; wireframe/index.html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Maturity depends on delivery plus the captured return window being no later than the cutoff. Use customer-excluding hierarchical expectations to avoid using the customer to explain their own behavior. Graph evidence requires two types of shared identifiers and removes high-fanout identifiers. Category-relative timing supports a separate wardrobing indicator and does not infer physical condition.</a:t>
            </a:r>
          </a:p>
          <a:p>
            <a:endParaRPr/>
          </a:p>
          <a:p>
            <a:r>
              <a:t>Design baseline: components/06-feature-engineering.md; contracts/features.yaml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Histogram boosting has early stopping disabled. Supervised percentile references use grouped-world out-of-fold training scores; Isolation Forest uses in-sample training references. Select by validation top-budget precision, then worst benign-group FPR, then candidate ordinal. Freeze and evaluate once on held-out test worlds. No runtime training and no runner-up substitution after a failed test.</a:t>
            </a:r>
          </a:p>
          <a:p>
            <a:endParaRPr/>
          </a:p>
          <a:p>
            <a:r>
              <a:t>Design baseline: components/07-training-and-validation.md; components/09-model-selection.md; contracts/experiment.yaml</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inference service independent of private truth. An idempotency key prevents accidental duplicate execution; durable status and atomic result publication handle failures consistently. Bundle versions tie together preprocessing, model and reference distribution. PostgreSQL holds metadata and audit; files hold immutable tabular results. Develop from the portable specification on another machine with no fixed author-laptop paths. Optional VM hosting comes after a working local rehearsal.</a:t>
            </a:r>
          </a:p>
          <a:p>
            <a:endParaRPr/>
          </a:p>
          <a:p>
            <a:r>
              <a:t>Design baseline: components/10-artifacts-and-versioning.md; components/11-inference-service.md; components/12-fastapi-and-api-contract.md; components/14-storage-and-audit.md; components/15-security-deployment-portability.md</a:t>
            </a:r>
          </a:p>
          <a:p>
            <a:r>
              <a:t>Status: proposed implementation unless explicitly marked ready. UI numbers are illustrative synthetic fixtures.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90B06E9-B934-44BF-8563-A3B53B095CCC}"/>
              </a:ext>
            </a:extLst>
          </p:cNvPr>
          <p:cNvSpPr>
            <a:spLocks noGrp="1"/>
          </p:cNvSpPr>
          <p:nvPr>
            <p:ph type="ctrTitle"/>
          </p:nvPr>
        </p:nvSpPr>
        <p:spPr>
          <a:xfrm>
            <a:off x="1524000" y="1122363"/>
            <a:ext cx="9144000" cy="2387600"/>
          </a:xfrm>
        </p:spPr>
        <p:txBody>
          <a:bodyPr anchor="b"/>
          <a:lstStyle>
            <a:lvl1pPr algn="ctr">
              <a:buNone/>
              <a:defRPr sz="6000"/>
            </a:lvl1pPr>
          </a:lstStyle>
          <a:p>
            <a:endParaRPr/>
          </a:p>
        </p:txBody>
      </p:sp>
      <p:sp>
        <p:nvSpPr>
          <p:cNvPr id="2" name="Subtitle 2">
            <a:extLst>
              <a:ext uri="{FF2B5EF4-FFF2-40B4-BE49-F238E27FC236}">
                <a16:creationId xmlns:a16="http://schemas.microsoft.com/office/drawing/2014/main" id="{09091061-1766-459C-B24B-6902C0F22E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3" name="Date Placeholder 3">
            <a:extLst>
              <a:ext uri="{FF2B5EF4-FFF2-40B4-BE49-F238E27FC236}">
                <a16:creationId xmlns:a16="http://schemas.microsoft.com/office/drawing/2014/main" id="{1A2B4FEF-81A2-4002-9333-68E2214CA55F}"/>
              </a:ext>
            </a:extLst>
          </p:cNvPr>
          <p:cNvSpPr>
            <a:spLocks noGrp="1"/>
          </p:cNvSpPr>
          <p:nvPr>
            <p:ph type="dt" idx="10"/>
          </p:nvPr>
        </p:nvSpPr>
        <p:spPr/>
        <p:txBody>
          <a:bodyPr/>
          <a:lstStyle/>
          <a:p>
            <a:endParaRPr/>
          </a:p>
        </p:txBody>
      </p:sp>
      <p:sp>
        <p:nvSpPr>
          <p:cNvPr id="4" name="Footer Placeholder 4">
            <a:extLst>
              <a:ext uri="{FF2B5EF4-FFF2-40B4-BE49-F238E27FC236}">
                <a16:creationId xmlns:a16="http://schemas.microsoft.com/office/drawing/2014/main" id="{08BCA171-8BB8-42FC-A265-764F5D077518}"/>
              </a:ext>
            </a:extLst>
          </p:cNvPr>
          <p:cNvSpPr>
            <a:spLocks noGrp="1"/>
          </p:cNvSpPr>
          <p:nvPr>
            <p:ph type="ftr" idx="11"/>
          </p:nvPr>
        </p:nvSpPr>
        <p:spPr/>
        <p:txBody>
          <a:bodyPr/>
          <a:lstStyle/>
          <a:p>
            <a:endParaRPr/>
          </a:p>
        </p:txBody>
      </p:sp>
      <p:sp>
        <p:nvSpPr>
          <p:cNvPr id="5"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DB8B719-A891-4D91-9EC8-5E632554501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3C32"/>
        </a:solidFill>
        <a:effectLst/>
      </p:bgPr>
    </p:bg>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A6E434C-A3D3-4384-B4BA-4355DACC0BED}"/>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DDEBDD"/>
                </a:solidFill>
              </a:rPr>
              <a:t>ARAI  /  XHACK 2026</a:t>
            </a:r>
          </a:p>
        </p:txBody>
      </p:sp>
      <p:sp>
        <p:nvSpPr>
          <p:cNvPr id="3" name="Rectangle 2">
            <a:extLst>
              <a:ext uri="{FF2B5EF4-FFF2-40B4-BE49-F238E27FC236}">
                <a16:creationId xmlns:a16="http://schemas.microsoft.com/office/drawing/2014/main" id="{C8C5C078-7A39-4410-94A2-EE9FF53E1A33}"/>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DDEBDD"/>
                </a:solidFill>
              </a:rPr>
              <a:t>DESIGN REVIEW</a:t>
            </a:r>
          </a:p>
        </p:txBody>
      </p:sp>
      <p:sp>
        <p:nvSpPr>
          <p:cNvPr id="4" name="Rectangle 3">
            <a:extLst>
              <a:ext uri="{FF2B5EF4-FFF2-40B4-BE49-F238E27FC236}">
                <a16:creationId xmlns:a16="http://schemas.microsoft.com/office/drawing/2014/main" id="{C14E914F-A14F-4F52-8564-0FD7DDB237DD}"/>
              </a:ext>
            </a:extLst>
          </p:cNvPr>
          <p:cNvSpPr>
            <a:spLocks noGrp="1"/>
          </p:cNvSpPr>
          <p:nvPr/>
        </p:nvSpPr>
        <p:spPr>
          <a:xfrm>
            <a:off x="533400" y="6334125"/>
            <a:ext cx="11125200" cy="9525"/>
          </a:xfrm>
          <a:prstGeom prst="rect">
            <a:avLst/>
          </a:prstGeom>
          <a:solidFill>
            <a:srgbClr val="396052"/>
          </a:solidFill>
          <a:ln w="9525">
            <a:solidFill>
              <a:srgbClr val="396052"/>
            </a:solidFill>
            <a:prstDash val="solid"/>
          </a:ln>
        </p:spPr>
        <p:txBody>
          <a:bodyPr/>
          <a:lstStyle/>
          <a:p>
            <a:endParaRPr lang="en-GB"/>
          </a:p>
        </p:txBody>
      </p:sp>
      <p:sp>
        <p:nvSpPr>
          <p:cNvPr id="5" name="Rectangle 4">
            <a:extLst>
              <a:ext uri="{FF2B5EF4-FFF2-40B4-BE49-F238E27FC236}">
                <a16:creationId xmlns:a16="http://schemas.microsoft.com/office/drawing/2014/main" id="{B14372AC-33BE-4A0D-8ABF-C8763F130017}"/>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DDEBDD"/>
                </a:solidFill>
              </a:rPr>
              <a:t>DESIGN PRESENTATION  •  28 SEPTEMBER 2026</a:t>
            </a:r>
          </a:p>
        </p:txBody>
      </p:sp>
      <p:sp>
        <p:nvSpPr>
          <p:cNvPr id="6" name="Rectangle 5">
            <a:extLst>
              <a:ext uri="{FF2B5EF4-FFF2-40B4-BE49-F238E27FC236}">
                <a16:creationId xmlns:a16="http://schemas.microsoft.com/office/drawing/2014/main" id="{BEF9D9AF-6A51-4292-99AA-CAC269E3F589}"/>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DDEBDD"/>
                </a:solidFill>
              </a:rPr>
              <a:t>01</a:t>
            </a:r>
          </a:p>
        </p:txBody>
      </p:sp>
      <p:sp>
        <p:nvSpPr>
          <p:cNvPr id="7" name="Rectangle 6">
            <a:extLst>
              <a:ext uri="{FF2B5EF4-FFF2-40B4-BE49-F238E27FC236}">
                <a16:creationId xmlns:a16="http://schemas.microsoft.com/office/drawing/2014/main" id="{E5A1568E-CCEC-4AC0-8030-11CB154CCCAE}"/>
              </a:ext>
            </a:extLst>
          </p:cNvPr>
          <p:cNvSpPr>
            <a:spLocks noGrp="1"/>
          </p:cNvSpPr>
          <p:nvPr/>
        </p:nvSpPr>
        <p:spPr>
          <a:xfrm>
            <a:off x="533400" y="1190625"/>
            <a:ext cx="7048500" cy="1095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6600" b="1">
                <a:solidFill>
                  <a:srgbClr val="FFFFFF"/>
                </a:solidFill>
              </a:rPr>
              <a:t>ARAI</a:t>
            </a:r>
          </a:p>
        </p:txBody>
      </p:sp>
      <p:sp>
        <p:nvSpPr>
          <p:cNvPr id="8" name="Rectangle 7">
            <a:extLst>
              <a:ext uri="{FF2B5EF4-FFF2-40B4-BE49-F238E27FC236}">
                <a16:creationId xmlns:a16="http://schemas.microsoft.com/office/drawing/2014/main" id="{C55BD8A7-E1E0-4CCE-819A-CADA7119D901}"/>
              </a:ext>
            </a:extLst>
          </p:cNvPr>
          <p:cNvSpPr>
            <a:spLocks noGrp="1"/>
          </p:cNvSpPr>
          <p:nvPr/>
        </p:nvSpPr>
        <p:spPr>
          <a:xfrm>
            <a:off x="571500" y="2390775"/>
            <a:ext cx="6572250" cy="952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2850" b="1">
                <a:solidFill>
                  <a:srgbClr val="DDEBDD"/>
                </a:solidFill>
              </a:rPr>
              <a:t>Adaptive Return</a:t>
            </a:r>
          </a:p>
          <a:p>
            <a:r>
              <a:rPr sz="2850" b="1">
                <a:solidFill>
                  <a:srgbClr val="DDEBDD"/>
                </a:solidFill>
              </a:rPr>
              <a:t>Abuse Intelligence</a:t>
            </a:r>
          </a:p>
        </p:txBody>
      </p:sp>
      <p:sp>
        <p:nvSpPr>
          <p:cNvPr id="9" name="Rectangle 8">
            <a:extLst>
              <a:ext uri="{FF2B5EF4-FFF2-40B4-BE49-F238E27FC236}">
                <a16:creationId xmlns:a16="http://schemas.microsoft.com/office/drawing/2014/main" id="{658AF81A-B0CE-484F-BC84-CCF78EC03962}"/>
              </a:ext>
            </a:extLst>
          </p:cNvPr>
          <p:cNvSpPr>
            <a:spLocks noGrp="1"/>
          </p:cNvSpPr>
          <p:nvPr/>
        </p:nvSpPr>
        <p:spPr>
          <a:xfrm>
            <a:off x="571500" y="3743325"/>
            <a:ext cx="6667500" cy="952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0">
                <a:solidFill>
                  <a:srgbClr val="FFFFFF"/>
                </a:solidFill>
              </a:rPr>
              <a:t>Investigate suspicious returns.</a:t>
            </a:r>
          </a:p>
          <a:p>
            <a:r>
              <a:rPr sz="2175" b="0">
                <a:solidFill>
                  <a:srgbClr val="FFFFFF"/>
                </a:solidFill>
              </a:rPr>
              <a:t>Understand legitimate explanations.</a:t>
            </a:r>
          </a:p>
        </p:txBody>
      </p:sp>
      <p:sp>
        <p:nvSpPr>
          <p:cNvPr id="10" name="Rectangle 9">
            <a:extLst>
              <a:ext uri="{FF2B5EF4-FFF2-40B4-BE49-F238E27FC236}">
                <a16:creationId xmlns:a16="http://schemas.microsoft.com/office/drawing/2014/main" id="{59DB12D9-8705-4693-9E60-8FBD69FB6248}"/>
              </a:ext>
            </a:extLst>
          </p:cNvPr>
          <p:cNvSpPr>
            <a:spLocks noGrp="1"/>
          </p:cNvSpPr>
          <p:nvPr/>
        </p:nvSpPr>
        <p:spPr>
          <a:xfrm>
            <a:off x="571500" y="5400675"/>
            <a:ext cx="676275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Indian online apparel  •  Analyst decision support</a:t>
            </a:r>
          </a:p>
        </p:txBody>
      </p:sp>
      <p:sp>
        <p:nvSpPr>
          <p:cNvPr id="11" name="Rectangle: Rounded Corners 10">
            <a:extLst>
              <a:ext uri="{FF2B5EF4-FFF2-40B4-BE49-F238E27FC236}">
                <a16:creationId xmlns:a16="http://schemas.microsoft.com/office/drawing/2014/main" id="{427DA80E-8525-43CF-A8FF-48CC72D2CDB7}"/>
              </a:ext>
            </a:extLst>
          </p:cNvPr>
          <p:cNvSpPr>
            <a:spLocks noGrp="1"/>
          </p:cNvSpPr>
          <p:nvPr/>
        </p:nvSpPr>
        <p:spPr>
          <a:xfrm>
            <a:off x="7810500" y="1200150"/>
            <a:ext cx="3848100" cy="4572000"/>
          </a:xfrm>
          <a:prstGeom prst="roundRect">
            <a:avLst>
              <a:gd name="adj" fmla="val 1980"/>
            </a:avLst>
          </a:prstGeom>
          <a:solidFill>
            <a:srgbClr val="234C3F"/>
          </a:solidFill>
          <a:ln w="9525">
            <a:solidFill>
              <a:srgbClr val="396052"/>
            </a:solidFill>
            <a:prstDash val="solid"/>
          </a:ln>
        </p:spPr>
        <p:txBody>
          <a:bodyPr/>
          <a:lstStyle/>
          <a:p>
            <a:endParaRPr lang="en-GB"/>
          </a:p>
        </p:txBody>
      </p:sp>
      <p:sp>
        <p:nvSpPr>
          <p:cNvPr id="12" name="Rectangle 11">
            <a:extLst>
              <a:ext uri="{FF2B5EF4-FFF2-40B4-BE49-F238E27FC236}">
                <a16:creationId xmlns:a16="http://schemas.microsoft.com/office/drawing/2014/main" id="{439FB7BE-772E-45E7-9DEC-7354286D477E}"/>
              </a:ext>
            </a:extLst>
          </p:cNvPr>
          <p:cNvSpPr>
            <a:spLocks noGrp="1"/>
          </p:cNvSpPr>
          <p:nvPr/>
        </p:nvSpPr>
        <p:spPr>
          <a:xfrm>
            <a:off x="8048625" y="150495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01</a:t>
            </a:r>
          </a:p>
        </p:txBody>
      </p:sp>
      <p:sp>
        <p:nvSpPr>
          <p:cNvPr id="13" name="Rectangle 12">
            <a:extLst>
              <a:ext uri="{FF2B5EF4-FFF2-40B4-BE49-F238E27FC236}">
                <a16:creationId xmlns:a16="http://schemas.microsoft.com/office/drawing/2014/main" id="{DBE38516-2DC9-4DAB-93DF-B56E85D0F30B}"/>
              </a:ext>
            </a:extLst>
          </p:cNvPr>
          <p:cNvSpPr>
            <a:spLocks noGrp="1"/>
          </p:cNvSpPr>
          <p:nvPr/>
        </p:nvSpPr>
        <p:spPr>
          <a:xfrm>
            <a:off x="8648700" y="150495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Observe</a:t>
            </a:r>
          </a:p>
        </p:txBody>
      </p:sp>
      <p:sp>
        <p:nvSpPr>
          <p:cNvPr id="14" name="Rectangle 13">
            <a:extLst>
              <a:ext uri="{FF2B5EF4-FFF2-40B4-BE49-F238E27FC236}">
                <a16:creationId xmlns:a16="http://schemas.microsoft.com/office/drawing/2014/main" id="{068DFD5C-6184-42B4-BB3F-2B7BC32993A5}"/>
              </a:ext>
            </a:extLst>
          </p:cNvPr>
          <p:cNvSpPr>
            <a:spLocks noGrp="1"/>
          </p:cNvSpPr>
          <p:nvPr/>
        </p:nvSpPr>
        <p:spPr>
          <a:xfrm>
            <a:off x="8648700" y="197167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Return behavior over time</a:t>
            </a:r>
          </a:p>
        </p:txBody>
      </p:sp>
      <p:sp>
        <p:nvSpPr>
          <p:cNvPr id="15" name="Rectangle 14">
            <a:extLst>
              <a:ext uri="{FF2B5EF4-FFF2-40B4-BE49-F238E27FC236}">
                <a16:creationId xmlns:a16="http://schemas.microsoft.com/office/drawing/2014/main" id="{86AAB757-6607-40B4-A666-22FAFFDCA09D}"/>
              </a:ext>
            </a:extLst>
          </p:cNvPr>
          <p:cNvSpPr>
            <a:spLocks noGrp="1"/>
          </p:cNvSpPr>
          <p:nvPr/>
        </p:nvSpPr>
        <p:spPr>
          <a:xfrm>
            <a:off x="8058150" y="2571750"/>
            <a:ext cx="3286125" cy="9525"/>
          </a:xfrm>
          <a:prstGeom prst="rect">
            <a:avLst/>
          </a:prstGeom>
          <a:solidFill>
            <a:srgbClr val="396052"/>
          </a:solidFill>
          <a:ln w="9525">
            <a:solidFill>
              <a:srgbClr val="396052"/>
            </a:solidFill>
            <a:prstDash val="solid"/>
          </a:ln>
        </p:spPr>
        <p:txBody>
          <a:bodyPr/>
          <a:lstStyle/>
          <a:p>
            <a:endParaRPr lang="en-GB"/>
          </a:p>
        </p:txBody>
      </p:sp>
      <p:sp>
        <p:nvSpPr>
          <p:cNvPr id="16" name="Rectangle 15">
            <a:extLst>
              <a:ext uri="{FF2B5EF4-FFF2-40B4-BE49-F238E27FC236}">
                <a16:creationId xmlns:a16="http://schemas.microsoft.com/office/drawing/2014/main" id="{25D26F47-AFC1-424B-B73D-A1B9C0EBF6AD}"/>
              </a:ext>
            </a:extLst>
          </p:cNvPr>
          <p:cNvSpPr>
            <a:spLocks noGrp="1"/>
          </p:cNvSpPr>
          <p:nvPr/>
        </p:nvSpPr>
        <p:spPr>
          <a:xfrm>
            <a:off x="8048625" y="285750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02</a:t>
            </a:r>
          </a:p>
        </p:txBody>
      </p:sp>
      <p:sp>
        <p:nvSpPr>
          <p:cNvPr id="17" name="Rectangle 16">
            <a:extLst>
              <a:ext uri="{FF2B5EF4-FFF2-40B4-BE49-F238E27FC236}">
                <a16:creationId xmlns:a16="http://schemas.microsoft.com/office/drawing/2014/main" id="{A288C015-5E0A-4EF3-A8CC-A1D5E9651600}"/>
              </a:ext>
            </a:extLst>
          </p:cNvPr>
          <p:cNvSpPr>
            <a:spLocks noGrp="1"/>
          </p:cNvSpPr>
          <p:nvPr/>
        </p:nvSpPr>
        <p:spPr>
          <a:xfrm>
            <a:off x="8648700" y="285750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Explain</a:t>
            </a:r>
          </a:p>
        </p:txBody>
      </p:sp>
      <p:sp>
        <p:nvSpPr>
          <p:cNvPr id="18" name="Rectangle 17">
            <a:extLst>
              <a:ext uri="{FF2B5EF4-FFF2-40B4-BE49-F238E27FC236}">
                <a16:creationId xmlns:a16="http://schemas.microsoft.com/office/drawing/2014/main" id="{AAB0CCEA-69BD-48C5-BBFA-3A233EE39678}"/>
              </a:ext>
            </a:extLst>
          </p:cNvPr>
          <p:cNvSpPr>
            <a:spLocks noGrp="1"/>
          </p:cNvSpPr>
          <p:nvPr/>
        </p:nvSpPr>
        <p:spPr>
          <a:xfrm>
            <a:off x="8648700" y="332422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Product and relationship context</a:t>
            </a:r>
          </a:p>
        </p:txBody>
      </p:sp>
      <p:sp>
        <p:nvSpPr>
          <p:cNvPr id="19" name="Rectangle 18">
            <a:extLst>
              <a:ext uri="{FF2B5EF4-FFF2-40B4-BE49-F238E27FC236}">
                <a16:creationId xmlns:a16="http://schemas.microsoft.com/office/drawing/2014/main" id="{AD11AC41-B38A-4673-885E-FF293EA43973}"/>
              </a:ext>
            </a:extLst>
          </p:cNvPr>
          <p:cNvSpPr>
            <a:spLocks noGrp="1"/>
          </p:cNvSpPr>
          <p:nvPr/>
        </p:nvSpPr>
        <p:spPr>
          <a:xfrm>
            <a:off x="8058150" y="3924300"/>
            <a:ext cx="3286125" cy="9525"/>
          </a:xfrm>
          <a:prstGeom prst="rect">
            <a:avLst/>
          </a:prstGeom>
          <a:solidFill>
            <a:srgbClr val="396052"/>
          </a:solidFill>
          <a:ln w="9525">
            <a:solidFill>
              <a:srgbClr val="396052"/>
            </a:solidFill>
            <a:prstDash val="solid"/>
          </a:ln>
        </p:spPr>
        <p:txBody>
          <a:bodyPr/>
          <a:lstStyle/>
          <a:p>
            <a:endParaRPr lang="en-GB"/>
          </a:p>
        </p:txBody>
      </p:sp>
      <p:sp>
        <p:nvSpPr>
          <p:cNvPr id="20" name="Rectangle 19">
            <a:extLst>
              <a:ext uri="{FF2B5EF4-FFF2-40B4-BE49-F238E27FC236}">
                <a16:creationId xmlns:a16="http://schemas.microsoft.com/office/drawing/2014/main" id="{1B1067A5-0BC2-4257-9FF8-FE86EB2D7AD4}"/>
              </a:ext>
            </a:extLst>
          </p:cNvPr>
          <p:cNvSpPr>
            <a:spLocks noGrp="1"/>
          </p:cNvSpPr>
          <p:nvPr/>
        </p:nvSpPr>
        <p:spPr>
          <a:xfrm>
            <a:off x="8048625" y="4210050"/>
            <a:ext cx="523875"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ABD3A6"/>
                </a:solidFill>
              </a:rPr>
              <a:t>03</a:t>
            </a:r>
          </a:p>
        </p:txBody>
      </p:sp>
      <p:sp>
        <p:nvSpPr>
          <p:cNvPr id="21" name="Rectangle 20">
            <a:extLst>
              <a:ext uri="{FF2B5EF4-FFF2-40B4-BE49-F238E27FC236}">
                <a16:creationId xmlns:a16="http://schemas.microsoft.com/office/drawing/2014/main" id="{A172CA4B-CADE-4764-8191-51F262231C01}"/>
              </a:ext>
            </a:extLst>
          </p:cNvPr>
          <p:cNvSpPr>
            <a:spLocks noGrp="1"/>
          </p:cNvSpPr>
          <p:nvPr/>
        </p:nvSpPr>
        <p:spPr>
          <a:xfrm>
            <a:off x="8648700" y="4210050"/>
            <a:ext cx="2686050" cy="400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175" b="1">
                <a:solidFill>
                  <a:srgbClr val="FFFFFF"/>
                </a:solidFill>
              </a:rPr>
              <a:t>Prioritize</a:t>
            </a:r>
          </a:p>
        </p:txBody>
      </p:sp>
      <p:sp>
        <p:nvSpPr>
          <p:cNvPr id="22" name="Rectangle 21">
            <a:extLst>
              <a:ext uri="{FF2B5EF4-FFF2-40B4-BE49-F238E27FC236}">
                <a16:creationId xmlns:a16="http://schemas.microsoft.com/office/drawing/2014/main" id="{6AF8BC14-8DA5-43BB-8987-D73411AA5FC8}"/>
              </a:ext>
            </a:extLst>
          </p:cNvPr>
          <p:cNvSpPr>
            <a:spLocks noGrp="1"/>
          </p:cNvSpPr>
          <p:nvPr/>
        </p:nvSpPr>
        <p:spPr>
          <a:xfrm>
            <a:off x="8648700" y="4676775"/>
            <a:ext cx="2619375" cy="590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0">
                <a:solidFill>
                  <a:srgbClr val="DDEBDD"/>
                </a:solidFill>
              </a:rPr>
              <a:t>Human investigation</a:t>
            </a:r>
          </a:p>
        </p:txBody>
      </p:sp>
    </p:spTree>
    <p:extLst>
      <p:ext uri="{BB962C8B-B14F-4D97-AF65-F5344CB8AC3E}">
        <p14:creationId xmlns:p14="http://schemas.microsoft.com/office/powerpoint/2010/main" val="2075565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9D648670-1868-4D92-9CD2-172DCA4DA851}"/>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22CF3759-2904-4508-B424-7E985BF3F71B}"/>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PROBLEM STATEMENT</a:t>
            </a:r>
          </a:p>
        </p:txBody>
      </p:sp>
      <p:sp>
        <p:nvSpPr>
          <p:cNvPr id="4" name="Rectangle 3">
            <a:extLst>
              <a:ext uri="{FF2B5EF4-FFF2-40B4-BE49-F238E27FC236}">
                <a16:creationId xmlns:a16="http://schemas.microsoft.com/office/drawing/2014/main" id="{9571A79C-5B7B-40C4-9C41-6FFA2168E281}"/>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High returns alone do not establish abuse.</a:t>
            </a:r>
          </a:p>
        </p:txBody>
      </p:sp>
      <p:sp>
        <p:nvSpPr>
          <p:cNvPr id="5" name="Rectangle 4">
            <a:extLst>
              <a:ext uri="{FF2B5EF4-FFF2-40B4-BE49-F238E27FC236}">
                <a16:creationId xmlns:a16="http://schemas.microsoft.com/office/drawing/2014/main" id="{1E2D4B76-0494-4640-B72A-73D57E75E443}"/>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The same headline return rate can hide very different explanations.</a:t>
            </a:r>
          </a:p>
        </p:txBody>
      </p:sp>
      <p:sp>
        <p:nvSpPr>
          <p:cNvPr id="6" name="Rectangle 5">
            <a:extLst>
              <a:ext uri="{FF2B5EF4-FFF2-40B4-BE49-F238E27FC236}">
                <a16:creationId xmlns:a16="http://schemas.microsoft.com/office/drawing/2014/main" id="{2166C77C-8A74-4AF8-8D2A-EBBE6E6E1704}"/>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67446E48-4093-4D0F-A230-B16B58608E8E}"/>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9A32AC7A-06EA-4F1A-BA19-FA281A67011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02</a:t>
            </a:r>
          </a:p>
        </p:txBody>
      </p:sp>
      <p:sp>
        <p:nvSpPr>
          <p:cNvPr id="9" name="Rectangle: Rounded Corners 8">
            <a:extLst>
              <a:ext uri="{FF2B5EF4-FFF2-40B4-BE49-F238E27FC236}">
                <a16:creationId xmlns:a16="http://schemas.microsoft.com/office/drawing/2014/main" id="{44A8AF91-46DD-4ECB-83BE-3AB48D9ACB46}"/>
              </a:ext>
            </a:extLst>
          </p:cNvPr>
          <p:cNvSpPr>
            <a:spLocks noGrp="1"/>
          </p:cNvSpPr>
          <p:nvPr/>
        </p:nvSpPr>
        <p:spPr>
          <a:xfrm>
            <a:off x="53340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8593A2E7-5180-4ADF-8C1F-D4DD19A6BE52}"/>
              </a:ext>
            </a:extLst>
          </p:cNvPr>
          <p:cNvSpPr>
            <a:spLocks noGrp="1"/>
          </p:cNvSpPr>
          <p:nvPr/>
        </p:nvSpPr>
        <p:spPr>
          <a:xfrm>
            <a:off x="74295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Legitimate fit shopping</a:t>
            </a:r>
          </a:p>
        </p:txBody>
      </p:sp>
      <p:sp>
        <p:nvSpPr>
          <p:cNvPr id="11" name="Rectangle 10">
            <a:extLst>
              <a:ext uri="{FF2B5EF4-FFF2-40B4-BE49-F238E27FC236}">
                <a16:creationId xmlns:a16="http://schemas.microsoft.com/office/drawing/2014/main" id="{D728222C-609B-490E-94B7-F6D537AC4611}"/>
              </a:ext>
            </a:extLst>
          </p:cNvPr>
          <p:cNvSpPr>
            <a:spLocks noGrp="1"/>
          </p:cNvSpPr>
          <p:nvPr/>
        </p:nvSpPr>
        <p:spPr>
          <a:xfrm>
            <a:off x="74295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 customer may return often while choosing the right size or fit.</a:t>
            </a:r>
          </a:p>
        </p:txBody>
      </p:sp>
      <p:sp>
        <p:nvSpPr>
          <p:cNvPr id="12" name="Rectangle: Rounded Corners 11">
            <a:extLst>
              <a:ext uri="{FF2B5EF4-FFF2-40B4-BE49-F238E27FC236}">
                <a16:creationId xmlns:a16="http://schemas.microsoft.com/office/drawing/2014/main" id="{CFE8DE95-CE39-4AD3-9F21-793113A79839}"/>
              </a:ext>
            </a:extLst>
          </p:cNvPr>
          <p:cNvSpPr>
            <a:spLocks noGrp="1"/>
          </p:cNvSpPr>
          <p:nvPr/>
        </p:nvSpPr>
        <p:spPr>
          <a:xfrm>
            <a:off x="432435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04F32CCE-FA74-498E-B715-EBB93D649B8B}"/>
              </a:ext>
            </a:extLst>
          </p:cNvPr>
          <p:cNvSpPr>
            <a:spLocks noGrp="1"/>
          </p:cNvSpPr>
          <p:nvPr/>
        </p:nvSpPr>
        <p:spPr>
          <a:xfrm>
            <a:off x="453390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Product quality issues</a:t>
            </a:r>
          </a:p>
        </p:txBody>
      </p:sp>
      <p:sp>
        <p:nvSpPr>
          <p:cNvPr id="14" name="Rectangle 13">
            <a:extLst>
              <a:ext uri="{FF2B5EF4-FFF2-40B4-BE49-F238E27FC236}">
                <a16:creationId xmlns:a16="http://schemas.microsoft.com/office/drawing/2014/main" id="{71DCEBA3-1C74-425E-AD5D-ED96B2E11472}"/>
              </a:ext>
            </a:extLst>
          </p:cNvPr>
          <p:cNvSpPr>
            <a:spLocks noGrp="1"/>
          </p:cNvSpPr>
          <p:nvPr/>
        </p:nvSpPr>
        <p:spPr>
          <a:xfrm>
            <a:off x="453390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 style or SKU may drive returns across many unrelated customers.</a:t>
            </a:r>
          </a:p>
        </p:txBody>
      </p:sp>
      <p:sp>
        <p:nvSpPr>
          <p:cNvPr id="15" name="Rectangle: Rounded Corners 14">
            <a:extLst>
              <a:ext uri="{FF2B5EF4-FFF2-40B4-BE49-F238E27FC236}">
                <a16:creationId xmlns:a16="http://schemas.microsoft.com/office/drawing/2014/main" id="{F385E375-F226-4527-A513-33BB17A31F90}"/>
              </a:ext>
            </a:extLst>
          </p:cNvPr>
          <p:cNvSpPr>
            <a:spLocks noGrp="1"/>
          </p:cNvSpPr>
          <p:nvPr/>
        </p:nvSpPr>
        <p:spPr>
          <a:xfrm>
            <a:off x="8115300" y="2600325"/>
            <a:ext cx="3543300" cy="2124075"/>
          </a:xfrm>
          <a:prstGeom prst="roundRect">
            <a:avLst>
              <a:gd name="adj" fmla="val 3587"/>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8940191D-9C05-41B2-8BB8-AF524BBDD323}"/>
              </a:ext>
            </a:extLst>
          </p:cNvPr>
          <p:cNvSpPr>
            <a:spLocks noGrp="1"/>
          </p:cNvSpPr>
          <p:nvPr/>
        </p:nvSpPr>
        <p:spPr>
          <a:xfrm>
            <a:off x="8324850" y="2790825"/>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Intentional misuse</a:t>
            </a:r>
          </a:p>
        </p:txBody>
      </p:sp>
      <p:sp>
        <p:nvSpPr>
          <p:cNvPr id="17" name="Rectangle 16">
            <a:extLst>
              <a:ext uri="{FF2B5EF4-FFF2-40B4-BE49-F238E27FC236}">
                <a16:creationId xmlns:a16="http://schemas.microsoft.com/office/drawing/2014/main" id="{7FD8F6E8-A624-40C1-AFBF-E9FA0A43B283}"/>
              </a:ext>
            </a:extLst>
          </p:cNvPr>
          <p:cNvSpPr>
            <a:spLocks noGrp="1"/>
          </p:cNvSpPr>
          <p:nvPr/>
        </p:nvSpPr>
        <p:spPr>
          <a:xfrm>
            <a:off x="8324850" y="3400425"/>
            <a:ext cx="3124200" cy="1228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Submitted deception or temporary use can warrant investigation.</a:t>
            </a:r>
          </a:p>
        </p:txBody>
      </p:sp>
      <p:sp>
        <p:nvSpPr>
          <p:cNvPr id="18" name="Rectangle: Rounded Corners 17">
            <a:extLst>
              <a:ext uri="{FF2B5EF4-FFF2-40B4-BE49-F238E27FC236}">
                <a16:creationId xmlns:a16="http://schemas.microsoft.com/office/drawing/2014/main" id="{E5EB2F39-1DE0-4075-B07B-01C28BCF9E66}"/>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7355B6F3-AAE6-4FFE-A82D-372C8F5BA1C4}"/>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Design challenge</a:t>
            </a:r>
          </a:p>
        </p:txBody>
      </p:sp>
      <p:sp>
        <p:nvSpPr>
          <p:cNvPr id="20" name="Rectangle 19">
            <a:extLst>
              <a:ext uri="{FF2B5EF4-FFF2-40B4-BE49-F238E27FC236}">
                <a16:creationId xmlns:a16="http://schemas.microsoft.com/office/drawing/2014/main" id="{C261A72B-59B9-4172-9FCA-F0CCD2250F0D}"/>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Prioritize useful investigations while preserving legitimate explanations.</a:t>
            </a:r>
          </a:p>
        </p:txBody>
      </p:sp>
    </p:spTree>
    <p:extLst>
      <p:ext uri="{BB962C8B-B14F-4D97-AF65-F5344CB8AC3E}">
        <p14:creationId xmlns:p14="http://schemas.microsoft.com/office/powerpoint/2010/main" val="1902527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843FCC94-FCB6-46B1-A9D9-2DA904B55D31}"/>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E9B279E2-12FE-4D02-80F7-BB0E70D7D839}"/>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PROPOSED SOLUTION</a:t>
            </a:r>
          </a:p>
        </p:txBody>
      </p:sp>
      <p:sp>
        <p:nvSpPr>
          <p:cNvPr id="4" name="Rectangle 3">
            <a:extLst>
              <a:ext uri="{FF2B5EF4-FFF2-40B4-BE49-F238E27FC236}">
                <a16:creationId xmlns:a16="http://schemas.microsoft.com/office/drawing/2014/main" id="{AF95C434-14FA-4D49-9797-C5512E95FB14}"/>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ranked queue with inspectable evidence.</a:t>
            </a:r>
          </a:p>
        </p:txBody>
      </p:sp>
      <p:sp>
        <p:nvSpPr>
          <p:cNvPr id="5" name="Rectangle 4">
            <a:extLst>
              <a:ext uri="{FF2B5EF4-FFF2-40B4-BE49-F238E27FC236}">
                <a16:creationId xmlns:a16="http://schemas.microsoft.com/office/drawing/2014/main" id="{D5B75BF5-3DB4-463C-A2BA-4A1B500E356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Help an analyst understand why a customer or product deserves a closer look.</a:t>
            </a:r>
          </a:p>
        </p:txBody>
      </p:sp>
      <p:sp>
        <p:nvSpPr>
          <p:cNvPr id="6" name="Rectangle 5">
            <a:extLst>
              <a:ext uri="{FF2B5EF4-FFF2-40B4-BE49-F238E27FC236}">
                <a16:creationId xmlns:a16="http://schemas.microsoft.com/office/drawing/2014/main" id="{9B7F4D41-1A35-45D2-8528-58906EEFEC4C}"/>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0C8E54AD-0A13-47CB-AFCC-93ACBC681DC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0637A1E3-B1F2-4DAF-8BCB-E0687EE4A57D}"/>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03</a:t>
            </a:r>
          </a:p>
        </p:txBody>
      </p:sp>
      <p:sp>
        <p:nvSpPr>
          <p:cNvPr id="9" name="Rectangle: Rounded Corners 8">
            <a:extLst>
              <a:ext uri="{FF2B5EF4-FFF2-40B4-BE49-F238E27FC236}">
                <a16:creationId xmlns:a16="http://schemas.microsoft.com/office/drawing/2014/main" id="{7706688C-E043-46BC-A056-7284F0730330}"/>
              </a:ext>
            </a:extLst>
          </p:cNvPr>
          <p:cNvSpPr>
            <a:spLocks noGrp="1"/>
          </p:cNvSpPr>
          <p:nvPr/>
        </p:nvSpPr>
        <p:spPr>
          <a:xfrm>
            <a:off x="53340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D7CD25A6-4AC4-42C0-B32C-E4EF9432F2CF}"/>
              </a:ext>
            </a:extLst>
          </p:cNvPr>
          <p:cNvSpPr>
            <a:spLocks noGrp="1"/>
          </p:cNvSpPr>
          <p:nvPr/>
        </p:nvSpPr>
        <p:spPr>
          <a:xfrm>
            <a:off x="74295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Observe</a:t>
            </a:r>
          </a:p>
        </p:txBody>
      </p:sp>
      <p:sp>
        <p:nvSpPr>
          <p:cNvPr id="11" name="Rectangle 10">
            <a:extLst>
              <a:ext uri="{FF2B5EF4-FFF2-40B4-BE49-F238E27FC236}">
                <a16:creationId xmlns:a16="http://schemas.microsoft.com/office/drawing/2014/main" id="{A8B144BA-5732-4348-8F06-9867C91FED3A}"/>
              </a:ext>
            </a:extLst>
          </p:cNvPr>
          <p:cNvSpPr>
            <a:spLocks noGrp="1"/>
          </p:cNvSpPr>
          <p:nvPr/>
        </p:nvSpPr>
        <p:spPr>
          <a:xfrm>
            <a:off x="74295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Sales and return events</a:t>
            </a:r>
          </a:p>
        </p:txBody>
      </p:sp>
      <p:sp>
        <p:nvSpPr>
          <p:cNvPr id="12" name="Arrow: Right 11">
            <a:extLst>
              <a:ext uri="{FF2B5EF4-FFF2-40B4-BE49-F238E27FC236}">
                <a16:creationId xmlns:a16="http://schemas.microsoft.com/office/drawing/2014/main" id="{CDBA8BE4-9DB0-4641-813A-0C0D2DC6DBFA}"/>
              </a:ext>
            </a:extLst>
          </p:cNvPr>
          <p:cNvSpPr>
            <a:spLocks noGrp="1"/>
          </p:cNvSpPr>
          <p:nvPr/>
        </p:nvSpPr>
        <p:spPr>
          <a:xfrm>
            <a:off x="3181350" y="3476625"/>
            <a:ext cx="152400" cy="171450"/>
          </a:xfrm>
          <a:prstGeom prst="rightArrow">
            <a:avLst/>
          </a:prstGeom>
          <a:solidFill>
            <a:srgbClr val="187257"/>
          </a:solidFill>
          <a:ln w="0">
            <a:solidFill>
              <a:srgbClr val="187257"/>
            </a:solidFill>
          </a:ln>
        </p:spPr>
        <p:txBody>
          <a:bodyPr/>
          <a:lstStyle/>
          <a:p>
            <a:endParaRPr lang="en-GB"/>
          </a:p>
        </p:txBody>
      </p:sp>
      <p:sp>
        <p:nvSpPr>
          <p:cNvPr id="13" name="Rectangle: Rounded Corners 12">
            <a:extLst>
              <a:ext uri="{FF2B5EF4-FFF2-40B4-BE49-F238E27FC236}">
                <a16:creationId xmlns:a16="http://schemas.microsoft.com/office/drawing/2014/main" id="{C37A5073-727A-45BA-8D39-4339169F7454}"/>
              </a:ext>
            </a:extLst>
          </p:cNvPr>
          <p:cNvSpPr>
            <a:spLocks noGrp="1"/>
          </p:cNvSpPr>
          <p:nvPr/>
        </p:nvSpPr>
        <p:spPr>
          <a:xfrm>
            <a:off x="337185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43C21DA5-CAA6-4E9A-BCF6-49EC1B8643F7}"/>
              </a:ext>
            </a:extLst>
          </p:cNvPr>
          <p:cNvSpPr>
            <a:spLocks noGrp="1"/>
          </p:cNvSpPr>
          <p:nvPr/>
        </p:nvSpPr>
        <p:spPr>
          <a:xfrm>
            <a:off x="358140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Contextualize</a:t>
            </a:r>
          </a:p>
        </p:txBody>
      </p:sp>
      <p:sp>
        <p:nvSpPr>
          <p:cNvPr id="15" name="Rectangle 14">
            <a:extLst>
              <a:ext uri="{FF2B5EF4-FFF2-40B4-BE49-F238E27FC236}">
                <a16:creationId xmlns:a16="http://schemas.microsoft.com/office/drawing/2014/main" id="{6347039E-9349-4036-8AC6-955946E19496}"/>
              </a:ext>
            </a:extLst>
          </p:cNvPr>
          <p:cNvSpPr>
            <a:spLocks noGrp="1"/>
          </p:cNvSpPr>
          <p:nvPr/>
        </p:nvSpPr>
        <p:spPr>
          <a:xfrm>
            <a:off x="358140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Expected behavior for the product mix</a:t>
            </a:r>
          </a:p>
        </p:txBody>
      </p:sp>
      <p:sp>
        <p:nvSpPr>
          <p:cNvPr id="16" name="Arrow: Right 15">
            <a:extLst>
              <a:ext uri="{FF2B5EF4-FFF2-40B4-BE49-F238E27FC236}">
                <a16:creationId xmlns:a16="http://schemas.microsoft.com/office/drawing/2014/main" id="{6623D4E4-8127-48FE-9A9E-DE11E9EAB023}"/>
              </a:ext>
            </a:extLst>
          </p:cNvPr>
          <p:cNvSpPr>
            <a:spLocks noGrp="1"/>
          </p:cNvSpPr>
          <p:nvPr/>
        </p:nvSpPr>
        <p:spPr>
          <a:xfrm>
            <a:off x="6019800" y="3476625"/>
            <a:ext cx="152400" cy="171450"/>
          </a:xfrm>
          <a:prstGeom prst="rightArrow">
            <a:avLst/>
          </a:prstGeom>
          <a:solidFill>
            <a:srgbClr val="187257"/>
          </a:solidFill>
          <a:ln w="0">
            <a:solidFill>
              <a:srgbClr val="187257"/>
            </a:solidFill>
          </a:ln>
        </p:spPr>
        <p:txBody>
          <a:bodyPr/>
          <a:lstStyle/>
          <a:p>
            <a:endParaRPr lang="en-GB"/>
          </a:p>
        </p:txBody>
      </p:sp>
      <p:sp>
        <p:nvSpPr>
          <p:cNvPr id="17" name="Rectangle: Rounded Corners 16">
            <a:extLst>
              <a:ext uri="{FF2B5EF4-FFF2-40B4-BE49-F238E27FC236}">
                <a16:creationId xmlns:a16="http://schemas.microsoft.com/office/drawing/2014/main" id="{7ECB2AB5-0A47-4C31-AFDC-35CBBEAE1688}"/>
              </a:ext>
            </a:extLst>
          </p:cNvPr>
          <p:cNvSpPr>
            <a:spLocks noGrp="1"/>
          </p:cNvSpPr>
          <p:nvPr/>
        </p:nvSpPr>
        <p:spPr>
          <a:xfrm>
            <a:off x="6210300" y="2600325"/>
            <a:ext cx="2609850" cy="2009775"/>
          </a:xfrm>
          <a:prstGeom prst="roundRect">
            <a:avLst>
              <a:gd name="adj" fmla="val 3791"/>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6D2C9D65-4CD5-4987-B073-E47CA4E8E3CB}"/>
              </a:ext>
            </a:extLst>
          </p:cNvPr>
          <p:cNvSpPr>
            <a:spLocks noGrp="1"/>
          </p:cNvSpPr>
          <p:nvPr/>
        </p:nvSpPr>
        <p:spPr>
          <a:xfrm>
            <a:off x="641985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Prioritize</a:t>
            </a:r>
          </a:p>
        </p:txBody>
      </p:sp>
      <p:sp>
        <p:nvSpPr>
          <p:cNvPr id="19" name="Rectangle 18">
            <a:extLst>
              <a:ext uri="{FF2B5EF4-FFF2-40B4-BE49-F238E27FC236}">
                <a16:creationId xmlns:a16="http://schemas.microsoft.com/office/drawing/2014/main" id="{3DF067EA-C1AB-4498-B470-ED0DEB370EE5}"/>
              </a:ext>
            </a:extLst>
          </p:cNvPr>
          <p:cNvSpPr>
            <a:spLocks noGrp="1"/>
          </p:cNvSpPr>
          <p:nvPr/>
        </p:nvSpPr>
        <p:spPr>
          <a:xfrm>
            <a:off x="641985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One customer ranking at a fixed review budget</a:t>
            </a:r>
          </a:p>
        </p:txBody>
      </p:sp>
      <p:sp>
        <p:nvSpPr>
          <p:cNvPr id="20" name="Arrow: Right 19">
            <a:extLst>
              <a:ext uri="{FF2B5EF4-FFF2-40B4-BE49-F238E27FC236}">
                <a16:creationId xmlns:a16="http://schemas.microsoft.com/office/drawing/2014/main" id="{5E862E0A-73B8-459A-A1CD-26FC62DA630B}"/>
              </a:ext>
            </a:extLst>
          </p:cNvPr>
          <p:cNvSpPr>
            <a:spLocks noGrp="1"/>
          </p:cNvSpPr>
          <p:nvPr/>
        </p:nvSpPr>
        <p:spPr>
          <a:xfrm>
            <a:off x="8858250" y="3476625"/>
            <a:ext cx="152400" cy="171450"/>
          </a:xfrm>
          <a:prstGeom prst="rightArrow">
            <a:avLst/>
          </a:prstGeom>
          <a:solidFill>
            <a:srgbClr val="187257"/>
          </a:solidFill>
          <a:ln w="0">
            <a:solidFill>
              <a:srgbClr val="187257"/>
            </a:solidFill>
          </a:ln>
        </p:spPr>
        <p:txBody>
          <a:bodyPr/>
          <a:lstStyle/>
          <a:p>
            <a:endParaRPr lang="en-GB"/>
          </a:p>
        </p:txBody>
      </p:sp>
      <p:sp>
        <p:nvSpPr>
          <p:cNvPr id="21" name="Rectangle: Rounded Corners 20">
            <a:extLst>
              <a:ext uri="{FF2B5EF4-FFF2-40B4-BE49-F238E27FC236}">
                <a16:creationId xmlns:a16="http://schemas.microsoft.com/office/drawing/2014/main" id="{63820186-6E93-4D6B-A58A-BB02D8F41E00}"/>
              </a:ext>
            </a:extLst>
          </p:cNvPr>
          <p:cNvSpPr>
            <a:spLocks noGrp="1"/>
          </p:cNvSpPr>
          <p:nvPr/>
        </p:nvSpPr>
        <p:spPr>
          <a:xfrm>
            <a:off x="9048750" y="2600325"/>
            <a:ext cx="2609850" cy="2009775"/>
          </a:xfrm>
          <a:prstGeom prst="roundRect">
            <a:avLst>
              <a:gd name="adj" fmla="val 3791"/>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371F5C54-AEF7-496E-93DE-E08FE0790084}"/>
              </a:ext>
            </a:extLst>
          </p:cNvPr>
          <p:cNvSpPr>
            <a:spLocks noGrp="1"/>
          </p:cNvSpPr>
          <p:nvPr/>
        </p:nvSpPr>
        <p:spPr>
          <a:xfrm>
            <a:off x="9258300" y="2790825"/>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Investigate</a:t>
            </a:r>
          </a:p>
        </p:txBody>
      </p:sp>
      <p:sp>
        <p:nvSpPr>
          <p:cNvPr id="23" name="Rectangle 22">
            <a:extLst>
              <a:ext uri="{FF2B5EF4-FFF2-40B4-BE49-F238E27FC236}">
                <a16:creationId xmlns:a16="http://schemas.microsoft.com/office/drawing/2014/main" id="{A63CA873-FFEF-4413-B259-ADE8D29BC756}"/>
              </a:ext>
            </a:extLst>
          </p:cNvPr>
          <p:cNvSpPr>
            <a:spLocks noGrp="1"/>
          </p:cNvSpPr>
          <p:nvPr/>
        </p:nvSpPr>
        <p:spPr>
          <a:xfrm>
            <a:off x="9258300" y="3400425"/>
            <a:ext cx="2190750" cy="1114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Case evidence and append-only notes</a:t>
            </a:r>
          </a:p>
        </p:txBody>
      </p:sp>
      <p:sp>
        <p:nvSpPr>
          <p:cNvPr id="24" name="Rectangle: Rounded Corners 23">
            <a:extLst>
              <a:ext uri="{FF2B5EF4-FFF2-40B4-BE49-F238E27FC236}">
                <a16:creationId xmlns:a16="http://schemas.microsoft.com/office/drawing/2014/main" id="{D0527292-FD23-4A39-A535-D3314AD31851}"/>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859387F6-ABEC-436D-806E-8021F440091A}"/>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Human decision support</a:t>
            </a:r>
          </a:p>
        </p:txBody>
      </p:sp>
      <p:sp>
        <p:nvSpPr>
          <p:cNvPr id="26" name="Rectangle 25">
            <a:extLst>
              <a:ext uri="{FF2B5EF4-FFF2-40B4-BE49-F238E27FC236}">
                <a16:creationId xmlns:a16="http://schemas.microsoft.com/office/drawing/2014/main" id="{8585958F-E1CD-4994-8BFB-AD506F61180C}"/>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No automatic refund denial or account action. If models fail the gate, show the baseline.</a:t>
            </a:r>
          </a:p>
        </p:txBody>
      </p:sp>
    </p:spTree>
    <p:extLst>
      <p:ext uri="{BB962C8B-B14F-4D97-AF65-F5344CB8AC3E}">
        <p14:creationId xmlns:p14="http://schemas.microsoft.com/office/powerpoint/2010/main" val="1426633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059FF36A-EA07-4F98-91D4-9EAA05C9C24F}"/>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0A3833FB-F440-4290-ADAF-FCD74DF96622}"/>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KEY FEATURES</a:t>
            </a:r>
          </a:p>
        </p:txBody>
      </p:sp>
      <p:sp>
        <p:nvSpPr>
          <p:cNvPr id="4" name="Rectangle 3">
            <a:extLst>
              <a:ext uri="{FF2B5EF4-FFF2-40B4-BE49-F238E27FC236}">
                <a16:creationId xmlns:a16="http://schemas.microsoft.com/office/drawing/2014/main" id="{B5C360AA-8FE7-4899-A4AA-92252589BDBB}"/>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Four connected investigation views.</a:t>
            </a:r>
          </a:p>
        </p:txBody>
      </p:sp>
      <p:sp>
        <p:nvSpPr>
          <p:cNvPr id="5" name="Rectangle 4">
            <a:extLst>
              <a:ext uri="{FF2B5EF4-FFF2-40B4-BE49-F238E27FC236}">
                <a16:creationId xmlns:a16="http://schemas.microsoft.com/office/drawing/2014/main" id="{815827DF-86FF-47EC-9DE5-B9B3635ED8A2}"/>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A focused MVP that connects customer behavior with product context.</a:t>
            </a:r>
          </a:p>
        </p:txBody>
      </p:sp>
      <p:sp>
        <p:nvSpPr>
          <p:cNvPr id="6" name="Rectangle 5">
            <a:extLst>
              <a:ext uri="{FF2B5EF4-FFF2-40B4-BE49-F238E27FC236}">
                <a16:creationId xmlns:a16="http://schemas.microsoft.com/office/drawing/2014/main" id="{AE08BFD0-754D-418C-8D3F-97B6F0F81D83}"/>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4BAF1A0-F0F1-4CE8-AB8E-4942C16A139A}"/>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48C005DC-EA85-4922-843C-8401DD29265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04</a:t>
            </a:r>
          </a:p>
        </p:txBody>
      </p:sp>
      <p:sp>
        <p:nvSpPr>
          <p:cNvPr id="9" name="Rectangle: Rounded Corners 8">
            <a:extLst>
              <a:ext uri="{FF2B5EF4-FFF2-40B4-BE49-F238E27FC236}">
                <a16:creationId xmlns:a16="http://schemas.microsoft.com/office/drawing/2014/main" id="{4E415D6A-2553-4A05-B5F3-A768D6E11926}"/>
              </a:ext>
            </a:extLst>
          </p:cNvPr>
          <p:cNvSpPr>
            <a:spLocks noGrp="1"/>
          </p:cNvSpPr>
          <p:nvPr/>
        </p:nvSpPr>
        <p:spPr>
          <a:xfrm>
            <a:off x="533400" y="245745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431836D3-7C43-43DE-BADE-4221947CD3DB}"/>
              </a:ext>
            </a:extLst>
          </p:cNvPr>
          <p:cNvSpPr>
            <a:spLocks noGrp="1"/>
          </p:cNvSpPr>
          <p:nvPr/>
        </p:nvSpPr>
        <p:spPr>
          <a:xfrm>
            <a:off x="742950" y="26479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01  Customer queue + cases</a:t>
            </a:r>
          </a:p>
        </p:txBody>
      </p:sp>
      <p:sp>
        <p:nvSpPr>
          <p:cNvPr id="11" name="Rectangle 10">
            <a:extLst>
              <a:ext uri="{FF2B5EF4-FFF2-40B4-BE49-F238E27FC236}">
                <a16:creationId xmlns:a16="http://schemas.microsoft.com/office/drawing/2014/main" id="{FE941833-CF5A-4887-A75B-2C6BA0C89430}"/>
              </a:ext>
            </a:extLst>
          </p:cNvPr>
          <p:cNvSpPr>
            <a:spLocks noGrp="1"/>
          </p:cNvSpPr>
          <p:nvPr/>
        </p:nvSpPr>
        <p:spPr>
          <a:xfrm>
            <a:off x="742950" y="325755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Review ranked customers, supporting events and analyst notes.</a:t>
            </a:r>
          </a:p>
        </p:txBody>
      </p:sp>
      <p:sp>
        <p:nvSpPr>
          <p:cNvPr id="12" name="Rectangle: Rounded Corners 11">
            <a:extLst>
              <a:ext uri="{FF2B5EF4-FFF2-40B4-BE49-F238E27FC236}">
                <a16:creationId xmlns:a16="http://schemas.microsoft.com/office/drawing/2014/main" id="{E51843DB-FD94-46D8-B786-57449A15C37A}"/>
              </a:ext>
            </a:extLst>
          </p:cNvPr>
          <p:cNvSpPr>
            <a:spLocks noGrp="1"/>
          </p:cNvSpPr>
          <p:nvPr/>
        </p:nvSpPr>
        <p:spPr>
          <a:xfrm>
            <a:off x="6219825" y="245745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6307A807-CE81-415A-AF1F-B701B6D5EB19}"/>
              </a:ext>
            </a:extLst>
          </p:cNvPr>
          <p:cNvSpPr>
            <a:spLocks noGrp="1"/>
          </p:cNvSpPr>
          <p:nvPr/>
        </p:nvSpPr>
        <p:spPr>
          <a:xfrm>
            <a:off x="6429375" y="26479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02  Style + SKU exploration</a:t>
            </a:r>
          </a:p>
        </p:txBody>
      </p:sp>
      <p:sp>
        <p:nvSpPr>
          <p:cNvPr id="14" name="Rectangle 13">
            <a:extLst>
              <a:ext uri="{FF2B5EF4-FFF2-40B4-BE49-F238E27FC236}">
                <a16:creationId xmlns:a16="http://schemas.microsoft.com/office/drawing/2014/main" id="{BE2ECFD8-E223-43F2-BC83-F46380FCAD59}"/>
              </a:ext>
            </a:extLst>
          </p:cNvPr>
          <p:cNvSpPr>
            <a:spLocks noGrp="1"/>
          </p:cNvSpPr>
          <p:nvPr/>
        </p:nvSpPr>
        <p:spPr>
          <a:xfrm>
            <a:off x="6429375" y="325755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Identify product-driven returns before attributing customer intent.</a:t>
            </a:r>
          </a:p>
        </p:txBody>
      </p:sp>
      <p:sp>
        <p:nvSpPr>
          <p:cNvPr id="15" name="Rectangle: Rounded Corners 14">
            <a:extLst>
              <a:ext uri="{FF2B5EF4-FFF2-40B4-BE49-F238E27FC236}">
                <a16:creationId xmlns:a16="http://schemas.microsoft.com/office/drawing/2014/main" id="{747D4D80-372C-4FB9-8D9F-4257E580E8AA}"/>
              </a:ext>
            </a:extLst>
          </p:cNvPr>
          <p:cNvSpPr>
            <a:spLocks noGrp="1"/>
          </p:cNvSpPr>
          <p:nvPr/>
        </p:nvSpPr>
        <p:spPr>
          <a:xfrm>
            <a:off x="533400" y="434340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B7CA166E-1809-4A75-8240-3078C0A76FF2}"/>
              </a:ext>
            </a:extLst>
          </p:cNvPr>
          <p:cNvSpPr>
            <a:spLocks noGrp="1"/>
          </p:cNvSpPr>
          <p:nvPr/>
        </p:nvSpPr>
        <p:spPr>
          <a:xfrm>
            <a:off x="742950" y="453390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03  Relationship evidence</a:t>
            </a:r>
          </a:p>
        </p:txBody>
      </p:sp>
      <p:sp>
        <p:nvSpPr>
          <p:cNvPr id="17" name="Rectangle 16">
            <a:extLst>
              <a:ext uri="{FF2B5EF4-FFF2-40B4-BE49-F238E27FC236}">
                <a16:creationId xmlns:a16="http://schemas.microsoft.com/office/drawing/2014/main" id="{4811F1D5-2372-4F8C-92E0-B8D8C23FEF13}"/>
              </a:ext>
            </a:extLst>
          </p:cNvPr>
          <p:cNvSpPr>
            <a:spLocks noGrp="1"/>
          </p:cNvSpPr>
          <p:nvPr/>
        </p:nvSpPr>
        <p:spPr>
          <a:xfrm>
            <a:off x="742950" y="5143500"/>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dirty="0">
                <a:solidFill>
                  <a:srgbClr val="61766A"/>
                </a:solidFill>
              </a:rPr>
              <a:t>Inspect shared identifiers with safeguards for </a:t>
            </a:r>
            <a:r>
              <a:rPr lang="en-GB" sz="1500" b="0" dirty="0">
                <a:solidFill>
                  <a:srgbClr val="61766A"/>
                </a:solidFill>
              </a:rPr>
              <a:t>benign</a:t>
            </a:r>
            <a:r>
              <a:rPr sz="1500" b="0" dirty="0">
                <a:solidFill>
                  <a:srgbClr val="61766A"/>
                </a:solidFill>
              </a:rPr>
              <a:t> households.</a:t>
            </a:r>
          </a:p>
        </p:txBody>
      </p:sp>
      <p:sp>
        <p:nvSpPr>
          <p:cNvPr id="18" name="Rectangle: Rounded Corners 17">
            <a:extLst>
              <a:ext uri="{FF2B5EF4-FFF2-40B4-BE49-F238E27FC236}">
                <a16:creationId xmlns:a16="http://schemas.microsoft.com/office/drawing/2014/main" id="{B1994D8B-1135-4333-BD75-25C8A358F527}"/>
              </a:ext>
            </a:extLst>
          </p:cNvPr>
          <p:cNvSpPr>
            <a:spLocks noGrp="1"/>
          </p:cNvSpPr>
          <p:nvPr/>
        </p:nvSpPr>
        <p:spPr>
          <a:xfrm>
            <a:off x="6219825" y="4343400"/>
            <a:ext cx="5438775" cy="1657350"/>
          </a:xfrm>
          <a:prstGeom prst="roundRect">
            <a:avLst>
              <a:gd name="adj" fmla="val 4598"/>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778A39F5-2EC0-4FA6-92CF-EFC262F8ABCA}"/>
              </a:ext>
            </a:extLst>
          </p:cNvPr>
          <p:cNvSpPr>
            <a:spLocks noGrp="1"/>
          </p:cNvSpPr>
          <p:nvPr/>
        </p:nvSpPr>
        <p:spPr>
          <a:xfrm>
            <a:off x="6429375" y="453390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04  Wardrobing indicator</a:t>
            </a:r>
          </a:p>
        </p:txBody>
      </p:sp>
      <p:sp>
        <p:nvSpPr>
          <p:cNvPr id="20" name="Rectangle 19">
            <a:extLst>
              <a:ext uri="{FF2B5EF4-FFF2-40B4-BE49-F238E27FC236}">
                <a16:creationId xmlns:a16="http://schemas.microsoft.com/office/drawing/2014/main" id="{55160E51-15B1-4AA1-845D-CE786E9FC00B}"/>
              </a:ext>
            </a:extLst>
          </p:cNvPr>
          <p:cNvSpPr>
            <a:spLocks noGrp="1"/>
          </p:cNvSpPr>
          <p:nvPr/>
        </p:nvSpPr>
        <p:spPr>
          <a:xfrm>
            <a:off x="6429375" y="5154386"/>
            <a:ext cx="5019675" cy="762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Keep the image-free timing signal separate from the overall model score.</a:t>
            </a:r>
          </a:p>
        </p:txBody>
      </p:sp>
    </p:spTree>
    <p:extLst>
      <p:ext uri="{BB962C8B-B14F-4D97-AF65-F5344CB8AC3E}">
        <p14:creationId xmlns:p14="http://schemas.microsoft.com/office/powerpoint/2010/main" val="990736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56"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A554D736-744B-4662-8515-476BD530C74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C0FEE972-A542-48C2-944E-603D985C2EFD}"/>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ARCHITECTURE DIAGRAM</a:t>
            </a:r>
          </a:p>
        </p:txBody>
      </p:sp>
      <p:sp>
        <p:nvSpPr>
          <p:cNvPr id="4" name="Rectangle 3">
            <a:extLst>
              <a:ext uri="{FF2B5EF4-FFF2-40B4-BE49-F238E27FC236}">
                <a16:creationId xmlns:a16="http://schemas.microsoft.com/office/drawing/2014/main" id="{9053BB8C-8474-4B71-B0B0-959CE76D2737}"/>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Separate learning from application execution.</a:t>
            </a:r>
          </a:p>
        </p:txBody>
      </p:sp>
      <p:sp>
        <p:nvSpPr>
          <p:cNvPr id="5" name="Rectangle 4">
            <a:extLst>
              <a:ext uri="{FF2B5EF4-FFF2-40B4-BE49-F238E27FC236}">
                <a16:creationId xmlns:a16="http://schemas.microsoft.com/office/drawing/2014/main" id="{71581A09-4361-450E-8B07-70E8ACC5CB7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Two execution boundaries, one shared feature contract, and versioned artifacts.</a:t>
            </a:r>
          </a:p>
        </p:txBody>
      </p:sp>
      <p:sp>
        <p:nvSpPr>
          <p:cNvPr id="6" name="Rectangle 5">
            <a:extLst>
              <a:ext uri="{FF2B5EF4-FFF2-40B4-BE49-F238E27FC236}">
                <a16:creationId xmlns:a16="http://schemas.microsoft.com/office/drawing/2014/main" id="{1B6E5AB2-3F77-4FCE-B7A6-6920FCE8EFDC}"/>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EC659A7-1764-4842-BC6C-F36CBC7CEE2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36AAEBE0-4E46-430D-A4B4-E94A9E59A1D6}"/>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05</a:t>
            </a:r>
          </a:p>
        </p:txBody>
      </p:sp>
      <p:sp>
        <p:nvSpPr>
          <p:cNvPr id="9" name="Rectangle: Rounded Corners 8">
            <a:extLst>
              <a:ext uri="{FF2B5EF4-FFF2-40B4-BE49-F238E27FC236}">
                <a16:creationId xmlns:a16="http://schemas.microsoft.com/office/drawing/2014/main" id="{10B8F0ED-69D4-4ED4-BA05-E479723FDC21}"/>
              </a:ext>
            </a:extLst>
          </p:cNvPr>
          <p:cNvSpPr>
            <a:spLocks noGrp="1"/>
          </p:cNvSpPr>
          <p:nvPr/>
        </p:nvSpPr>
        <p:spPr>
          <a:xfrm>
            <a:off x="533400" y="2352675"/>
            <a:ext cx="11125200" cy="1428750"/>
          </a:xfrm>
          <a:prstGeom prst="roundRect">
            <a:avLst>
              <a:gd name="adj" fmla="val 5333"/>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B8E6AF90-5E5C-47FE-8850-F894726E9803}"/>
              </a:ext>
            </a:extLst>
          </p:cNvPr>
          <p:cNvSpPr>
            <a:spLocks noGrp="1"/>
          </p:cNvSpPr>
          <p:nvPr/>
        </p:nvSpPr>
        <p:spPr>
          <a:xfrm>
            <a:off x="704850" y="2466975"/>
            <a:ext cx="57150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187257"/>
                </a:solidFill>
              </a:rPr>
              <a:t>OFFLINE PYTHON PIPELINE</a:t>
            </a:r>
          </a:p>
        </p:txBody>
      </p:sp>
      <p:sp>
        <p:nvSpPr>
          <p:cNvPr id="11" name="Rectangle: Rounded Corners 10">
            <a:extLst>
              <a:ext uri="{FF2B5EF4-FFF2-40B4-BE49-F238E27FC236}">
                <a16:creationId xmlns:a16="http://schemas.microsoft.com/office/drawing/2014/main" id="{96E19C5F-EAFD-4712-A7BB-DDB80864314C}"/>
              </a:ext>
            </a:extLst>
          </p:cNvPr>
          <p:cNvSpPr>
            <a:spLocks noGrp="1"/>
          </p:cNvSpPr>
          <p:nvPr/>
        </p:nvSpPr>
        <p:spPr>
          <a:xfrm>
            <a:off x="704850" y="2828925"/>
            <a:ext cx="21240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2" name="Rectangle 11">
            <a:extLst>
              <a:ext uri="{FF2B5EF4-FFF2-40B4-BE49-F238E27FC236}">
                <a16:creationId xmlns:a16="http://schemas.microsoft.com/office/drawing/2014/main" id="{A1AADF33-5F8C-43D2-BEEA-FBAD0B5F6257}"/>
              </a:ext>
            </a:extLst>
          </p:cNvPr>
          <p:cNvSpPr>
            <a:spLocks noGrp="1"/>
          </p:cNvSpPr>
          <p:nvPr/>
        </p:nvSpPr>
        <p:spPr>
          <a:xfrm>
            <a:off x="857250" y="2943225"/>
            <a:ext cx="1819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Synthetic generator</a:t>
            </a:r>
          </a:p>
        </p:txBody>
      </p:sp>
      <p:sp>
        <p:nvSpPr>
          <p:cNvPr id="13" name="Rectangle 12">
            <a:extLst>
              <a:ext uri="{FF2B5EF4-FFF2-40B4-BE49-F238E27FC236}">
                <a16:creationId xmlns:a16="http://schemas.microsoft.com/office/drawing/2014/main" id="{3ED7D71F-44DC-479E-8D75-154F11A94CCF}"/>
              </a:ext>
            </a:extLst>
          </p:cNvPr>
          <p:cNvSpPr>
            <a:spLocks noGrp="1"/>
          </p:cNvSpPr>
          <p:nvPr/>
        </p:nvSpPr>
        <p:spPr>
          <a:xfrm>
            <a:off x="857250" y="3295650"/>
            <a:ext cx="18192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Events + private truth</a:t>
            </a:r>
          </a:p>
        </p:txBody>
      </p:sp>
      <p:sp>
        <p:nvSpPr>
          <p:cNvPr id="14" name="Rectangle: Rounded Corners 13">
            <a:extLst>
              <a:ext uri="{FF2B5EF4-FFF2-40B4-BE49-F238E27FC236}">
                <a16:creationId xmlns:a16="http://schemas.microsoft.com/office/drawing/2014/main" id="{60C7B777-3F62-47B7-9CF1-56BCEE7A3752}"/>
              </a:ext>
            </a:extLst>
          </p:cNvPr>
          <p:cNvSpPr>
            <a:spLocks noGrp="1"/>
          </p:cNvSpPr>
          <p:nvPr/>
        </p:nvSpPr>
        <p:spPr>
          <a:xfrm>
            <a:off x="3152775" y="2828925"/>
            <a:ext cx="25431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F540843D-83E9-43B8-A3BA-B82B3ACD321F}"/>
              </a:ext>
            </a:extLst>
          </p:cNvPr>
          <p:cNvSpPr>
            <a:spLocks noGrp="1"/>
          </p:cNvSpPr>
          <p:nvPr/>
        </p:nvSpPr>
        <p:spPr>
          <a:xfrm>
            <a:off x="3305175" y="2943225"/>
            <a:ext cx="22383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Data + feature engine</a:t>
            </a:r>
          </a:p>
        </p:txBody>
      </p:sp>
      <p:sp>
        <p:nvSpPr>
          <p:cNvPr id="16" name="Rectangle 15">
            <a:extLst>
              <a:ext uri="{FF2B5EF4-FFF2-40B4-BE49-F238E27FC236}">
                <a16:creationId xmlns:a16="http://schemas.microsoft.com/office/drawing/2014/main" id="{F580464D-0893-45A7-AB3E-DFF59FBB8CEA}"/>
              </a:ext>
            </a:extLst>
          </p:cNvPr>
          <p:cNvSpPr>
            <a:spLocks noGrp="1"/>
          </p:cNvSpPr>
          <p:nvPr/>
        </p:nvSpPr>
        <p:spPr>
          <a:xfrm>
            <a:off x="3305175" y="3295650"/>
            <a:ext cx="22383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Validate, explore, transform</a:t>
            </a:r>
          </a:p>
        </p:txBody>
      </p:sp>
      <p:sp>
        <p:nvSpPr>
          <p:cNvPr id="17" name="Rectangle: Rounded Corners 16">
            <a:extLst>
              <a:ext uri="{FF2B5EF4-FFF2-40B4-BE49-F238E27FC236}">
                <a16:creationId xmlns:a16="http://schemas.microsoft.com/office/drawing/2014/main" id="{F4EA7433-72FA-49C3-8BD4-01D09DE4D893}"/>
              </a:ext>
            </a:extLst>
          </p:cNvPr>
          <p:cNvSpPr>
            <a:spLocks noGrp="1"/>
          </p:cNvSpPr>
          <p:nvPr/>
        </p:nvSpPr>
        <p:spPr>
          <a:xfrm>
            <a:off x="6019800" y="2828925"/>
            <a:ext cx="254317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F10591F9-1881-4C6B-B226-5216FDB6D402}"/>
              </a:ext>
            </a:extLst>
          </p:cNvPr>
          <p:cNvSpPr>
            <a:spLocks noGrp="1"/>
          </p:cNvSpPr>
          <p:nvPr/>
        </p:nvSpPr>
        <p:spPr>
          <a:xfrm>
            <a:off x="6172200" y="2943225"/>
            <a:ext cx="22383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Training + evaluation</a:t>
            </a:r>
          </a:p>
        </p:txBody>
      </p:sp>
      <p:sp>
        <p:nvSpPr>
          <p:cNvPr id="19" name="Rectangle 18">
            <a:extLst>
              <a:ext uri="{FF2B5EF4-FFF2-40B4-BE49-F238E27FC236}">
                <a16:creationId xmlns:a16="http://schemas.microsoft.com/office/drawing/2014/main" id="{71E336D5-22EA-4D30-A56B-66D5A68DF062}"/>
              </a:ext>
            </a:extLst>
          </p:cNvPr>
          <p:cNvSpPr>
            <a:spLocks noGrp="1"/>
          </p:cNvSpPr>
          <p:nvPr/>
        </p:nvSpPr>
        <p:spPr>
          <a:xfrm>
            <a:off x="6172200" y="3295650"/>
            <a:ext cx="223837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Candidate comparison and gate</a:t>
            </a:r>
          </a:p>
        </p:txBody>
      </p:sp>
      <p:sp>
        <p:nvSpPr>
          <p:cNvPr id="20" name="Rectangle: Rounded Corners 19">
            <a:extLst>
              <a:ext uri="{FF2B5EF4-FFF2-40B4-BE49-F238E27FC236}">
                <a16:creationId xmlns:a16="http://schemas.microsoft.com/office/drawing/2014/main" id="{539B5743-6E92-42F4-85C0-34BCAF7A9651}"/>
              </a:ext>
            </a:extLst>
          </p:cNvPr>
          <p:cNvSpPr>
            <a:spLocks noGrp="1"/>
          </p:cNvSpPr>
          <p:nvPr/>
        </p:nvSpPr>
        <p:spPr>
          <a:xfrm>
            <a:off x="8886825" y="2828925"/>
            <a:ext cx="2600325" cy="781050"/>
          </a:xfrm>
          <a:prstGeom prst="roundRect">
            <a:avLst>
              <a:gd name="adj" fmla="val 9756"/>
            </a:avLst>
          </a:prstGeom>
          <a:solidFill>
            <a:srgbClr val="FFFFFF"/>
          </a:solidFill>
          <a:ln w="9525">
            <a:solidFill>
              <a:srgbClr val="D3DED1"/>
            </a:solidFill>
            <a:prstDash val="solid"/>
          </a:ln>
        </p:spPr>
        <p:txBody>
          <a:bodyPr/>
          <a:lstStyle/>
          <a:p>
            <a:endParaRPr lang="en-GB"/>
          </a:p>
        </p:txBody>
      </p:sp>
      <p:sp>
        <p:nvSpPr>
          <p:cNvPr id="21" name="Rectangle 20">
            <a:extLst>
              <a:ext uri="{FF2B5EF4-FFF2-40B4-BE49-F238E27FC236}">
                <a16:creationId xmlns:a16="http://schemas.microsoft.com/office/drawing/2014/main" id="{0E653104-0EAF-4760-864D-C7C3D3B4E14E}"/>
              </a:ext>
            </a:extLst>
          </p:cNvPr>
          <p:cNvSpPr>
            <a:spLocks noGrp="1"/>
          </p:cNvSpPr>
          <p:nvPr/>
        </p:nvSpPr>
        <p:spPr>
          <a:xfrm>
            <a:off x="9039225" y="294322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Frozen bundle</a:t>
            </a:r>
          </a:p>
        </p:txBody>
      </p:sp>
      <p:sp>
        <p:nvSpPr>
          <p:cNvPr id="22" name="Rectangle 21">
            <a:extLst>
              <a:ext uri="{FF2B5EF4-FFF2-40B4-BE49-F238E27FC236}">
                <a16:creationId xmlns:a16="http://schemas.microsoft.com/office/drawing/2014/main" id="{5D964839-527E-426C-9175-1F0A42197C35}"/>
              </a:ext>
            </a:extLst>
          </p:cNvPr>
          <p:cNvSpPr>
            <a:spLocks noGrp="1"/>
          </p:cNvSpPr>
          <p:nvPr/>
        </p:nvSpPr>
        <p:spPr>
          <a:xfrm>
            <a:off x="9039225" y="3295650"/>
            <a:ext cx="2295525"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Model + feature references</a:t>
            </a:r>
          </a:p>
        </p:txBody>
      </p:sp>
      <p:sp>
        <p:nvSpPr>
          <p:cNvPr id="23" name="Arrow: Right 22">
            <a:extLst>
              <a:ext uri="{FF2B5EF4-FFF2-40B4-BE49-F238E27FC236}">
                <a16:creationId xmlns:a16="http://schemas.microsoft.com/office/drawing/2014/main" id="{02A9BCE7-5C93-406B-8EFF-43BA593C1256}"/>
              </a:ext>
            </a:extLst>
          </p:cNvPr>
          <p:cNvSpPr>
            <a:spLocks noGrp="1"/>
          </p:cNvSpPr>
          <p:nvPr/>
        </p:nvSpPr>
        <p:spPr>
          <a:xfrm>
            <a:off x="2876550" y="3133725"/>
            <a:ext cx="219075" cy="171450"/>
          </a:xfrm>
          <a:prstGeom prst="rightArrow">
            <a:avLst/>
          </a:prstGeom>
          <a:solidFill>
            <a:srgbClr val="187257"/>
          </a:solidFill>
          <a:ln w="0">
            <a:solidFill>
              <a:srgbClr val="187257"/>
            </a:solidFill>
          </a:ln>
        </p:spPr>
        <p:txBody>
          <a:bodyPr/>
          <a:lstStyle/>
          <a:p>
            <a:endParaRPr lang="en-GB"/>
          </a:p>
        </p:txBody>
      </p:sp>
      <p:sp>
        <p:nvSpPr>
          <p:cNvPr id="24" name="Arrow: Right 23">
            <a:extLst>
              <a:ext uri="{FF2B5EF4-FFF2-40B4-BE49-F238E27FC236}">
                <a16:creationId xmlns:a16="http://schemas.microsoft.com/office/drawing/2014/main" id="{C68DBF90-372B-45CC-93C1-81DB397B1CEB}"/>
              </a:ext>
            </a:extLst>
          </p:cNvPr>
          <p:cNvSpPr>
            <a:spLocks noGrp="1"/>
          </p:cNvSpPr>
          <p:nvPr/>
        </p:nvSpPr>
        <p:spPr>
          <a:xfrm>
            <a:off x="5743575" y="3133725"/>
            <a:ext cx="219075" cy="171450"/>
          </a:xfrm>
          <a:prstGeom prst="rightArrow">
            <a:avLst/>
          </a:prstGeom>
          <a:solidFill>
            <a:srgbClr val="187257"/>
          </a:solidFill>
          <a:ln w="0">
            <a:solidFill>
              <a:srgbClr val="187257"/>
            </a:solidFill>
          </a:ln>
        </p:spPr>
        <p:txBody>
          <a:bodyPr/>
          <a:lstStyle/>
          <a:p>
            <a:endParaRPr lang="en-GB"/>
          </a:p>
        </p:txBody>
      </p:sp>
      <p:sp>
        <p:nvSpPr>
          <p:cNvPr id="25" name="Arrow: Right 24">
            <a:extLst>
              <a:ext uri="{FF2B5EF4-FFF2-40B4-BE49-F238E27FC236}">
                <a16:creationId xmlns:a16="http://schemas.microsoft.com/office/drawing/2014/main" id="{72DB79B0-E259-437A-B394-C9357FA850BE}"/>
              </a:ext>
            </a:extLst>
          </p:cNvPr>
          <p:cNvSpPr>
            <a:spLocks noGrp="1"/>
          </p:cNvSpPr>
          <p:nvPr/>
        </p:nvSpPr>
        <p:spPr>
          <a:xfrm>
            <a:off x="8610600" y="3133725"/>
            <a:ext cx="219075" cy="171450"/>
          </a:xfrm>
          <a:prstGeom prst="rightArrow">
            <a:avLst/>
          </a:prstGeom>
          <a:solidFill>
            <a:srgbClr val="187257"/>
          </a:solidFill>
          <a:ln w="0">
            <a:solidFill>
              <a:srgbClr val="187257"/>
            </a:solidFill>
          </a:ln>
        </p:spPr>
        <p:txBody>
          <a:bodyPr/>
          <a:lstStyle/>
          <a:p>
            <a:endParaRPr lang="en-GB"/>
          </a:p>
        </p:txBody>
      </p:sp>
      <p:sp>
        <p:nvSpPr>
          <p:cNvPr id="26" name="Rectangle: Rounded Corners 25">
            <a:extLst>
              <a:ext uri="{FF2B5EF4-FFF2-40B4-BE49-F238E27FC236}">
                <a16:creationId xmlns:a16="http://schemas.microsoft.com/office/drawing/2014/main" id="{FF2EB13B-1B12-4C4E-8797-880A36645DBD}"/>
              </a:ext>
            </a:extLst>
          </p:cNvPr>
          <p:cNvSpPr>
            <a:spLocks noGrp="1"/>
          </p:cNvSpPr>
          <p:nvPr/>
        </p:nvSpPr>
        <p:spPr>
          <a:xfrm>
            <a:off x="533400" y="4181475"/>
            <a:ext cx="11125200" cy="1990725"/>
          </a:xfrm>
          <a:prstGeom prst="roundRect">
            <a:avLst>
              <a:gd name="adj" fmla="val 3828"/>
            </a:avLst>
          </a:prstGeom>
          <a:solidFill>
            <a:srgbClr val="FFFFFF"/>
          </a:solidFill>
          <a:ln w="9525">
            <a:solidFill>
              <a:srgbClr val="D3DED1"/>
            </a:solidFill>
            <a:prstDash val="solid"/>
          </a:ln>
        </p:spPr>
        <p:txBody>
          <a:bodyPr/>
          <a:lstStyle/>
          <a:p>
            <a:endParaRPr lang="en-GB"/>
          </a:p>
        </p:txBody>
      </p:sp>
      <p:sp>
        <p:nvSpPr>
          <p:cNvPr id="27" name="Rectangle 26">
            <a:extLst>
              <a:ext uri="{FF2B5EF4-FFF2-40B4-BE49-F238E27FC236}">
                <a16:creationId xmlns:a16="http://schemas.microsoft.com/office/drawing/2014/main" id="{A8A99EDF-7A13-4D3B-AC55-BED7BA532C28}"/>
              </a:ext>
            </a:extLst>
          </p:cNvPr>
          <p:cNvSpPr>
            <a:spLocks noGrp="1"/>
          </p:cNvSpPr>
          <p:nvPr/>
        </p:nvSpPr>
        <p:spPr>
          <a:xfrm>
            <a:off x="704850" y="4286250"/>
            <a:ext cx="4048125"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187257"/>
                </a:solidFill>
              </a:rPr>
              <a:t>LOCAL APPLICATION</a:t>
            </a:r>
          </a:p>
        </p:txBody>
      </p:sp>
      <p:sp>
        <p:nvSpPr>
          <p:cNvPr id="28" name="Rectangle: Rounded Corners 27">
            <a:extLst>
              <a:ext uri="{FF2B5EF4-FFF2-40B4-BE49-F238E27FC236}">
                <a16:creationId xmlns:a16="http://schemas.microsoft.com/office/drawing/2014/main" id="{8CCD567E-5504-424B-A4A1-6174F3A4DA2D}"/>
              </a:ext>
            </a:extLst>
          </p:cNvPr>
          <p:cNvSpPr>
            <a:spLocks noGrp="1"/>
          </p:cNvSpPr>
          <p:nvPr/>
        </p:nvSpPr>
        <p:spPr>
          <a:xfrm>
            <a:off x="704850" y="4733925"/>
            <a:ext cx="2095500" cy="1200150"/>
          </a:xfrm>
          <a:prstGeom prst="roundRect">
            <a:avLst>
              <a:gd name="adj" fmla="val 6349"/>
            </a:avLst>
          </a:prstGeom>
          <a:solidFill>
            <a:srgbClr val="FFFFFF"/>
          </a:solidFill>
          <a:ln w="9525">
            <a:solidFill>
              <a:srgbClr val="D3DED1"/>
            </a:solidFill>
            <a:prstDash val="solid"/>
          </a:ln>
        </p:spPr>
        <p:txBody>
          <a:bodyPr/>
          <a:lstStyle/>
          <a:p>
            <a:endParaRPr lang="en-GB"/>
          </a:p>
        </p:txBody>
      </p:sp>
      <p:sp>
        <p:nvSpPr>
          <p:cNvPr id="29" name="Rectangle 28">
            <a:extLst>
              <a:ext uri="{FF2B5EF4-FFF2-40B4-BE49-F238E27FC236}">
                <a16:creationId xmlns:a16="http://schemas.microsoft.com/office/drawing/2014/main" id="{0D7AAC39-B55C-433F-9A2A-0A9525E71B83}"/>
              </a:ext>
            </a:extLst>
          </p:cNvPr>
          <p:cNvSpPr>
            <a:spLocks noGrp="1"/>
          </p:cNvSpPr>
          <p:nvPr/>
        </p:nvSpPr>
        <p:spPr>
          <a:xfrm>
            <a:off x="857250" y="4848225"/>
            <a:ext cx="17907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React / Vite UI</a:t>
            </a:r>
          </a:p>
        </p:txBody>
      </p:sp>
      <p:sp>
        <p:nvSpPr>
          <p:cNvPr id="30" name="Rectangle 29">
            <a:extLst>
              <a:ext uri="{FF2B5EF4-FFF2-40B4-BE49-F238E27FC236}">
                <a16:creationId xmlns:a16="http://schemas.microsoft.com/office/drawing/2014/main" id="{677712CF-FD81-43A7-8D6A-AF943035561B}"/>
              </a:ext>
            </a:extLst>
          </p:cNvPr>
          <p:cNvSpPr>
            <a:spLocks noGrp="1"/>
          </p:cNvSpPr>
          <p:nvPr/>
        </p:nvSpPr>
        <p:spPr>
          <a:xfrm>
            <a:off x="857250" y="5200650"/>
            <a:ext cx="1790700"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Submit runs, inspect cases,</a:t>
            </a:r>
          </a:p>
          <a:p>
            <a:r>
              <a:rPr sz="1275" b="0">
                <a:solidFill>
                  <a:srgbClr val="61766A"/>
                </a:solidFill>
              </a:rPr>
              <a:t>record analyst notes</a:t>
            </a:r>
          </a:p>
        </p:txBody>
      </p:sp>
      <p:sp>
        <p:nvSpPr>
          <p:cNvPr id="31" name="Rectangle: Rounded Corners 30">
            <a:extLst>
              <a:ext uri="{FF2B5EF4-FFF2-40B4-BE49-F238E27FC236}">
                <a16:creationId xmlns:a16="http://schemas.microsoft.com/office/drawing/2014/main" id="{8ADC55E4-68ED-48EB-9AFE-7293FFAAD890}"/>
              </a:ext>
            </a:extLst>
          </p:cNvPr>
          <p:cNvSpPr>
            <a:spLocks noGrp="1"/>
          </p:cNvSpPr>
          <p:nvPr/>
        </p:nvSpPr>
        <p:spPr>
          <a:xfrm>
            <a:off x="3133725" y="4733925"/>
            <a:ext cx="2381250" cy="1200150"/>
          </a:xfrm>
          <a:prstGeom prst="roundRect">
            <a:avLst>
              <a:gd name="adj" fmla="val 6349"/>
            </a:avLst>
          </a:prstGeom>
          <a:solidFill>
            <a:srgbClr val="FFFFFF"/>
          </a:solidFill>
          <a:ln w="9525">
            <a:solidFill>
              <a:srgbClr val="D3DED1"/>
            </a:solidFill>
            <a:prstDash val="solid"/>
          </a:ln>
        </p:spPr>
        <p:txBody>
          <a:bodyPr/>
          <a:lstStyle/>
          <a:p>
            <a:endParaRPr lang="en-GB"/>
          </a:p>
        </p:txBody>
      </p:sp>
      <p:sp>
        <p:nvSpPr>
          <p:cNvPr id="32" name="Rectangle 31">
            <a:extLst>
              <a:ext uri="{FF2B5EF4-FFF2-40B4-BE49-F238E27FC236}">
                <a16:creationId xmlns:a16="http://schemas.microsoft.com/office/drawing/2014/main" id="{DF071F13-8016-4D38-B5BB-9CFE1AF72A44}"/>
              </a:ext>
            </a:extLst>
          </p:cNvPr>
          <p:cNvSpPr>
            <a:spLocks noGrp="1"/>
          </p:cNvSpPr>
          <p:nvPr/>
        </p:nvSpPr>
        <p:spPr>
          <a:xfrm>
            <a:off x="3286125" y="4848225"/>
            <a:ext cx="20764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FastAPI service</a:t>
            </a:r>
          </a:p>
        </p:txBody>
      </p:sp>
      <p:sp>
        <p:nvSpPr>
          <p:cNvPr id="33" name="Rectangle 32">
            <a:extLst>
              <a:ext uri="{FF2B5EF4-FFF2-40B4-BE49-F238E27FC236}">
                <a16:creationId xmlns:a16="http://schemas.microsoft.com/office/drawing/2014/main" id="{C58E685C-82E6-41B9-9F57-1B2F8A0F26D8}"/>
              </a:ext>
            </a:extLst>
          </p:cNvPr>
          <p:cNvSpPr>
            <a:spLocks noGrp="1"/>
          </p:cNvSpPr>
          <p:nvPr/>
        </p:nvSpPr>
        <p:spPr>
          <a:xfrm>
            <a:off x="3286125" y="5200650"/>
            <a:ext cx="2076450"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Validate requests, expose</a:t>
            </a:r>
          </a:p>
          <a:p>
            <a:r>
              <a:rPr sz="1275" b="0">
                <a:solidFill>
                  <a:srgbClr val="61766A"/>
                </a:solidFill>
              </a:rPr>
              <a:t>run status and results</a:t>
            </a:r>
          </a:p>
        </p:txBody>
      </p:sp>
      <p:sp>
        <p:nvSpPr>
          <p:cNvPr id="34" name="Rectangle: Rounded Corners 33">
            <a:extLst>
              <a:ext uri="{FF2B5EF4-FFF2-40B4-BE49-F238E27FC236}">
                <a16:creationId xmlns:a16="http://schemas.microsoft.com/office/drawing/2014/main" id="{353D1851-77AE-4B2C-AE0B-13EF39DC0E96}"/>
              </a:ext>
            </a:extLst>
          </p:cNvPr>
          <p:cNvSpPr>
            <a:spLocks noGrp="1"/>
          </p:cNvSpPr>
          <p:nvPr/>
        </p:nvSpPr>
        <p:spPr>
          <a:xfrm>
            <a:off x="5848350" y="4733925"/>
            <a:ext cx="2466975" cy="1200150"/>
          </a:xfrm>
          <a:prstGeom prst="roundRect">
            <a:avLst>
              <a:gd name="adj" fmla="val 6349"/>
            </a:avLst>
          </a:prstGeom>
          <a:solidFill>
            <a:srgbClr val="DDEBDD"/>
          </a:solidFill>
          <a:ln w="9525">
            <a:solidFill>
              <a:srgbClr val="D3DED1"/>
            </a:solidFill>
            <a:prstDash val="solid"/>
          </a:ln>
        </p:spPr>
        <p:txBody>
          <a:bodyPr/>
          <a:lstStyle/>
          <a:p>
            <a:endParaRPr lang="en-GB"/>
          </a:p>
        </p:txBody>
      </p:sp>
      <p:sp>
        <p:nvSpPr>
          <p:cNvPr id="35" name="Rectangle 34">
            <a:extLst>
              <a:ext uri="{FF2B5EF4-FFF2-40B4-BE49-F238E27FC236}">
                <a16:creationId xmlns:a16="http://schemas.microsoft.com/office/drawing/2014/main" id="{00BDFFC2-81FE-4ADC-8167-7FD63642D2F6}"/>
              </a:ext>
            </a:extLst>
          </p:cNvPr>
          <p:cNvSpPr>
            <a:spLocks noGrp="1"/>
          </p:cNvSpPr>
          <p:nvPr/>
        </p:nvSpPr>
        <p:spPr>
          <a:xfrm>
            <a:off x="6000750" y="4848225"/>
            <a:ext cx="21621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Single worker</a:t>
            </a:r>
          </a:p>
        </p:txBody>
      </p:sp>
      <p:sp>
        <p:nvSpPr>
          <p:cNvPr id="36" name="Rectangle 35">
            <a:extLst>
              <a:ext uri="{FF2B5EF4-FFF2-40B4-BE49-F238E27FC236}">
                <a16:creationId xmlns:a16="http://schemas.microsoft.com/office/drawing/2014/main" id="{2446CC98-93AB-48D9-B391-4F3C59B1F721}"/>
              </a:ext>
            </a:extLst>
          </p:cNvPr>
          <p:cNvSpPr>
            <a:spLocks noGrp="1"/>
          </p:cNvSpPr>
          <p:nvPr/>
        </p:nvSpPr>
        <p:spPr>
          <a:xfrm>
            <a:off x="6000750" y="5200650"/>
            <a:ext cx="2162175" cy="6667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bundle, compute</a:t>
            </a:r>
          </a:p>
          <a:p>
            <a:r>
              <a:rPr sz="1275" b="0">
                <a:solidFill>
                  <a:srgbClr val="61766A"/>
                </a:solidFill>
              </a:rPr>
              <a:t>features, score and publish</a:t>
            </a:r>
          </a:p>
        </p:txBody>
      </p:sp>
      <p:sp>
        <p:nvSpPr>
          <p:cNvPr id="37" name="Arrow: Right 36">
            <a:extLst>
              <a:ext uri="{FF2B5EF4-FFF2-40B4-BE49-F238E27FC236}">
                <a16:creationId xmlns:a16="http://schemas.microsoft.com/office/drawing/2014/main" id="{76A7F164-8E4E-434D-A152-5F758EAF6240}"/>
              </a:ext>
            </a:extLst>
          </p:cNvPr>
          <p:cNvSpPr>
            <a:spLocks noGrp="1"/>
          </p:cNvSpPr>
          <p:nvPr/>
        </p:nvSpPr>
        <p:spPr>
          <a:xfrm>
            <a:off x="2857500" y="5238750"/>
            <a:ext cx="219075" cy="171450"/>
          </a:xfrm>
          <a:prstGeom prst="rightArrow">
            <a:avLst/>
          </a:prstGeom>
          <a:solidFill>
            <a:srgbClr val="187257"/>
          </a:solidFill>
          <a:ln w="0">
            <a:solidFill>
              <a:srgbClr val="187257"/>
            </a:solidFill>
          </a:ln>
        </p:spPr>
        <p:txBody>
          <a:bodyPr/>
          <a:lstStyle/>
          <a:p>
            <a:endParaRPr lang="en-GB"/>
          </a:p>
        </p:txBody>
      </p:sp>
      <p:sp>
        <p:nvSpPr>
          <p:cNvPr id="38" name="Arrow: Right 37">
            <a:extLst>
              <a:ext uri="{FF2B5EF4-FFF2-40B4-BE49-F238E27FC236}">
                <a16:creationId xmlns:a16="http://schemas.microsoft.com/office/drawing/2014/main" id="{D04EE175-BFE8-43FD-AF2D-37216D6AAA01}"/>
              </a:ext>
            </a:extLst>
          </p:cNvPr>
          <p:cNvSpPr>
            <a:spLocks noGrp="1"/>
          </p:cNvSpPr>
          <p:nvPr/>
        </p:nvSpPr>
        <p:spPr>
          <a:xfrm>
            <a:off x="5572125" y="5238750"/>
            <a:ext cx="219075" cy="171450"/>
          </a:xfrm>
          <a:prstGeom prst="rightArrow">
            <a:avLst/>
          </a:prstGeom>
          <a:solidFill>
            <a:srgbClr val="187257"/>
          </a:solidFill>
          <a:ln w="0">
            <a:solidFill>
              <a:srgbClr val="187257"/>
            </a:solidFill>
          </a:ln>
        </p:spPr>
        <p:txBody>
          <a:bodyPr/>
          <a:lstStyle/>
          <a:p>
            <a:endParaRPr lang="en-GB"/>
          </a:p>
        </p:txBody>
      </p:sp>
      <p:sp>
        <p:nvSpPr>
          <p:cNvPr id="39" name="Rectangle: Rounded Corners 38">
            <a:extLst>
              <a:ext uri="{FF2B5EF4-FFF2-40B4-BE49-F238E27FC236}">
                <a16:creationId xmlns:a16="http://schemas.microsoft.com/office/drawing/2014/main" id="{0AFC149A-685C-4E92-ADED-E81946F12575}"/>
              </a:ext>
            </a:extLst>
          </p:cNvPr>
          <p:cNvSpPr>
            <a:spLocks noGrp="1"/>
          </p:cNvSpPr>
          <p:nvPr/>
        </p:nvSpPr>
        <p:spPr>
          <a:xfrm>
            <a:off x="8886825" y="4410075"/>
            <a:ext cx="2600325" cy="762000"/>
          </a:xfrm>
          <a:prstGeom prst="roundRect">
            <a:avLst>
              <a:gd name="adj" fmla="val 10000"/>
            </a:avLst>
          </a:prstGeom>
          <a:solidFill>
            <a:srgbClr val="FFFFFF"/>
          </a:solidFill>
          <a:ln w="9525">
            <a:solidFill>
              <a:srgbClr val="D3DED1"/>
            </a:solidFill>
            <a:prstDash val="solid"/>
          </a:ln>
        </p:spPr>
        <p:txBody>
          <a:bodyPr/>
          <a:lstStyle/>
          <a:p>
            <a:endParaRPr lang="en-GB"/>
          </a:p>
        </p:txBody>
      </p:sp>
      <p:sp>
        <p:nvSpPr>
          <p:cNvPr id="40" name="Rectangle 39">
            <a:extLst>
              <a:ext uri="{FF2B5EF4-FFF2-40B4-BE49-F238E27FC236}">
                <a16:creationId xmlns:a16="http://schemas.microsoft.com/office/drawing/2014/main" id="{7F689811-B296-4E96-94F7-81E6B3F6A147}"/>
              </a:ext>
            </a:extLst>
          </p:cNvPr>
          <p:cNvSpPr>
            <a:spLocks noGrp="1"/>
          </p:cNvSpPr>
          <p:nvPr/>
        </p:nvSpPr>
        <p:spPr>
          <a:xfrm>
            <a:off x="9039225" y="452437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PostgreSQL</a:t>
            </a:r>
          </a:p>
        </p:txBody>
      </p:sp>
      <p:sp>
        <p:nvSpPr>
          <p:cNvPr id="41" name="Rectangle 40">
            <a:extLst>
              <a:ext uri="{FF2B5EF4-FFF2-40B4-BE49-F238E27FC236}">
                <a16:creationId xmlns:a16="http://schemas.microsoft.com/office/drawing/2014/main" id="{69CE707C-69E1-48D8-A278-3CAE38A9CC96}"/>
              </a:ext>
            </a:extLst>
          </p:cNvPr>
          <p:cNvSpPr>
            <a:spLocks noGrp="1"/>
          </p:cNvSpPr>
          <p:nvPr/>
        </p:nvSpPr>
        <p:spPr>
          <a:xfrm>
            <a:off x="9039225" y="4876800"/>
            <a:ext cx="22955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Run state, metadata, audit</a:t>
            </a:r>
          </a:p>
        </p:txBody>
      </p:sp>
      <p:sp>
        <p:nvSpPr>
          <p:cNvPr id="42" name="Rectangle: Rounded Corners 41">
            <a:extLst>
              <a:ext uri="{FF2B5EF4-FFF2-40B4-BE49-F238E27FC236}">
                <a16:creationId xmlns:a16="http://schemas.microsoft.com/office/drawing/2014/main" id="{8B9CED53-DC0E-40A3-A9DA-3CFA469E7B30}"/>
              </a:ext>
            </a:extLst>
          </p:cNvPr>
          <p:cNvSpPr>
            <a:spLocks noGrp="1"/>
          </p:cNvSpPr>
          <p:nvPr/>
        </p:nvSpPr>
        <p:spPr>
          <a:xfrm>
            <a:off x="8886825" y="5286375"/>
            <a:ext cx="2600325" cy="762000"/>
          </a:xfrm>
          <a:prstGeom prst="roundRect">
            <a:avLst>
              <a:gd name="adj" fmla="val 10000"/>
            </a:avLst>
          </a:prstGeom>
          <a:solidFill>
            <a:srgbClr val="FFFFFF"/>
          </a:solidFill>
          <a:ln w="9525">
            <a:solidFill>
              <a:srgbClr val="D3DED1"/>
            </a:solidFill>
            <a:prstDash val="solid"/>
          </a:ln>
        </p:spPr>
        <p:txBody>
          <a:bodyPr/>
          <a:lstStyle/>
          <a:p>
            <a:endParaRPr lang="en-GB"/>
          </a:p>
        </p:txBody>
      </p:sp>
      <p:sp>
        <p:nvSpPr>
          <p:cNvPr id="43" name="Rectangle 42">
            <a:extLst>
              <a:ext uri="{FF2B5EF4-FFF2-40B4-BE49-F238E27FC236}">
                <a16:creationId xmlns:a16="http://schemas.microsoft.com/office/drawing/2014/main" id="{F66A1349-45DE-418B-98E0-D14922571903}"/>
              </a:ext>
            </a:extLst>
          </p:cNvPr>
          <p:cNvSpPr>
            <a:spLocks noGrp="1"/>
          </p:cNvSpPr>
          <p:nvPr/>
        </p:nvSpPr>
        <p:spPr>
          <a:xfrm>
            <a:off x="9039225" y="5400675"/>
            <a:ext cx="22955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Artifact storage</a:t>
            </a:r>
          </a:p>
        </p:txBody>
      </p:sp>
      <p:sp>
        <p:nvSpPr>
          <p:cNvPr id="44" name="Rectangle 43">
            <a:extLst>
              <a:ext uri="{FF2B5EF4-FFF2-40B4-BE49-F238E27FC236}">
                <a16:creationId xmlns:a16="http://schemas.microsoft.com/office/drawing/2014/main" id="{10C776AC-E06B-4688-9894-D017339A61FA}"/>
              </a:ext>
            </a:extLst>
          </p:cNvPr>
          <p:cNvSpPr>
            <a:spLocks noGrp="1"/>
          </p:cNvSpPr>
          <p:nvPr/>
        </p:nvSpPr>
        <p:spPr>
          <a:xfrm>
            <a:off x="9039225" y="5753100"/>
            <a:ext cx="22955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Parquet results + JSON</a:t>
            </a:r>
          </a:p>
        </p:txBody>
      </p:sp>
      <p:sp>
        <p:nvSpPr>
          <p:cNvPr id="45" name="Rectangle 44">
            <a:extLst>
              <a:ext uri="{FF2B5EF4-FFF2-40B4-BE49-F238E27FC236}">
                <a16:creationId xmlns:a16="http://schemas.microsoft.com/office/drawing/2014/main" id="{46D94284-8E86-4F1C-8311-6CF315FA758A}"/>
              </a:ext>
            </a:extLst>
          </p:cNvPr>
          <p:cNvSpPr>
            <a:spLocks noGrp="1"/>
          </p:cNvSpPr>
          <p:nvPr/>
        </p:nvSpPr>
        <p:spPr>
          <a:xfrm>
            <a:off x="8362950" y="5324475"/>
            <a:ext cx="219075" cy="19050"/>
          </a:xfrm>
          <a:prstGeom prst="rect">
            <a:avLst/>
          </a:prstGeom>
          <a:solidFill>
            <a:srgbClr val="187257"/>
          </a:solidFill>
          <a:ln w="9525">
            <a:solidFill>
              <a:srgbClr val="187257"/>
            </a:solidFill>
            <a:prstDash val="solid"/>
          </a:ln>
        </p:spPr>
        <p:txBody>
          <a:bodyPr/>
          <a:lstStyle/>
          <a:p>
            <a:endParaRPr lang="en-GB"/>
          </a:p>
        </p:txBody>
      </p:sp>
      <p:sp>
        <p:nvSpPr>
          <p:cNvPr id="46" name="Rectangle 45">
            <a:extLst>
              <a:ext uri="{FF2B5EF4-FFF2-40B4-BE49-F238E27FC236}">
                <a16:creationId xmlns:a16="http://schemas.microsoft.com/office/drawing/2014/main" id="{432AE94F-0773-43FB-9169-4F92CB4AD394}"/>
              </a:ext>
            </a:extLst>
          </p:cNvPr>
          <p:cNvSpPr>
            <a:spLocks noGrp="1"/>
          </p:cNvSpPr>
          <p:nvPr/>
        </p:nvSpPr>
        <p:spPr>
          <a:xfrm>
            <a:off x="8562975" y="4781550"/>
            <a:ext cx="19050" cy="885825"/>
          </a:xfrm>
          <a:prstGeom prst="rect">
            <a:avLst/>
          </a:prstGeom>
          <a:solidFill>
            <a:srgbClr val="187257"/>
          </a:solidFill>
          <a:ln w="9525">
            <a:solidFill>
              <a:srgbClr val="187257"/>
            </a:solidFill>
            <a:prstDash val="solid"/>
          </a:ln>
        </p:spPr>
        <p:txBody>
          <a:bodyPr/>
          <a:lstStyle/>
          <a:p>
            <a:endParaRPr lang="en-GB"/>
          </a:p>
        </p:txBody>
      </p:sp>
      <p:sp>
        <p:nvSpPr>
          <p:cNvPr id="47" name="Rectangle 46">
            <a:extLst>
              <a:ext uri="{FF2B5EF4-FFF2-40B4-BE49-F238E27FC236}">
                <a16:creationId xmlns:a16="http://schemas.microsoft.com/office/drawing/2014/main" id="{7907A8B0-6A97-4064-BB6E-2ACCA31424FA}"/>
              </a:ext>
            </a:extLst>
          </p:cNvPr>
          <p:cNvSpPr>
            <a:spLocks noGrp="1"/>
          </p:cNvSpPr>
          <p:nvPr/>
        </p:nvSpPr>
        <p:spPr>
          <a:xfrm>
            <a:off x="8572500" y="4781550"/>
            <a:ext cx="85725" cy="19050"/>
          </a:xfrm>
          <a:prstGeom prst="rect">
            <a:avLst/>
          </a:prstGeom>
          <a:solidFill>
            <a:srgbClr val="187257"/>
          </a:solidFill>
          <a:ln w="9525">
            <a:solidFill>
              <a:srgbClr val="187257"/>
            </a:solidFill>
            <a:prstDash val="solid"/>
          </a:ln>
        </p:spPr>
        <p:txBody>
          <a:bodyPr/>
          <a:lstStyle/>
          <a:p>
            <a:endParaRPr lang="en-GB"/>
          </a:p>
        </p:txBody>
      </p:sp>
      <p:sp>
        <p:nvSpPr>
          <p:cNvPr id="48" name="Rectangle 47">
            <a:extLst>
              <a:ext uri="{FF2B5EF4-FFF2-40B4-BE49-F238E27FC236}">
                <a16:creationId xmlns:a16="http://schemas.microsoft.com/office/drawing/2014/main" id="{82AAA5A6-4C8A-43D6-BFAB-4423FC2FD155}"/>
              </a:ext>
            </a:extLst>
          </p:cNvPr>
          <p:cNvSpPr>
            <a:spLocks noGrp="1"/>
          </p:cNvSpPr>
          <p:nvPr/>
        </p:nvSpPr>
        <p:spPr>
          <a:xfrm>
            <a:off x="8572500" y="5657850"/>
            <a:ext cx="85725" cy="19050"/>
          </a:xfrm>
          <a:prstGeom prst="rect">
            <a:avLst/>
          </a:prstGeom>
          <a:solidFill>
            <a:srgbClr val="187257"/>
          </a:solidFill>
          <a:ln w="9525">
            <a:solidFill>
              <a:srgbClr val="187257"/>
            </a:solidFill>
            <a:prstDash val="solid"/>
          </a:ln>
        </p:spPr>
        <p:txBody>
          <a:bodyPr/>
          <a:lstStyle/>
          <a:p>
            <a:endParaRPr lang="en-GB"/>
          </a:p>
        </p:txBody>
      </p:sp>
      <p:sp>
        <p:nvSpPr>
          <p:cNvPr id="49" name="Arrow: Right 48">
            <a:extLst>
              <a:ext uri="{FF2B5EF4-FFF2-40B4-BE49-F238E27FC236}">
                <a16:creationId xmlns:a16="http://schemas.microsoft.com/office/drawing/2014/main" id="{625F14E0-7042-49BB-94D1-55CC9A79D756}"/>
              </a:ext>
            </a:extLst>
          </p:cNvPr>
          <p:cNvSpPr>
            <a:spLocks noGrp="1"/>
          </p:cNvSpPr>
          <p:nvPr/>
        </p:nvSpPr>
        <p:spPr>
          <a:xfrm>
            <a:off x="8648700" y="4705350"/>
            <a:ext cx="180975" cy="171450"/>
          </a:xfrm>
          <a:prstGeom prst="rightArrow">
            <a:avLst/>
          </a:prstGeom>
          <a:solidFill>
            <a:srgbClr val="187257"/>
          </a:solidFill>
          <a:ln w="0">
            <a:solidFill>
              <a:srgbClr val="187257"/>
            </a:solidFill>
          </a:ln>
        </p:spPr>
        <p:txBody>
          <a:bodyPr/>
          <a:lstStyle/>
          <a:p>
            <a:endParaRPr lang="en-GB"/>
          </a:p>
        </p:txBody>
      </p:sp>
      <p:sp>
        <p:nvSpPr>
          <p:cNvPr id="50" name="Arrow: Right 49">
            <a:extLst>
              <a:ext uri="{FF2B5EF4-FFF2-40B4-BE49-F238E27FC236}">
                <a16:creationId xmlns:a16="http://schemas.microsoft.com/office/drawing/2014/main" id="{CD6C75BE-F342-408E-A55E-8585BD84D384}"/>
              </a:ext>
            </a:extLst>
          </p:cNvPr>
          <p:cNvSpPr>
            <a:spLocks noGrp="1"/>
          </p:cNvSpPr>
          <p:nvPr/>
        </p:nvSpPr>
        <p:spPr>
          <a:xfrm>
            <a:off x="8648700" y="5581650"/>
            <a:ext cx="180975" cy="171450"/>
          </a:xfrm>
          <a:prstGeom prst="rightArrow">
            <a:avLst/>
          </a:prstGeom>
          <a:solidFill>
            <a:srgbClr val="187257"/>
          </a:solidFill>
          <a:ln w="0">
            <a:solidFill>
              <a:srgbClr val="187257"/>
            </a:solidFill>
          </a:ln>
        </p:spPr>
        <p:txBody>
          <a:bodyPr/>
          <a:lstStyle/>
          <a:p>
            <a:endParaRPr lang="en-GB"/>
          </a:p>
        </p:txBody>
      </p:sp>
      <p:sp>
        <p:nvSpPr>
          <p:cNvPr id="51" name="Rectangle 50">
            <a:extLst>
              <a:ext uri="{FF2B5EF4-FFF2-40B4-BE49-F238E27FC236}">
                <a16:creationId xmlns:a16="http://schemas.microsoft.com/office/drawing/2014/main" id="{AF4750A2-84FF-439B-B14D-0DF3A2890F11}"/>
              </a:ext>
            </a:extLst>
          </p:cNvPr>
          <p:cNvSpPr>
            <a:spLocks noGrp="1"/>
          </p:cNvSpPr>
          <p:nvPr/>
        </p:nvSpPr>
        <p:spPr>
          <a:xfrm>
            <a:off x="10182225" y="3609975"/>
            <a:ext cx="19050" cy="333375"/>
          </a:xfrm>
          <a:prstGeom prst="rect">
            <a:avLst/>
          </a:prstGeom>
          <a:solidFill>
            <a:srgbClr val="187257"/>
          </a:solidFill>
          <a:ln w="9525">
            <a:solidFill>
              <a:srgbClr val="187257"/>
            </a:solidFill>
            <a:prstDash val="solid"/>
          </a:ln>
        </p:spPr>
        <p:txBody>
          <a:bodyPr/>
          <a:lstStyle/>
          <a:p>
            <a:endParaRPr lang="en-GB"/>
          </a:p>
        </p:txBody>
      </p:sp>
      <p:sp>
        <p:nvSpPr>
          <p:cNvPr id="52" name="Rectangle 51">
            <a:extLst>
              <a:ext uri="{FF2B5EF4-FFF2-40B4-BE49-F238E27FC236}">
                <a16:creationId xmlns:a16="http://schemas.microsoft.com/office/drawing/2014/main" id="{EB47B55C-5B61-4027-8769-04AEDAFA5B1F}"/>
              </a:ext>
            </a:extLst>
          </p:cNvPr>
          <p:cNvSpPr>
            <a:spLocks noGrp="1"/>
          </p:cNvSpPr>
          <p:nvPr/>
        </p:nvSpPr>
        <p:spPr>
          <a:xfrm>
            <a:off x="7067550" y="3924300"/>
            <a:ext cx="3133725" cy="19050"/>
          </a:xfrm>
          <a:prstGeom prst="rect">
            <a:avLst/>
          </a:prstGeom>
          <a:solidFill>
            <a:srgbClr val="187257"/>
          </a:solidFill>
          <a:ln w="9525">
            <a:solidFill>
              <a:srgbClr val="187257"/>
            </a:solidFill>
            <a:prstDash val="solid"/>
          </a:ln>
        </p:spPr>
        <p:txBody>
          <a:bodyPr/>
          <a:lstStyle/>
          <a:p>
            <a:endParaRPr lang="en-GB"/>
          </a:p>
        </p:txBody>
      </p:sp>
      <p:sp>
        <p:nvSpPr>
          <p:cNvPr id="53" name="Rectangle 52">
            <a:extLst>
              <a:ext uri="{FF2B5EF4-FFF2-40B4-BE49-F238E27FC236}">
                <a16:creationId xmlns:a16="http://schemas.microsoft.com/office/drawing/2014/main" id="{71FDC83A-2B81-4C99-82C6-9AA09A54BE01}"/>
              </a:ext>
            </a:extLst>
          </p:cNvPr>
          <p:cNvSpPr>
            <a:spLocks noGrp="1"/>
          </p:cNvSpPr>
          <p:nvPr/>
        </p:nvSpPr>
        <p:spPr>
          <a:xfrm>
            <a:off x="7067550" y="3924300"/>
            <a:ext cx="19050" cy="685800"/>
          </a:xfrm>
          <a:prstGeom prst="rect">
            <a:avLst/>
          </a:prstGeom>
          <a:solidFill>
            <a:srgbClr val="187257"/>
          </a:solidFill>
          <a:ln w="9525">
            <a:solidFill>
              <a:srgbClr val="187257"/>
            </a:solidFill>
            <a:prstDash val="solid"/>
          </a:ln>
        </p:spPr>
        <p:txBody>
          <a:bodyPr/>
          <a:lstStyle/>
          <a:p>
            <a:endParaRPr lang="en-GB"/>
          </a:p>
        </p:txBody>
      </p:sp>
      <p:sp>
        <p:nvSpPr>
          <p:cNvPr id="54" name="Arrow: Down 53">
            <a:extLst>
              <a:ext uri="{FF2B5EF4-FFF2-40B4-BE49-F238E27FC236}">
                <a16:creationId xmlns:a16="http://schemas.microsoft.com/office/drawing/2014/main" id="{FC96EDE6-10F0-471C-ADB1-E048EAF240E2}"/>
              </a:ext>
            </a:extLst>
          </p:cNvPr>
          <p:cNvSpPr>
            <a:spLocks noGrp="1"/>
          </p:cNvSpPr>
          <p:nvPr/>
        </p:nvSpPr>
        <p:spPr>
          <a:xfrm>
            <a:off x="7000875" y="4572000"/>
            <a:ext cx="171450" cy="133350"/>
          </a:xfrm>
          <a:prstGeom prst="downArrow">
            <a:avLst/>
          </a:prstGeom>
          <a:solidFill>
            <a:srgbClr val="187257"/>
          </a:solidFill>
          <a:ln w="0">
            <a:solidFill>
              <a:srgbClr val="187257"/>
            </a:solidFill>
          </a:ln>
        </p:spPr>
        <p:txBody>
          <a:bodyPr/>
          <a:lstStyle/>
          <a:p>
            <a:endParaRPr lang="en-GB"/>
          </a:p>
        </p:txBody>
      </p:sp>
      <p:sp>
        <p:nvSpPr>
          <p:cNvPr id="55" name="Rectangle 54">
            <a:extLst>
              <a:ext uri="{FF2B5EF4-FFF2-40B4-BE49-F238E27FC236}">
                <a16:creationId xmlns:a16="http://schemas.microsoft.com/office/drawing/2014/main" id="{FFD3846D-9E8C-4A9C-BE92-7C33494394DF}"/>
              </a:ext>
            </a:extLst>
          </p:cNvPr>
          <p:cNvSpPr>
            <a:spLocks noGrp="1"/>
          </p:cNvSpPr>
          <p:nvPr/>
        </p:nvSpPr>
        <p:spPr>
          <a:xfrm>
            <a:off x="723900" y="3886200"/>
            <a:ext cx="600075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a versioned bundle; never fit at runtime</a:t>
            </a:r>
          </a:p>
        </p:txBody>
      </p:sp>
    </p:spTree>
    <p:extLst>
      <p:ext uri="{BB962C8B-B14F-4D97-AF65-F5344CB8AC3E}">
        <p14:creationId xmlns:p14="http://schemas.microsoft.com/office/powerpoint/2010/main" val="4864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6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BD5F2684-8569-4929-BB47-B9D602F1791C}"/>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2B56D1D7-6BCD-47BC-9536-89B8B873C634}"/>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DATA FLOW DIAGRAM</a:t>
            </a:r>
          </a:p>
        </p:txBody>
      </p:sp>
      <p:sp>
        <p:nvSpPr>
          <p:cNvPr id="4" name="Rectangle 3">
            <a:extLst>
              <a:ext uri="{FF2B5EF4-FFF2-40B4-BE49-F238E27FC236}">
                <a16:creationId xmlns:a16="http://schemas.microsoft.com/office/drawing/2014/main" id="{08748FFC-BCB1-4486-AF57-4ED86B6BE9EB}"/>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From raw events to reviewable evidence.</a:t>
            </a:r>
          </a:p>
        </p:txBody>
      </p:sp>
      <p:sp>
        <p:nvSpPr>
          <p:cNvPr id="5" name="Rectangle 4">
            <a:extLst>
              <a:ext uri="{FF2B5EF4-FFF2-40B4-BE49-F238E27FC236}">
                <a16:creationId xmlns:a16="http://schemas.microsoft.com/office/drawing/2014/main" id="{C82F6DBC-CF01-4833-B620-EC80681B1BC5}"/>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Operational tables move through shared validation and feature logic; private truth stays offline.</a:t>
            </a:r>
          </a:p>
        </p:txBody>
      </p:sp>
      <p:sp>
        <p:nvSpPr>
          <p:cNvPr id="6" name="Rectangle 5">
            <a:extLst>
              <a:ext uri="{FF2B5EF4-FFF2-40B4-BE49-F238E27FC236}">
                <a16:creationId xmlns:a16="http://schemas.microsoft.com/office/drawing/2014/main" id="{03DB0CF6-3624-4753-AA9D-AD1E99D6EDF7}"/>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79B56F34-9C7C-438C-9263-56BA2D4F1DF9}"/>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D213886-6464-4C07-A02E-C790473E06AE}"/>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06</a:t>
            </a:r>
          </a:p>
        </p:txBody>
      </p:sp>
      <p:sp>
        <p:nvSpPr>
          <p:cNvPr id="9" name="Rectangle 8">
            <a:extLst>
              <a:ext uri="{FF2B5EF4-FFF2-40B4-BE49-F238E27FC236}">
                <a16:creationId xmlns:a16="http://schemas.microsoft.com/office/drawing/2014/main" id="{217489C7-EF0C-4013-8987-DAC65008998A}"/>
              </a:ext>
            </a:extLst>
          </p:cNvPr>
          <p:cNvSpPr>
            <a:spLocks noGrp="1"/>
          </p:cNvSpPr>
          <p:nvPr/>
        </p:nvSpPr>
        <p:spPr>
          <a:xfrm>
            <a:off x="533400" y="2438400"/>
            <a:ext cx="571500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A  /  OFFLINE LEARNING</a:t>
            </a:r>
          </a:p>
        </p:txBody>
      </p:sp>
      <p:sp>
        <p:nvSpPr>
          <p:cNvPr id="10" name="Rectangle: Rounded Corners 9">
            <a:extLst>
              <a:ext uri="{FF2B5EF4-FFF2-40B4-BE49-F238E27FC236}">
                <a16:creationId xmlns:a16="http://schemas.microsoft.com/office/drawing/2014/main" id="{28D1850E-778F-4A7A-81AE-60CCFDCF3283}"/>
              </a:ext>
            </a:extLst>
          </p:cNvPr>
          <p:cNvSpPr>
            <a:spLocks noGrp="1"/>
          </p:cNvSpPr>
          <p:nvPr/>
        </p:nvSpPr>
        <p:spPr>
          <a:xfrm>
            <a:off x="53340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1" name="Rectangle 10">
            <a:extLst>
              <a:ext uri="{FF2B5EF4-FFF2-40B4-BE49-F238E27FC236}">
                <a16:creationId xmlns:a16="http://schemas.microsoft.com/office/drawing/2014/main" id="{16D8C5F1-488D-4BFA-A453-85C7DE42798B}"/>
              </a:ext>
            </a:extLst>
          </p:cNvPr>
          <p:cNvSpPr>
            <a:spLocks noGrp="1"/>
          </p:cNvSpPr>
          <p:nvPr/>
        </p:nvSpPr>
        <p:spPr>
          <a:xfrm>
            <a:off x="68580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01  Generate</a:t>
            </a:r>
          </a:p>
        </p:txBody>
      </p:sp>
      <p:sp>
        <p:nvSpPr>
          <p:cNvPr id="12" name="Rectangle 11">
            <a:extLst>
              <a:ext uri="{FF2B5EF4-FFF2-40B4-BE49-F238E27FC236}">
                <a16:creationId xmlns:a16="http://schemas.microsoft.com/office/drawing/2014/main" id="{FFCCE8E5-81A3-440C-BA79-58BB023FB3A7}"/>
              </a:ext>
            </a:extLst>
          </p:cNvPr>
          <p:cNvSpPr>
            <a:spLocks noGrp="1"/>
          </p:cNvSpPr>
          <p:nvPr/>
        </p:nvSpPr>
        <p:spPr>
          <a:xfrm>
            <a:off x="68580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Seven operational</a:t>
            </a:r>
          </a:p>
          <a:p>
            <a:r>
              <a:rPr sz="1275" b="0">
                <a:solidFill>
                  <a:srgbClr val="61766A"/>
                </a:solidFill>
              </a:rPr>
              <a:t>tables per world</a:t>
            </a:r>
          </a:p>
        </p:txBody>
      </p:sp>
      <p:sp>
        <p:nvSpPr>
          <p:cNvPr id="13" name="Arrow: Right 12">
            <a:extLst>
              <a:ext uri="{FF2B5EF4-FFF2-40B4-BE49-F238E27FC236}">
                <a16:creationId xmlns:a16="http://schemas.microsoft.com/office/drawing/2014/main" id="{D79906D0-261B-4BE3-9385-31392EF0EA16}"/>
              </a:ext>
            </a:extLst>
          </p:cNvPr>
          <p:cNvSpPr>
            <a:spLocks noGrp="1"/>
          </p:cNvSpPr>
          <p:nvPr/>
        </p:nvSpPr>
        <p:spPr>
          <a:xfrm>
            <a:off x="2219325" y="3286125"/>
            <a:ext cx="161925" cy="171450"/>
          </a:xfrm>
          <a:prstGeom prst="rightArrow">
            <a:avLst/>
          </a:prstGeom>
          <a:solidFill>
            <a:srgbClr val="187257"/>
          </a:solidFill>
          <a:ln w="0">
            <a:solidFill>
              <a:srgbClr val="187257"/>
            </a:solidFill>
          </a:ln>
        </p:spPr>
        <p:txBody>
          <a:bodyPr/>
          <a:lstStyle/>
          <a:p>
            <a:endParaRPr lang="en-GB"/>
          </a:p>
        </p:txBody>
      </p:sp>
      <p:sp>
        <p:nvSpPr>
          <p:cNvPr id="14" name="Rectangle: Rounded Corners 13">
            <a:extLst>
              <a:ext uri="{FF2B5EF4-FFF2-40B4-BE49-F238E27FC236}">
                <a16:creationId xmlns:a16="http://schemas.microsoft.com/office/drawing/2014/main" id="{CE284158-DA18-48DD-9828-E9C4B374AC36}"/>
              </a:ext>
            </a:extLst>
          </p:cNvPr>
          <p:cNvSpPr>
            <a:spLocks noGrp="1"/>
          </p:cNvSpPr>
          <p:nvPr/>
        </p:nvSpPr>
        <p:spPr>
          <a:xfrm>
            <a:off x="2428875"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61C835FD-D9F5-4D35-A1D1-332775F07AE5}"/>
              </a:ext>
            </a:extLst>
          </p:cNvPr>
          <p:cNvSpPr>
            <a:spLocks noGrp="1"/>
          </p:cNvSpPr>
          <p:nvPr/>
        </p:nvSpPr>
        <p:spPr>
          <a:xfrm>
            <a:off x="258127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02  Validate</a:t>
            </a:r>
          </a:p>
        </p:txBody>
      </p:sp>
      <p:sp>
        <p:nvSpPr>
          <p:cNvPr id="16" name="Rectangle 15">
            <a:extLst>
              <a:ext uri="{FF2B5EF4-FFF2-40B4-BE49-F238E27FC236}">
                <a16:creationId xmlns:a16="http://schemas.microsoft.com/office/drawing/2014/main" id="{132F3122-A490-4973-8319-6FF5B97A45BE}"/>
              </a:ext>
            </a:extLst>
          </p:cNvPr>
          <p:cNvSpPr>
            <a:spLocks noGrp="1"/>
          </p:cNvSpPr>
          <p:nvPr/>
        </p:nvSpPr>
        <p:spPr>
          <a:xfrm>
            <a:off x="258127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Schema, keys,</a:t>
            </a:r>
          </a:p>
          <a:p>
            <a:r>
              <a:rPr sz="1275" b="0">
                <a:solidFill>
                  <a:srgbClr val="61766A"/>
                </a:solidFill>
              </a:rPr>
              <a:t>dates and maturity</a:t>
            </a:r>
          </a:p>
        </p:txBody>
      </p:sp>
      <p:sp>
        <p:nvSpPr>
          <p:cNvPr id="17" name="Arrow: Right 16">
            <a:extLst>
              <a:ext uri="{FF2B5EF4-FFF2-40B4-BE49-F238E27FC236}">
                <a16:creationId xmlns:a16="http://schemas.microsoft.com/office/drawing/2014/main" id="{B9C2CA68-97EA-4F0F-AD17-AFD2EDC4ADCC}"/>
              </a:ext>
            </a:extLst>
          </p:cNvPr>
          <p:cNvSpPr>
            <a:spLocks noGrp="1"/>
          </p:cNvSpPr>
          <p:nvPr/>
        </p:nvSpPr>
        <p:spPr>
          <a:xfrm>
            <a:off x="4114800" y="3286125"/>
            <a:ext cx="161925" cy="171450"/>
          </a:xfrm>
          <a:prstGeom prst="rightArrow">
            <a:avLst/>
          </a:prstGeom>
          <a:solidFill>
            <a:srgbClr val="187257"/>
          </a:solidFill>
          <a:ln w="0">
            <a:solidFill>
              <a:srgbClr val="187257"/>
            </a:solidFill>
          </a:ln>
        </p:spPr>
        <p:txBody>
          <a:bodyPr/>
          <a:lstStyle/>
          <a:p>
            <a:endParaRPr lang="en-GB"/>
          </a:p>
        </p:txBody>
      </p:sp>
      <p:sp>
        <p:nvSpPr>
          <p:cNvPr id="18" name="Rectangle: Rounded Corners 17">
            <a:extLst>
              <a:ext uri="{FF2B5EF4-FFF2-40B4-BE49-F238E27FC236}">
                <a16:creationId xmlns:a16="http://schemas.microsoft.com/office/drawing/2014/main" id="{5C54E866-7009-4A3D-AD98-03068864F860}"/>
              </a:ext>
            </a:extLst>
          </p:cNvPr>
          <p:cNvSpPr>
            <a:spLocks noGrp="1"/>
          </p:cNvSpPr>
          <p:nvPr/>
        </p:nvSpPr>
        <p:spPr>
          <a:xfrm>
            <a:off x="432435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A48F7151-0399-4518-B98B-E73330D372EA}"/>
              </a:ext>
            </a:extLst>
          </p:cNvPr>
          <p:cNvSpPr>
            <a:spLocks noGrp="1"/>
          </p:cNvSpPr>
          <p:nvPr/>
        </p:nvSpPr>
        <p:spPr>
          <a:xfrm>
            <a:off x="447675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03  Features</a:t>
            </a:r>
          </a:p>
        </p:txBody>
      </p:sp>
      <p:sp>
        <p:nvSpPr>
          <p:cNvPr id="20" name="Rectangle 19">
            <a:extLst>
              <a:ext uri="{FF2B5EF4-FFF2-40B4-BE49-F238E27FC236}">
                <a16:creationId xmlns:a16="http://schemas.microsoft.com/office/drawing/2014/main" id="{608E1254-52B1-4E74-AE2D-FC7E509AA765}"/>
              </a:ext>
            </a:extLst>
          </p:cNvPr>
          <p:cNvSpPr>
            <a:spLocks noGrp="1"/>
          </p:cNvSpPr>
          <p:nvPr/>
        </p:nvSpPr>
        <p:spPr>
          <a:xfrm>
            <a:off x="447675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Explore data; build</a:t>
            </a:r>
          </a:p>
          <a:p>
            <a:r>
              <a:rPr sz="1275" b="0">
                <a:solidFill>
                  <a:srgbClr val="61766A"/>
                </a:solidFill>
              </a:rPr>
              <a:t>18 numeric features</a:t>
            </a:r>
          </a:p>
        </p:txBody>
      </p:sp>
      <p:sp>
        <p:nvSpPr>
          <p:cNvPr id="21" name="Arrow: Right 20">
            <a:extLst>
              <a:ext uri="{FF2B5EF4-FFF2-40B4-BE49-F238E27FC236}">
                <a16:creationId xmlns:a16="http://schemas.microsoft.com/office/drawing/2014/main" id="{B15F5EA1-48CF-417D-A693-1597F4AC6C07}"/>
              </a:ext>
            </a:extLst>
          </p:cNvPr>
          <p:cNvSpPr>
            <a:spLocks noGrp="1"/>
          </p:cNvSpPr>
          <p:nvPr/>
        </p:nvSpPr>
        <p:spPr>
          <a:xfrm>
            <a:off x="6010275" y="3286125"/>
            <a:ext cx="161925" cy="171450"/>
          </a:xfrm>
          <a:prstGeom prst="rightArrow">
            <a:avLst/>
          </a:prstGeom>
          <a:solidFill>
            <a:srgbClr val="187257"/>
          </a:solidFill>
          <a:ln w="0">
            <a:solidFill>
              <a:srgbClr val="187257"/>
            </a:solidFill>
          </a:ln>
        </p:spPr>
        <p:txBody>
          <a:bodyPr/>
          <a:lstStyle/>
          <a:p>
            <a:endParaRPr lang="en-GB"/>
          </a:p>
        </p:txBody>
      </p:sp>
      <p:sp>
        <p:nvSpPr>
          <p:cNvPr id="22" name="Rectangle: Rounded Corners 21">
            <a:extLst>
              <a:ext uri="{FF2B5EF4-FFF2-40B4-BE49-F238E27FC236}">
                <a16:creationId xmlns:a16="http://schemas.microsoft.com/office/drawing/2014/main" id="{AD53C26A-DB32-4089-9B7F-25D81B6AB44A}"/>
              </a:ext>
            </a:extLst>
          </p:cNvPr>
          <p:cNvSpPr>
            <a:spLocks noGrp="1"/>
          </p:cNvSpPr>
          <p:nvPr/>
        </p:nvSpPr>
        <p:spPr>
          <a:xfrm>
            <a:off x="6219825"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23" name="Rectangle 22">
            <a:extLst>
              <a:ext uri="{FF2B5EF4-FFF2-40B4-BE49-F238E27FC236}">
                <a16:creationId xmlns:a16="http://schemas.microsoft.com/office/drawing/2014/main" id="{1E5C2BB0-5BAE-44B4-9DA6-45AFEB5DD114}"/>
              </a:ext>
            </a:extLst>
          </p:cNvPr>
          <p:cNvSpPr>
            <a:spLocks noGrp="1"/>
          </p:cNvSpPr>
          <p:nvPr/>
        </p:nvSpPr>
        <p:spPr>
          <a:xfrm>
            <a:off x="637222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04  Train</a:t>
            </a:r>
          </a:p>
        </p:txBody>
      </p:sp>
      <p:sp>
        <p:nvSpPr>
          <p:cNvPr id="24" name="Rectangle 23">
            <a:extLst>
              <a:ext uri="{FF2B5EF4-FFF2-40B4-BE49-F238E27FC236}">
                <a16:creationId xmlns:a16="http://schemas.microsoft.com/office/drawing/2014/main" id="{277F5FAF-C55C-47DC-B72D-84402F9DC77A}"/>
              </a:ext>
            </a:extLst>
          </p:cNvPr>
          <p:cNvSpPr>
            <a:spLocks noGrp="1"/>
          </p:cNvSpPr>
          <p:nvPr/>
        </p:nvSpPr>
        <p:spPr>
          <a:xfrm>
            <a:off x="637222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Ten training worlds;</a:t>
            </a:r>
          </a:p>
          <a:p>
            <a:r>
              <a:rPr sz="1275" b="0">
                <a:solidFill>
                  <a:srgbClr val="61766A"/>
                </a:solidFill>
              </a:rPr>
              <a:t>five candidates</a:t>
            </a:r>
          </a:p>
        </p:txBody>
      </p:sp>
      <p:sp>
        <p:nvSpPr>
          <p:cNvPr id="25" name="Arrow: Right 24">
            <a:extLst>
              <a:ext uri="{FF2B5EF4-FFF2-40B4-BE49-F238E27FC236}">
                <a16:creationId xmlns:a16="http://schemas.microsoft.com/office/drawing/2014/main" id="{D7F03243-64F8-44EC-87BC-98C5C3A84408}"/>
              </a:ext>
            </a:extLst>
          </p:cNvPr>
          <p:cNvSpPr>
            <a:spLocks noGrp="1"/>
          </p:cNvSpPr>
          <p:nvPr/>
        </p:nvSpPr>
        <p:spPr>
          <a:xfrm>
            <a:off x="7905750" y="3286125"/>
            <a:ext cx="161925" cy="171450"/>
          </a:xfrm>
          <a:prstGeom prst="rightArrow">
            <a:avLst/>
          </a:prstGeom>
          <a:solidFill>
            <a:srgbClr val="187257"/>
          </a:solidFill>
          <a:ln w="0">
            <a:solidFill>
              <a:srgbClr val="187257"/>
            </a:solidFill>
          </a:ln>
        </p:spPr>
        <p:txBody>
          <a:bodyPr/>
          <a:lstStyle/>
          <a:p>
            <a:endParaRPr lang="en-GB"/>
          </a:p>
        </p:txBody>
      </p:sp>
      <p:sp>
        <p:nvSpPr>
          <p:cNvPr id="26" name="Rectangle: Rounded Corners 25">
            <a:extLst>
              <a:ext uri="{FF2B5EF4-FFF2-40B4-BE49-F238E27FC236}">
                <a16:creationId xmlns:a16="http://schemas.microsoft.com/office/drawing/2014/main" id="{D436B787-727A-4F19-A7B5-71EC85E259AB}"/>
              </a:ext>
            </a:extLst>
          </p:cNvPr>
          <p:cNvSpPr>
            <a:spLocks noGrp="1"/>
          </p:cNvSpPr>
          <p:nvPr/>
        </p:nvSpPr>
        <p:spPr>
          <a:xfrm>
            <a:off x="8115300" y="2809875"/>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27" name="Rectangle 26">
            <a:extLst>
              <a:ext uri="{FF2B5EF4-FFF2-40B4-BE49-F238E27FC236}">
                <a16:creationId xmlns:a16="http://schemas.microsoft.com/office/drawing/2014/main" id="{05AE1608-F7CD-46F8-B377-ABBB747D6F1E}"/>
              </a:ext>
            </a:extLst>
          </p:cNvPr>
          <p:cNvSpPr>
            <a:spLocks noGrp="1"/>
          </p:cNvSpPr>
          <p:nvPr/>
        </p:nvSpPr>
        <p:spPr>
          <a:xfrm>
            <a:off x="8267700"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05  Evaluate</a:t>
            </a:r>
          </a:p>
        </p:txBody>
      </p:sp>
      <p:sp>
        <p:nvSpPr>
          <p:cNvPr id="28" name="Rectangle 27">
            <a:extLst>
              <a:ext uri="{FF2B5EF4-FFF2-40B4-BE49-F238E27FC236}">
                <a16:creationId xmlns:a16="http://schemas.microsoft.com/office/drawing/2014/main" id="{91C84F84-2F2A-40DA-86A8-614F0F11D9AC}"/>
              </a:ext>
            </a:extLst>
          </p:cNvPr>
          <p:cNvSpPr>
            <a:spLocks noGrp="1"/>
          </p:cNvSpPr>
          <p:nvPr/>
        </p:nvSpPr>
        <p:spPr>
          <a:xfrm>
            <a:off x="8267700"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Validation selection;</a:t>
            </a:r>
          </a:p>
          <a:p>
            <a:r>
              <a:rPr sz="1275" b="0">
                <a:solidFill>
                  <a:srgbClr val="61766A"/>
                </a:solidFill>
              </a:rPr>
              <a:t>one held-out test</a:t>
            </a:r>
          </a:p>
        </p:txBody>
      </p:sp>
      <p:sp>
        <p:nvSpPr>
          <p:cNvPr id="29" name="Arrow: Right 28">
            <a:extLst>
              <a:ext uri="{FF2B5EF4-FFF2-40B4-BE49-F238E27FC236}">
                <a16:creationId xmlns:a16="http://schemas.microsoft.com/office/drawing/2014/main" id="{6689C585-91DD-42AC-8736-ECDEC9F13257}"/>
              </a:ext>
            </a:extLst>
          </p:cNvPr>
          <p:cNvSpPr>
            <a:spLocks noGrp="1"/>
          </p:cNvSpPr>
          <p:nvPr/>
        </p:nvSpPr>
        <p:spPr>
          <a:xfrm>
            <a:off x="9801225" y="3286125"/>
            <a:ext cx="161925" cy="171450"/>
          </a:xfrm>
          <a:prstGeom prst="rightArrow">
            <a:avLst/>
          </a:prstGeom>
          <a:solidFill>
            <a:srgbClr val="187257"/>
          </a:solidFill>
          <a:ln w="0">
            <a:solidFill>
              <a:srgbClr val="187257"/>
            </a:solidFill>
          </a:ln>
        </p:spPr>
        <p:txBody>
          <a:bodyPr/>
          <a:lstStyle/>
          <a:p>
            <a:endParaRPr lang="en-GB"/>
          </a:p>
        </p:txBody>
      </p:sp>
      <p:sp>
        <p:nvSpPr>
          <p:cNvPr id="30" name="Rectangle: Rounded Corners 29">
            <a:extLst>
              <a:ext uri="{FF2B5EF4-FFF2-40B4-BE49-F238E27FC236}">
                <a16:creationId xmlns:a16="http://schemas.microsoft.com/office/drawing/2014/main" id="{9FF90355-2C90-4376-A454-54877EBA9FAF}"/>
              </a:ext>
            </a:extLst>
          </p:cNvPr>
          <p:cNvSpPr>
            <a:spLocks noGrp="1"/>
          </p:cNvSpPr>
          <p:nvPr/>
        </p:nvSpPr>
        <p:spPr>
          <a:xfrm>
            <a:off x="10010775" y="2809875"/>
            <a:ext cx="1647825" cy="1133475"/>
          </a:xfrm>
          <a:prstGeom prst="roundRect">
            <a:avLst>
              <a:gd name="adj" fmla="val 6723"/>
            </a:avLst>
          </a:prstGeom>
          <a:solidFill>
            <a:srgbClr val="DDEBDD"/>
          </a:solidFill>
          <a:ln w="9525">
            <a:solidFill>
              <a:srgbClr val="D3DED1"/>
            </a:solidFill>
            <a:prstDash val="solid"/>
          </a:ln>
        </p:spPr>
        <p:txBody>
          <a:bodyPr/>
          <a:lstStyle/>
          <a:p>
            <a:endParaRPr lang="en-GB"/>
          </a:p>
        </p:txBody>
      </p:sp>
      <p:sp>
        <p:nvSpPr>
          <p:cNvPr id="31" name="Rectangle 30">
            <a:extLst>
              <a:ext uri="{FF2B5EF4-FFF2-40B4-BE49-F238E27FC236}">
                <a16:creationId xmlns:a16="http://schemas.microsoft.com/office/drawing/2014/main" id="{EB419AA8-26F5-4C68-AC6A-62F22328A01D}"/>
              </a:ext>
            </a:extLst>
          </p:cNvPr>
          <p:cNvSpPr>
            <a:spLocks noGrp="1"/>
          </p:cNvSpPr>
          <p:nvPr/>
        </p:nvSpPr>
        <p:spPr>
          <a:xfrm>
            <a:off x="10163175" y="2924175"/>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06  Package</a:t>
            </a:r>
          </a:p>
        </p:txBody>
      </p:sp>
      <p:sp>
        <p:nvSpPr>
          <p:cNvPr id="32" name="Rectangle 31">
            <a:extLst>
              <a:ext uri="{FF2B5EF4-FFF2-40B4-BE49-F238E27FC236}">
                <a16:creationId xmlns:a16="http://schemas.microsoft.com/office/drawing/2014/main" id="{2ACE2862-56A0-41AB-B92A-D730462AB24A}"/>
              </a:ext>
            </a:extLst>
          </p:cNvPr>
          <p:cNvSpPr>
            <a:spLocks noGrp="1"/>
          </p:cNvSpPr>
          <p:nvPr/>
        </p:nvSpPr>
        <p:spPr>
          <a:xfrm>
            <a:off x="10163175" y="3276600"/>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Winner or baseline;</a:t>
            </a:r>
          </a:p>
          <a:p>
            <a:r>
              <a:rPr sz="1275" b="0">
                <a:solidFill>
                  <a:srgbClr val="61766A"/>
                </a:solidFill>
              </a:rPr>
              <a:t>frozen references</a:t>
            </a:r>
          </a:p>
        </p:txBody>
      </p:sp>
      <p:sp>
        <p:nvSpPr>
          <p:cNvPr id="33" name="Rectangle: Rounded Corners 32">
            <a:extLst>
              <a:ext uri="{FF2B5EF4-FFF2-40B4-BE49-F238E27FC236}">
                <a16:creationId xmlns:a16="http://schemas.microsoft.com/office/drawing/2014/main" id="{73BB3E49-0A91-4AAA-8BBC-3ED3825C15D4}"/>
              </a:ext>
            </a:extLst>
          </p:cNvPr>
          <p:cNvSpPr>
            <a:spLocks noGrp="1"/>
          </p:cNvSpPr>
          <p:nvPr/>
        </p:nvSpPr>
        <p:spPr>
          <a:xfrm>
            <a:off x="533400" y="4067175"/>
            <a:ext cx="11125200" cy="438150"/>
          </a:xfrm>
          <a:prstGeom prst="roundRect">
            <a:avLst>
              <a:gd name="adj" fmla="val 17391"/>
            </a:avLst>
          </a:prstGeom>
          <a:solidFill>
            <a:srgbClr val="FBF0D9"/>
          </a:solidFill>
          <a:ln w="9525">
            <a:solidFill>
              <a:srgbClr val="FBF0D9"/>
            </a:solidFill>
            <a:prstDash val="solid"/>
          </a:ln>
        </p:spPr>
        <p:txBody>
          <a:bodyPr/>
          <a:lstStyle/>
          <a:p>
            <a:endParaRPr lang="en-GB"/>
          </a:p>
        </p:txBody>
      </p:sp>
      <p:sp>
        <p:nvSpPr>
          <p:cNvPr id="34" name="Rectangle 33">
            <a:extLst>
              <a:ext uri="{FF2B5EF4-FFF2-40B4-BE49-F238E27FC236}">
                <a16:creationId xmlns:a16="http://schemas.microsoft.com/office/drawing/2014/main" id="{655D3823-A19B-482C-97B6-EBC25D04B0AA}"/>
              </a:ext>
            </a:extLst>
          </p:cNvPr>
          <p:cNvSpPr>
            <a:spLocks noGrp="1"/>
          </p:cNvSpPr>
          <p:nvPr/>
        </p:nvSpPr>
        <p:spPr>
          <a:xfrm>
            <a:off x="676275" y="4181475"/>
            <a:ext cx="1676400"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125" b="1">
                <a:solidFill>
                  <a:srgbClr val="BA8525"/>
                </a:solidFill>
              </a:rPr>
              <a:t>PRIVATE TRUTH</a:t>
            </a:r>
          </a:p>
        </p:txBody>
      </p:sp>
      <p:sp>
        <p:nvSpPr>
          <p:cNvPr id="35" name="Rectangle 34">
            <a:extLst>
              <a:ext uri="{FF2B5EF4-FFF2-40B4-BE49-F238E27FC236}">
                <a16:creationId xmlns:a16="http://schemas.microsoft.com/office/drawing/2014/main" id="{8C033F90-6B69-4906-BF49-43298A8B84E8}"/>
              </a:ext>
            </a:extLst>
          </p:cNvPr>
          <p:cNvSpPr>
            <a:spLocks noGrp="1"/>
          </p:cNvSpPr>
          <p:nvPr/>
        </p:nvSpPr>
        <p:spPr>
          <a:xfrm>
            <a:off x="2428875" y="4181475"/>
            <a:ext cx="9058275"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153C32"/>
                </a:solidFill>
              </a:rPr>
              <a:t>Separate labels support offline training and evaluation; never enter features or serving inputs.</a:t>
            </a:r>
          </a:p>
        </p:txBody>
      </p:sp>
      <p:sp>
        <p:nvSpPr>
          <p:cNvPr id="36" name="Rectangle 35">
            <a:extLst>
              <a:ext uri="{FF2B5EF4-FFF2-40B4-BE49-F238E27FC236}">
                <a16:creationId xmlns:a16="http://schemas.microsoft.com/office/drawing/2014/main" id="{24F06037-1219-4046-8C8E-D7CA4CA5C441}"/>
              </a:ext>
            </a:extLst>
          </p:cNvPr>
          <p:cNvSpPr>
            <a:spLocks noGrp="1"/>
          </p:cNvSpPr>
          <p:nvPr/>
        </p:nvSpPr>
        <p:spPr>
          <a:xfrm>
            <a:off x="533400" y="4629150"/>
            <a:ext cx="5715000" cy="247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B  /  APPLICATION SCORING</a:t>
            </a:r>
          </a:p>
        </p:txBody>
      </p:sp>
      <p:sp>
        <p:nvSpPr>
          <p:cNvPr id="37" name="Rectangle: Rounded Corners 36">
            <a:extLst>
              <a:ext uri="{FF2B5EF4-FFF2-40B4-BE49-F238E27FC236}">
                <a16:creationId xmlns:a16="http://schemas.microsoft.com/office/drawing/2014/main" id="{6D7B4BDC-E44C-4FE8-8C75-8C606AD2B1B0}"/>
              </a:ext>
            </a:extLst>
          </p:cNvPr>
          <p:cNvSpPr>
            <a:spLocks noGrp="1"/>
          </p:cNvSpPr>
          <p:nvPr/>
        </p:nvSpPr>
        <p:spPr>
          <a:xfrm>
            <a:off x="53340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38" name="Rectangle 37">
            <a:extLst>
              <a:ext uri="{FF2B5EF4-FFF2-40B4-BE49-F238E27FC236}">
                <a16:creationId xmlns:a16="http://schemas.microsoft.com/office/drawing/2014/main" id="{A9987036-8BEE-4C22-B277-6CB7139F5D42}"/>
              </a:ext>
            </a:extLst>
          </p:cNvPr>
          <p:cNvSpPr>
            <a:spLocks noGrp="1"/>
          </p:cNvSpPr>
          <p:nvPr/>
        </p:nvSpPr>
        <p:spPr>
          <a:xfrm>
            <a:off x="68580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01  Register</a:t>
            </a:r>
          </a:p>
        </p:txBody>
      </p:sp>
      <p:sp>
        <p:nvSpPr>
          <p:cNvPr id="39" name="Rectangle 38">
            <a:extLst>
              <a:ext uri="{FF2B5EF4-FFF2-40B4-BE49-F238E27FC236}">
                <a16:creationId xmlns:a16="http://schemas.microsoft.com/office/drawing/2014/main" id="{260D7391-FC84-43F9-B1AE-9ED4AFF2098F}"/>
              </a:ext>
            </a:extLst>
          </p:cNvPr>
          <p:cNvSpPr>
            <a:spLocks noGrp="1"/>
          </p:cNvSpPr>
          <p:nvPr/>
        </p:nvSpPr>
        <p:spPr>
          <a:xfrm>
            <a:off x="68580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Seven CSVs +</a:t>
            </a:r>
          </a:p>
          <a:p>
            <a:r>
              <a:rPr sz="1275" b="0">
                <a:solidFill>
                  <a:srgbClr val="61766A"/>
                </a:solidFill>
              </a:rPr>
              <a:t>manifest / hashes</a:t>
            </a:r>
          </a:p>
        </p:txBody>
      </p:sp>
      <p:sp>
        <p:nvSpPr>
          <p:cNvPr id="40" name="Arrow: Right 39">
            <a:extLst>
              <a:ext uri="{FF2B5EF4-FFF2-40B4-BE49-F238E27FC236}">
                <a16:creationId xmlns:a16="http://schemas.microsoft.com/office/drawing/2014/main" id="{C2FC8EF2-5AF2-444C-8CC4-A10B7A8FFE27}"/>
              </a:ext>
            </a:extLst>
          </p:cNvPr>
          <p:cNvSpPr>
            <a:spLocks noGrp="1"/>
          </p:cNvSpPr>
          <p:nvPr/>
        </p:nvSpPr>
        <p:spPr>
          <a:xfrm>
            <a:off x="2219325" y="5448300"/>
            <a:ext cx="161925" cy="171450"/>
          </a:xfrm>
          <a:prstGeom prst="rightArrow">
            <a:avLst/>
          </a:prstGeom>
          <a:solidFill>
            <a:srgbClr val="187257"/>
          </a:solidFill>
          <a:ln w="0">
            <a:solidFill>
              <a:srgbClr val="187257"/>
            </a:solidFill>
          </a:ln>
        </p:spPr>
        <p:txBody>
          <a:bodyPr/>
          <a:lstStyle/>
          <a:p>
            <a:endParaRPr lang="en-GB"/>
          </a:p>
        </p:txBody>
      </p:sp>
      <p:sp>
        <p:nvSpPr>
          <p:cNvPr id="41" name="Rectangle: Rounded Corners 40">
            <a:extLst>
              <a:ext uri="{FF2B5EF4-FFF2-40B4-BE49-F238E27FC236}">
                <a16:creationId xmlns:a16="http://schemas.microsoft.com/office/drawing/2014/main" id="{BFAEA520-43A5-4D98-9F20-D0D171EECD9D}"/>
              </a:ext>
            </a:extLst>
          </p:cNvPr>
          <p:cNvSpPr>
            <a:spLocks noGrp="1"/>
          </p:cNvSpPr>
          <p:nvPr/>
        </p:nvSpPr>
        <p:spPr>
          <a:xfrm>
            <a:off x="2428875"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42" name="Rectangle 41">
            <a:extLst>
              <a:ext uri="{FF2B5EF4-FFF2-40B4-BE49-F238E27FC236}">
                <a16:creationId xmlns:a16="http://schemas.microsoft.com/office/drawing/2014/main" id="{73D0144E-1C28-418A-B87E-B2FB68455A2D}"/>
              </a:ext>
            </a:extLst>
          </p:cNvPr>
          <p:cNvSpPr>
            <a:spLocks noGrp="1"/>
          </p:cNvSpPr>
          <p:nvPr/>
        </p:nvSpPr>
        <p:spPr>
          <a:xfrm>
            <a:off x="258127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02  Validate</a:t>
            </a:r>
          </a:p>
        </p:txBody>
      </p:sp>
      <p:sp>
        <p:nvSpPr>
          <p:cNvPr id="43" name="Rectangle 42">
            <a:extLst>
              <a:ext uri="{FF2B5EF4-FFF2-40B4-BE49-F238E27FC236}">
                <a16:creationId xmlns:a16="http://schemas.microsoft.com/office/drawing/2014/main" id="{D86C26D0-050F-4ED6-9A02-B4D5B41EB940}"/>
              </a:ext>
            </a:extLst>
          </p:cNvPr>
          <p:cNvSpPr>
            <a:spLocks noGrp="1"/>
          </p:cNvSpPr>
          <p:nvPr/>
        </p:nvSpPr>
        <p:spPr>
          <a:xfrm>
            <a:off x="258127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Reject invalid data;</a:t>
            </a:r>
          </a:p>
          <a:p>
            <a:r>
              <a:rPr sz="1275" b="0">
                <a:solidFill>
                  <a:srgbClr val="61766A"/>
                </a:solidFill>
              </a:rPr>
              <a:t>create durable run</a:t>
            </a:r>
          </a:p>
        </p:txBody>
      </p:sp>
      <p:sp>
        <p:nvSpPr>
          <p:cNvPr id="44" name="Arrow: Right 43">
            <a:extLst>
              <a:ext uri="{FF2B5EF4-FFF2-40B4-BE49-F238E27FC236}">
                <a16:creationId xmlns:a16="http://schemas.microsoft.com/office/drawing/2014/main" id="{A51FA112-6DC6-4445-B717-DC149D2E9642}"/>
              </a:ext>
            </a:extLst>
          </p:cNvPr>
          <p:cNvSpPr>
            <a:spLocks noGrp="1"/>
          </p:cNvSpPr>
          <p:nvPr/>
        </p:nvSpPr>
        <p:spPr>
          <a:xfrm>
            <a:off x="4114800" y="5448300"/>
            <a:ext cx="161925" cy="171450"/>
          </a:xfrm>
          <a:prstGeom prst="rightArrow">
            <a:avLst/>
          </a:prstGeom>
          <a:solidFill>
            <a:srgbClr val="187257"/>
          </a:solidFill>
          <a:ln w="0">
            <a:solidFill>
              <a:srgbClr val="187257"/>
            </a:solidFill>
          </a:ln>
        </p:spPr>
        <p:txBody>
          <a:bodyPr/>
          <a:lstStyle/>
          <a:p>
            <a:endParaRPr lang="en-GB"/>
          </a:p>
        </p:txBody>
      </p:sp>
      <p:sp>
        <p:nvSpPr>
          <p:cNvPr id="45" name="Rectangle: Rounded Corners 44">
            <a:extLst>
              <a:ext uri="{FF2B5EF4-FFF2-40B4-BE49-F238E27FC236}">
                <a16:creationId xmlns:a16="http://schemas.microsoft.com/office/drawing/2014/main" id="{15861AE2-DED4-407B-AFA4-08C2FB3FBE65}"/>
              </a:ext>
            </a:extLst>
          </p:cNvPr>
          <p:cNvSpPr>
            <a:spLocks noGrp="1"/>
          </p:cNvSpPr>
          <p:nvPr/>
        </p:nvSpPr>
        <p:spPr>
          <a:xfrm>
            <a:off x="432435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46" name="Rectangle 45">
            <a:extLst>
              <a:ext uri="{FF2B5EF4-FFF2-40B4-BE49-F238E27FC236}">
                <a16:creationId xmlns:a16="http://schemas.microsoft.com/office/drawing/2014/main" id="{B1C276F5-6F5D-4496-80AD-3491659F8948}"/>
              </a:ext>
            </a:extLst>
          </p:cNvPr>
          <p:cNvSpPr>
            <a:spLocks noGrp="1"/>
          </p:cNvSpPr>
          <p:nvPr/>
        </p:nvSpPr>
        <p:spPr>
          <a:xfrm>
            <a:off x="447675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03  Transform</a:t>
            </a:r>
          </a:p>
        </p:txBody>
      </p:sp>
      <p:sp>
        <p:nvSpPr>
          <p:cNvPr id="47" name="Rectangle 46">
            <a:extLst>
              <a:ext uri="{FF2B5EF4-FFF2-40B4-BE49-F238E27FC236}">
                <a16:creationId xmlns:a16="http://schemas.microsoft.com/office/drawing/2014/main" id="{11260367-78BB-4DA9-AD6F-94A3FFBDBBC6}"/>
              </a:ext>
            </a:extLst>
          </p:cNvPr>
          <p:cNvSpPr>
            <a:spLocks noGrp="1"/>
          </p:cNvSpPr>
          <p:nvPr/>
        </p:nvSpPr>
        <p:spPr>
          <a:xfrm>
            <a:off x="447675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Same maturity and</a:t>
            </a:r>
          </a:p>
          <a:p>
            <a:r>
              <a:rPr sz="1275" b="0">
                <a:solidFill>
                  <a:srgbClr val="61766A"/>
                </a:solidFill>
              </a:rPr>
              <a:t>feature definitions</a:t>
            </a:r>
          </a:p>
        </p:txBody>
      </p:sp>
      <p:sp>
        <p:nvSpPr>
          <p:cNvPr id="48" name="Arrow: Right 47">
            <a:extLst>
              <a:ext uri="{FF2B5EF4-FFF2-40B4-BE49-F238E27FC236}">
                <a16:creationId xmlns:a16="http://schemas.microsoft.com/office/drawing/2014/main" id="{D2C532A7-F02B-408B-B910-36856F6B42E8}"/>
              </a:ext>
            </a:extLst>
          </p:cNvPr>
          <p:cNvSpPr>
            <a:spLocks noGrp="1"/>
          </p:cNvSpPr>
          <p:nvPr/>
        </p:nvSpPr>
        <p:spPr>
          <a:xfrm>
            <a:off x="6010275" y="5448300"/>
            <a:ext cx="161925" cy="171450"/>
          </a:xfrm>
          <a:prstGeom prst="rightArrow">
            <a:avLst/>
          </a:prstGeom>
          <a:solidFill>
            <a:srgbClr val="187257"/>
          </a:solidFill>
          <a:ln w="0">
            <a:solidFill>
              <a:srgbClr val="187257"/>
            </a:solidFill>
          </a:ln>
        </p:spPr>
        <p:txBody>
          <a:bodyPr/>
          <a:lstStyle/>
          <a:p>
            <a:endParaRPr lang="en-GB"/>
          </a:p>
        </p:txBody>
      </p:sp>
      <p:sp>
        <p:nvSpPr>
          <p:cNvPr id="49" name="Rectangle: Rounded Corners 48">
            <a:extLst>
              <a:ext uri="{FF2B5EF4-FFF2-40B4-BE49-F238E27FC236}">
                <a16:creationId xmlns:a16="http://schemas.microsoft.com/office/drawing/2014/main" id="{26765F7F-9BEB-424E-A9D7-565B1A4E961F}"/>
              </a:ext>
            </a:extLst>
          </p:cNvPr>
          <p:cNvSpPr>
            <a:spLocks noGrp="1"/>
          </p:cNvSpPr>
          <p:nvPr/>
        </p:nvSpPr>
        <p:spPr>
          <a:xfrm>
            <a:off x="6219825" y="4972050"/>
            <a:ext cx="1647825" cy="1133475"/>
          </a:xfrm>
          <a:prstGeom prst="roundRect">
            <a:avLst>
              <a:gd name="adj" fmla="val 6723"/>
            </a:avLst>
          </a:prstGeom>
          <a:solidFill>
            <a:srgbClr val="DDEBDD"/>
          </a:solidFill>
          <a:ln w="9525">
            <a:solidFill>
              <a:srgbClr val="D3DED1"/>
            </a:solidFill>
            <a:prstDash val="solid"/>
          </a:ln>
        </p:spPr>
        <p:txBody>
          <a:bodyPr/>
          <a:lstStyle/>
          <a:p>
            <a:endParaRPr lang="en-GB"/>
          </a:p>
        </p:txBody>
      </p:sp>
      <p:sp>
        <p:nvSpPr>
          <p:cNvPr id="50" name="Rectangle 49">
            <a:extLst>
              <a:ext uri="{FF2B5EF4-FFF2-40B4-BE49-F238E27FC236}">
                <a16:creationId xmlns:a16="http://schemas.microsoft.com/office/drawing/2014/main" id="{F8F86912-5064-4AF4-B387-1E35E6FB5A6A}"/>
              </a:ext>
            </a:extLst>
          </p:cNvPr>
          <p:cNvSpPr>
            <a:spLocks noGrp="1"/>
          </p:cNvSpPr>
          <p:nvPr/>
        </p:nvSpPr>
        <p:spPr>
          <a:xfrm>
            <a:off x="637222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04  Score</a:t>
            </a:r>
          </a:p>
        </p:txBody>
      </p:sp>
      <p:sp>
        <p:nvSpPr>
          <p:cNvPr id="51" name="Rectangle 50">
            <a:extLst>
              <a:ext uri="{FF2B5EF4-FFF2-40B4-BE49-F238E27FC236}">
                <a16:creationId xmlns:a16="http://schemas.microsoft.com/office/drawing/2014/main" id="{A6287B97-FA35-405B-9E5D-6705477E1D1D}"/>
              </a:ext>
            </a:extLst>
          </p:cNvPr>
          <p:cNvSpPr>
            <a:spLocks noGrp="1"/>
          </p:cNvSpPr>
          <p:nvPr/>
        </p:nvSpPr>
        <p:spPr>
          <a:xfrm>
            <a:off x="637222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Load frozen bundle;</a:t>
            </a:r>
          </a:p>
          <a:p>
            <a:r>
              <a:rPr sz="1275" b="0">
                <a:solidFill>
                  <a:srgbClr val="61766A"/>
                </a:solidFill>
              </a:rPr>
              <a:t>rank eligible users</a:t>
            </a:r>
          </a:p>
        </p:txBody>
      </p:sp>
      <p:sp>
        <p:nvSpPr>
          <p:cNvPr id="52" name="Arrow: Right 51">
            <a:extLst>
              <a:ext uri="{FF2B5EF4-FFF2-40B4-BE49-F238E27FC236}">
                <a16:creationId xmlns:a16="http://schemas.microsoft.com/office/drawing/2014/main" id="{D504FF52-C6C5-4A7E-BE13-358BD5C80319}"/>
              </a:ext>
            </a:extLst>
          </p:cNvPr>
          <p:cNvSpPr>
            <a:spLocks noGrp="1"/>
          </p:cNvSpPr>
          <p:nvPr/>
        </p:nvSpPr>
        <p:spPr>
          <a:xfrm>
            <a:off x="7905750" y="5448300"/>
            <a:ext cx="161925" cy="171450"/>
          </a:xfrm>
          <a:prstGeom prst="rightArrow">
            <a:avLst/>
          </a:prstGeom>
          <a:solidFill>
            <a:srgbClr val="187257"/>
          </a:solidFill>
          <a:ln w="0">
            <a:solidFill>
              <a:srgbClr val="187257"/>
            </a:solidFill>
          </a:ln>
        </p:spPr>
        <p:txBody>
          <a:bodyPr/>
          <a:lstStyle/>
          <a:p>
            <a:endParaRPr lang="en-GB"/>
          </a:p>
        </p:txBody>
      </p:sp>
      <p:sp>
        <p:nvSpPr>
          <p:cNvPr id="53" name="Rectangle: Rounded Corners 52">
            <a:extLst>
              <a:ext uri="{FF2B5EF4-FFF2-40B4-BE49-F238E27FC236}">
                <a16:creationId xmlns:a16="http://schemas.microsoft.com/office/drawing/2014/main" id="{7E6DABEC-B1CA-4DE0-92F1-16639965B3E7}"/>
              </a:ext>
            </a:extLst>
          </p:cNvPr>
          <p:cNvSpPr>
            <a:spLocks noGrp="1"/>
          </p:cNvSpPr>
          <p:nvPr/>
        </p:nvSpPr>
        <p:spPr>
          <a:xfrm>
            <a:off x="8115300"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54" name="Rectangle 53">
            <a:extLst>
              <a:ext uri="{FF2B5EF4-FFF2-40B4-BE49-F238E27FC236}">
                <a16:creationId xmlns:a16="http://schemas.microsoft.com/office/drawing/2014/main" id="{82DB45B7-0AF1-4B22-A6AD-4CFB23F0E639}"/>
              </a:ext>
            </a:extLst>
          </p:cNvPr>
          <p:cNvSpPr>
            <a:spLocks noGrp="1"/>
          </p:cNvSpPr>
          <p:nvPr/>
        </p:nvSpPr>
        <p:spPr>
          <a:xfrm>
            <a:off x="8267700"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05  Publish</a:t>
            </a:r>
          </a:p>
        </p:txBody>
      </p:sp>
      <p:sp>
        <p:nvSpPr>
          <p:cNvPr id="55" name="Rectangle 54">
            <a:extLst>
              <a:ext uri="{FF2B5EF4-FFF2-40B4-BE49-F238E27FC236}">
                <a16:creationId xmlns:a16="http://schemas.microsoft.com/office/drawing/2014/main" id="{0DA6576D-36C3-4BC2-928B-9D91D5B5EDD7}"/>
              </a:ext>
            </a:extLst>
          </p:cNvPr>
          <p:cNvSpPr>
            <a:spLocks noGrp="1"/>
          </p:cNvSpPr>
          <p:nvPr/>
        </p:nvSpPr>
        <p:spPr>
          <a:xfrm>
            <a:off x="8267700"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Atomic results;</a:t>
            </a:r>
          </a:p>
          <a:p>
            <a:r>
              <a:rPr sz="1275" b="0">
                <a:solidFill>
                  <a:srgbClr val="61766A"/>
                </a:solidFill>
              </a:rPr>
              <a:t>record run metadata</a:t>
            </a:r>
          </a:p>
        </p:txBody>
      </p:sp>
      <p:sp>
        <p:nvSpPr>
          <p:cNvPr id="56" name="Arrow: Right 55">
            <a:extLst>
              <a:ext uri="{FF2B5EF4-FFF2-40B4-BE49-F238E27FC236}">
                <a16:creationId xmlns:a16="http://schemas.microsoft.com/office/drawing/2014/main" id="{8BA0AE1C-854C-47F7-A162-EFF2AE9C6159}"/>
              </a:ext>
            </a:extLst>
          </p:cNvPr>
          <p:cNvSpPr>
            <a:spLocks noGrp="1"/>
          </p:cNvSpPr>
          <p:nvPr/>
        </p:nvSpPr>
        <p:spPr>
          <a:xfrm>
            <a:off x="9801225" y="5448300"/>
            <a:ext cx="161925" cy="171450"/>
          </a:xfrm>
          <a:prstGeom prst="rightArrow">
            <a:avLst/>
          </a:prstGeom>
          <a:solidFill>
            <a:srgbClr val="187257"/>
          </a:solidFill>
          <a:ln w="0">
            <a:solidFill>
              <a:srgbClr val="187257"/>
            </a:solidFill>
          </a:ln>
        </p:spPr>
        <p:txBody>
          <a:bodyPr/>
          <a:lstStyle/>
          <a:p>
            <a:endParaRPr lang="en-GB"/>
          </a:p>
        </p:txBody>
      </p:sp>
      <p:sp>
        <p:nvSpPr>
          <p:cNvPr id="57" name="Rectangle: Rounded Corners 56">
            <a:extLst>
              <a:ext uri="{FF2B5EF4-FFF2-40B4-BE49-F238E27FC236}">
                <a16:creationId xmlns:a16="http://schemas.microsoft.com/office/drawing/2014/main" id="{C8A9A752-7320-4D44-BB95-C91E42AFF8DA}"/>
              </a:ext>
            </a:extLst>
          </p:cNvPr>
          <p:cNvSpPr>
            <a:spLocks noGrp="1"/>
          </p:cNvSpPr>
          <p:nvPr/>
        </p:nvSpPr>
        <p:spPr>
          <a:xfrm>
            <a:off x="10010775" y="4972050"/>
            <a:ext cx="1647825" cy="1133475"/>
          </a:xfrm>
          <a:prstGeom prst="roundRect">
            <a:avLst>
              <a:gd name="adj" fmla="val 6723"/>
            </a:avLst>
          </a:prstGeom>
          <a:solidFill>
            <a:srgbClr val="FFFFFF"/>
          </a:solidFill>
          <a:ln w="9525">
            <a:solidFill>
              <a:srgbClr val="D3DED1"/>
            </a:solidFill>
            <a:prstDash val="solid"/>
          </a:ln>
        </p:spPr>
        <p:txBody>
          <a:bodyPr/>
          <a:lstStyle/>
          <a:p>
            <a:endParaRPr lang="en-GB"/>
          </a:p>
        </p:txBody>
      </p:sp>
      <p:sp>
        <p:nvSpPr>
          <p:cNvPr id="58" name="Rectangle 57">
            <a:extLst>
              <a:ext uri="{FF2B5EF4-FFF2-40B4-BE49-F238E27FC236}">
                <a16:creationId xmlns:a16="http://schemas.microsoft.com/office/drawing/2014/main" id="{112558A5-C70B-4E0D-9B96-D0B1D9B24163}"/>
              </a:ext>
            </a:extLst>
          </p:cNvPr>
          <p:cNvSpPr>
            <a:spLocks noGrp="1"/>
          </p:cNvSpPr>
          <p:nvPr/>
        </p:nvSpPr>
        <p:spPr>
          <a:xfrm>
            <a:off x="10163175" y="5086350"/>
            <a:ext cx="13430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06  Review</a:t>
            </a:r>
          </a:p>
        </p:txBody>
      </p:sp>
      <p:sp>
        <p:nvSpPr>
          <p:cNvPr id="59" name="Rectangle 58">
            <a:extLst>
              <a:ext uri="{FF2B5EF4-FFF2-40B4-BE49-F238E27FC236}">
                <a16:creationId xmlns:a16="http://schemas.microsoft.com/office/drawing/2014/main" id="{70AF1105-A3D4-45F7-9059-69B9EF46BFDE}"/>
              </a:ext>
            </a:extLst>
          </p:cNvPr>
          <p:cNvSpPr>
            <a:spLocks noGrp="1"/>
          </p:cNvSpPr>
          <p:nvPr/>
        </p:nvSpPr>
        <p:spPr>
          <a:xfrm>
            <a:off x="10163175" y="5438775"/>
            <a:ext cx="1343025" cy="6000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Customer + style UI;</a:t>
            </a:r>
          </a:p>
          <a:p>
            <a:r>
              <a:rPr sz="1275" b="0">
                <a:solidFill>
                  <a:srgbClr val="61766A"/>
                </a:solidFill>
              </a:rPr>
              <a:t>append analyst notes</a:t>
            </a:r>
          </a:p>
        </p:txBody>
      </p:sp>
    </p:spTree>
    <p:extLst>
      <p:ext uri="{BB962C8B-B14F-4D97-AF65-F5344CB8AC3E}">
        <p14:creationId xmlns:p14="http://schemas.microsoft.com/office/powerpoint/2010/main" val="9513216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60053AA5-BB82-4E1A-BD6E-392DF700C216}"/>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B2038521-E369-4DAB-B935-3EE92ED28ECA}"/>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DATA DESIGN</a:t>
            </a:r>
          </a:p>
        </p:txBody>
      </p:sp>
      <p:sp>
        <p:nvSpPr>
          <p:cNvPr id="4" name="Rectangle 3">
            <a:extLst>
              <a:ext uri="{FF2B5EF4-FFF2-40B4-BE49-F238E27FC236}">
                <a16:creationId xmlns:a16="http://schemas.microsoft.com/office/drawing/2014/main" id="{C26D2F72-F0BD-48C4-8C6B-9E9B04162ABF}"/>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Synthetic data with explicit truth boundaries.</a:t>
            </a:r>
          </a:p>
        </p:txBody>
      </p:sp>
      <p:sp>
        <p:nvSpPr>
          <p:cNvPr id="5" name="Rectangle 4">
            <a:extLst>
              <a:ext uri="{FF2B5EF4-FFF2-40B4-BE49-F238E27FC236}">
                <a16:creationId xmlns:a16="http://schemas.microsoft.com/office/drawing/2014/main" id="{01CD6CBE-8713-4084-AD03-E19F72C8C5A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Controlled worlds support repeatable experiments and deliberate benign counterexamples.</a:t>
            </a:r>
          </a:p>
        </p:txBody>
      </p:sp>
      <p:sp>
        <p:nvSpPr>
          <p:cNvPr id="6" name="Rectangle 5">
            <a:extLst>
              <a:ext uri="{FF2B5EF4-FFF2-40B4-BE49-F238E27FC236}">
                <a16:creationId xmlns:a16="http://schemas.microsoft.com/office/drawing/2014/main" id="{F31CDC76-B7EB-444B-B9BA-03EB07D6C930}"/>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4943D689-CE67-482D-9106-4BD65F35B8B2}"/>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E26CE93D-9C1E-494F-827A-716C8E4F8E42}"/>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07</a:t>
            </a:r>
          </a:p>
        </p:txBody>
      </p:sp>
      <p:sp>
        <p:nvSpPr>
          <p:cNvPr id="9" name="Rectangle: Rounded Corners 8">
            <a:extLst>
              <a:ext uri="{FF2B5EF4-FFF2-40B4-BE49-F238E27FC236}">
                <a16:creationId xmlns:a16="http://schemas.microsoft.com/office/drawing/2014/main" id="{1202FEA2-661E-4A71-B4C7-7D2CE129A505}"/>
              </a:ext>
            </a:extLst>
          </p:cNvPr>
          <p:cNvSpPr>
            <a:spLocks noGrp="1"/>
          </p:cNvSpPr>
          <p:nvPr/>
        </p:nvSpPr>
        <p:spPr>
          <a:xfrm>
            <a:off x="533400"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EFD62699-BDD2-4B86-9362-425351658629}"/>
              </a:ext>
            </a:extLst>
          </p:cNvPr>
          <p:cNvSpPr>
            <a:spLocks noGrp="1"/>
          </p:cNvSpPr>
          <p:nvPr/>
        </p:nvSpPr>
        <p:spPr>
          <a:xfrm>
            <a:off x="685800"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300 SKUs</a:t>
            </a:r>
          </a:p>
        </p:txBody>
      </p:sp>
      <p:sp>
        <p:nvSpPr>
          <p:cNvPr id="11" name="Rectangle 10">
            <a:extLst>
              <a:ext uri="{FF2B5EF4-FFF2-40B4-BE49-F238E27FC236}">
                <a16:creationId xmlns:a16="http://schemas.microsoft.com/office/drawing/2014/main" id="{6694BE1B-EC0A-4402-A0A1-7D8113D5830D}"/>
              </a:ext>
            </a:extLst>
          </p:cNvPr>
          <p:cNvSpPr>
            <a:spLocks noGrp="1"/>
          </p:cNvSpPr>
          <p:nvPr/>
        </p:nvSpPr>
        <p:spPr>
          <a:xfrm>
            <a:off x="685800"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37 apparel styles</a:t>
            </a:r>
          </a:p>
        </p:txBody>
      </p:sp>
      <p:sp>
        <p:nvSpPr>
          <p:cNvPr id="12" name="Rectangle: Rounded Corners 11">
            <a:extLst>
              <a:ext uri="{FF2B5EF4-FFF2-40B4-BE49-F238E27FC236}">
                <a16:creationId xmlns:a16="http://schemas.microsoft.com/office/drawing/2014/main" id="{51227EE3-0D33-47B4-B6D2-9F46F149CCFF}"/>
              </a:ext>
            </a:extLst>
          </p:cNvPr>
          <p:cNvSpPr>
            <a:spLocks noGrp="1"/>
          </p:cNvSpPr>
          <p:nvPr/>
        </p:nvSpPr>
        <p:spPr>
          <a:xfrm>
            <a:off x="4314825"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E4E52889-75C9-4CB1-8D64-CDD19E8DB59B}"/>
              </a:ext>
            </a:extLst>
          </p:cNvPr>
          <p:cNvSpPr>
            <a:spLocks noGrp="1"/>
          </p:cNvSpPr>
          <p:nvPr/>
        </p:nvSpPr>
        <p:spPr>
          <a:xfrm>
            <a:off x="4467225"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10,000 profiles</a:t>
            </a:r>
          </a:p>
        </p:txBody>
      </p:sp>
      <p:sp>
        <p:nvSpPr>
          <p:cNvPr id="14" name="Rectangle 13">
            <a:extLst>
              <a:ext uri="{FF2B5EF4-FFF2-40B4-BE49-F238E27FC236}">
                <a16:creationId xmlns:a16="http://schemas.microsoft.com/office/drawing/2014/main" id="{76EAB864-4E2C-471E-9130-1277294EA860}"/>
              </a:ext>
            </a:extLst>
          </p:cNvPr>
          <p:cNvSpPr>
            <a:spLocks noGrp="1"/>
          </p:cNvSpPr>
          <p:nvPr/>
        </p:nvSpPr>
        <p:spPr>
          <a:xfrm>
            <a:off x="4467225"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Planned per generated world</a:t>
            </a:r>
          </a:p>
        </p:txBody>
      </p:sp>
      <p:sp>
        <p:nvSpPr>
          <p:cNvPr id="15" name="Rectangle: Rounded Corners 14">
            <a:extLst>
              <a:ext uri="{FF2B5EF4-FFF2-40B4-BE49-F238E27FC236}">
                <a16:creationId xmlns:a16="http://schemas.microsoft.com/office/drawing/2014/main" id="{438AE884-FC58-4D57-9CEE-AB2059347702}"/>
              </a:ext>
            </a:extLst>
          </p:cNvPr>
          <p:cNvSpPr>
            <a:spLocks noGrp="1"/>
          </p:cNvSpPr>
          <p:nvPr/>
        </p:nvSpPr>
        <p:spPr>
          <a:xfrm>
            <a:off x="8096250" y="2457450"/>
            <a:ext cx="3562350" cy="1000125"/>
          </a:xfrm>
          <a:prstGeom prst="roundRect">
            <a:avLst>
              <a:gd name="adj" fmla="val 7619"/>
            </a:avLst>
          </a:prstGeom>
          <a:solidFill>
            <a:srgbClr val="DDEBDD"/>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DE9B8CE1-E13D-412F-8EDE-F2829FE25EFC}"/>
              </a:ext>
            </a:extLst>
          </p:cNvPr>
          <p:cNvSpPr>
            <a:spLocks noGrp="1"/>
          </p:cNvSpPr>
          <p:nvPr/>
        </p:nvSpPr>
        <p:spPr>
          <a:xfrm>
            <a:off x="8248650" y="2571750"/>
            <a:ext cx="325755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12 months</a:t>
            </a:r>
          </a:p>
        </p:txBody>
      </p:sp>
      <p:sp>
        <p:nvSpPr>
          <p:cNvPr id="17" name="Rectangle 16">
            <a:extLst>
              <a:ext uri="{FF2B5EF4-FFF2-40B4-BE49-F238E27FC236}">
                <a16:creationId xmlns:a16="http://schemas.microsoft.com/office/drawing/2014/main" id="{A19A9138-1892-4309-A44A-A15643A40741}"/>
              </a:ext>
            </a:extLst>
          </p:cNvPr>
          <p:cNvSpPr>
            <a:spLocks noGrp="1"/>
          </p:cNvSpPr>
          <p:nvPr/>
        </p:nvSpPr>
        <p:spPr>
          <a:xfrm>
            <a:off x="8248650" y="2924175"/>
            <a:ext cx="3257550" cy="4667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Fixed as-of cutoff; INR</a:t>
            </a:r>
          </a:p>
        </p:txBody>
      </p:sp>
      <p:sp>
        <p:nvSpPr>
          <p:cNvPr id="18" name="Rectangle: Rounded Corners 17">
            <a:extLst>
              <a:ext uri="{FF2B5EF4-FFF2-40B4-BE49-F238E27FC236}">
                <a16:creationId xmlns:a16="http://schemas.microsoft.com/office/drawing/2014/main" id="{F8624AE0-2674-4D68-866A-517475ADA056}"/>
              </a:ext>
            </a:extLst>
          </p:cNvPr>
          <p:cNvSpPr>
            <a:spLocks noGrp="1"/>
          </p:cNvSpPr>
          <p:nvPr/>
        </p:nvSpPr>
        <p:spPr>
          <a:xfrm>
            <a:off x="533400" y="3667125"/>
            <a:ext cx="5438775" cy="1552575"/>
          </a:xfrm>
          <a:prstGeom prst="roundRect">
            <a:avLst>
              <a:gd name="adj" fmla="val 4908"/>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8F6A3993-44CC-4C49-B9EE-AC713375EF59}"/>
              </a:ext>
            </a:extLst>
          </p:cNvPr>
          <p:cNvSpPr>
            <a:spLocks noGrp="1"/>
          </p:cNvSpPr>
          <p:nvPr/>
        </p:nvSpPr>
        <p:spPr>
          <a:xfrm>
            <a:off x="742950" y="38576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Operational data</a:t>
            </a:r>
          </a:p>
        </p:txBody>
      </p:sp>
      <p:sp>
        <p:nvSpPr>
          <p:cNvPr id="20" name="Rectangle 19">
            <a:extLst>
              <a:ext uri="{FF2B5EF4-FFF2-40B4-BE49-F238E27FC236}">
                <a16:creationId xmlns:a16="http://schemas.microsoft.com/office/drawing/2014/main" id="{CEAAA05E-512D-4F46-B8BC-A7ABA09038E4}"/>
              </a:ext>
            </a:extLst>
          </p:cNvPr>
          <p:cNvSpPr>
            <a:spLocks noGrp="1"/>
          </p:cNvSpPr>
          <p:nvPr/>
        </p:nvSpPr>
        <p:spPr>
          <a:xfrm>
            <a:off x="742950" y="4467225"/>
            <a:ext cx="5019675" cy="6572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Seven linked tables: customer, SKU, reason, sales order/line and return order/line.</a:t>
            </a:r>
          </a:p>
        </p:txBody>
      </p:sp>
      <p:sp>
        <p:nvSpPr>
          <p:cNvPr id="21" name="Rectangle: Rounded Corners 20">
            <a:extLst>
              <a:ext uri="{FF2B5EF4-FFF2-40B4-BE49-F238E27FC236}">
                <a16:creationId xmlns:a16="http://schemas.microsoft.com/office/drawing/2014/main" id="{828758B0-F5CE-4E57-B0A0-43C1DA87F784}"/>
              </a:ext>
            </a:extLst>
          </p:cNvPr>
          <p:cNvSpPr>
            <a:spLocks noGrp="1"/>
          </p:cNvSpPr>
          <p:nvPr/>
        </p:nvSpPr>
        <p:spPr>
          <a:xfrm>
            <a:off x="6219825" y="3667125"/>
            <a:ext cx="5438775" cy="1552575"/>
          </a:xfrm>
          <a:prstGeom prst="roundRect">
            <a:avLst>
              <a:gd name="adj" fmla="val 4908"/>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882E2123-5D58-48E1-BFAA-46693101E9EB}"/>
              </a:ext>
            </a:extLst>
          </p:cNvPr>
          <p:cNvSpPr>
            <a:spLocks noGrp="1"/>
          </p:cNvSpPr>
          <p:nvPr/>
        </p:nvSpPr>
        <p:spPr>
          <a:xfrm>
            <a:off x="6429375" y="38576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Private truth</a:t>
            </a:r>
          </a:p>
        </p:txBody>
      </p:sp>
      <p:sp>
        <p:nvSpPr>
          <p:cNvPr id="23" name="Rectangle 22">
            <a:extLst>
              <a:ext uri="{FF2B5EF4-FFF2-40B4-BE49-F238E27FC236}">
                <a16:creationId xmlns:a16="http://schemas.microsoft.com/office/drawing/2014/main" id="{A41BC8A1-817A-41F7-982C-C0743B154051}"/>
              </a:ext>
            </a:extLst>
          </p:cNvPr>
          <p:cNvSpPr>
            <a:spLocks noGrp="1"/>
          </p:cNvSpPr>
          <p:nvPr/>
        </p:nvSpPr>
        <p:spPr>
          <a:xfrm>
            <a:off x="6429375" y="4467225"/>
            <a:ext cx="5019675" cy="6572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Intent and deceptive actions stay outside model features and serving payloads.</a:t>
            </a:r>
          </a:p>
        </p:txBody>
      </p:sp>
      <p:sp>
        <p:nvSpPr>
          <p:cNvPr id="24" name="Rectangle: Rounded Corners 23">
            <a:extLst>
              <a:ext uri="{FF2B5EF4-FFF2-40B4-BE49-F238E27FC236}">
                <a16:creationId xmlns:a16="http://schemas.microsoft.com/office/drawing/2014/main" id="{B55CE41A-E623-4230-BAEC-FE2F30EF084D}"/>
              </a:ext>
            </a:extLst>
          </p:cNvPr>
          <p:cNvSpPr>
            <a:spLocks noGrp="1"/>
          </p:cNvSpPr>
          <p:nvPr/>
        </p:nvSpPr>
        <p:spPr>
          <a:xfrm>
            <a:off x="533400" y="5410200"/>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66F3ADB8-07B8-4B3E-9964-A9528B9BB5E8}"/>
              </a:ext>
            </a:extLst>
          </p:cNvPr>
          <p:cNvSpPr>
            <a:spLocks noGrp="1"/>
          </p:cNvSpPr>
          <p:nvPr/>
        </p:nvSpPr>
        <p:spPr>
          <a:xfrm>
            <a:off x="742950" y="5553075"/>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Counterexamples</a:t>
            </a:r>
          </a:p>
        </p:txBody>
      </p:sp>
      <p:sp>
        <p:nvSpPr>
          <p:cNvPr id="26" name="Rectangle 25">
            <a:extLst>
              <a:ext uri="{FF2B5EF4-FFF2-40B4-BE49-F238E27FC236}">
                <a16:creationId xmlns:a16="http://schemas.microsoft.com/office/drawing/2014/main" id="{01D7038A-484C-4C2F-9645-59133240C1AB}"/>
              </a:ext>
            </a:extLst>
          </p:cNvPr>
          <p:cNvSpPr>
            <a:spLocks noGrp="1"/>
          </p:cNvSpPr>
          <p:nvPr/>
        </p:nvSpPr>
        <p:spPr>
          <a:xfrm>
            <a:off x="3333750" y="5553075"/>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Heavy legitimate returners, defect-driven buyers and benign shared households.</a:t>
            </a:r>
          </a:p>
        </p:txBody>
      </p:sp>
    </p:spTree>
    <p:extLst>
      <p:ext uri="{BB962C8B-B14F-4D97-AF65-F5344CB8AC3E}">
        <p14:creationId xmlns:p14="http://schemas.microsoft.com/office/powerpoint/2010/main" val="69004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9"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5A8D714E-6120-479A-B124-023E2D4EBE77}"/>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37E74DEB-2650-4649-98A8-ACBD3D7E912D}"/>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MODEL VALIDATION</a:t>
            </a:r>
          </a:p>
        </p:txBody>
      </p:sp>
      <p:sp>
        <p:nvSpPr>
          <p:cNvPr id="4" name="Rectangle 3">
            <a:extLst>
              <a:ext uri="{FF2B5EF4-FFF2-40B4-BE49-F238E27FC236}">
                <a16:creationId xmlns:a16="http://schemas.microsoft.com/office/drawing/2014/main" id="{FD0D1454-2EAB-40E3-A621-F69D7190EA4D}"/>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candidate must beat a simple baseline fairly.</a:t>
            </a:r>
          </a:p>
        </p:txBody>
      </p:sp>
      <p:sp>
        <p:nvSpPr>
          <p:cNvPr id="5" name="Rectangle 4">
            <a:extLst>
              <a:ext uri="{FF2B5EF4-FFF2-40B4-BE49-F238E27FC236}">
                <a16:creationId xmlns:a16="http://schemas.microsoft.com/office/drawing/2014/main" id="{31D3298E-2B0C-4C39-BEAA-7511AB48714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Separate synthetic worlds prevent the same world from appearing in training and evaluation.</a:t>
            </a:r>
          </a:p>
        </p:txBody>
      </p:sp>
      <p:sp>
        <p:nvSpPr>
          <p:cNvPr id="6" name="Rectangle 5">
            <a:extLst>
              <a:ext uri="{FF2B5EF4-FFF2-40B4-BE49-F238E27FC236}">
                <a16:creationId xmlns:a16="http://schemas.microsoft.com/office/drawing/2014/main" id="{852B99E2-4168-44F0-8752-D70B24F5DAB7}"/>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79C74501-7436-46B1-83FD-16E04C3AD129}"/>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1D44B01-0FAF-4106-94C7-C01CDF1BFD0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08</a:t>
            </a:r>
          </a:p>
        </p:txBody>
      </p:sp>
      <p:sp>
        <p:nvSpPr>
          <p:cNvPr id="9" name="Rectangle: Rounded Corners 8">
            <a:extLst>
              <a:ext uri="{FF2B5EF4-FFF2-40B4-BE49-F238E27FC236}">
                <a16:creationId xmlns:a16="http://schemas.microsoft.com/office/drawing/2014/main" id="{63C09171-C61E-45FE-B3EE-3A716F29E974}"/>
              </a:ext>
            </a:extLst>
          </p:cNvPr>
          <p:cNvSpPr>
            <a:spLocks noGrp="1"/>
          </p:cNvSpPr>
          <p:nvPr/>
        </p:nvSpPr>
        <p:spPr>
          <a:xfrm>
            <a:off x="53340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0" name="Rectangle 9">
            <a:extLst>
              <a:ext uri="{FF2B5EF4-FFF2-40B4-BE49-F238E27FC236}">
                <a16:creationId xmlns:a16="http://schemas.microsoft.com/office/drawing/2014/main" id="{FDAB0EB9-A55D-4353-9B96-A42396F9C07B}"/>
              </a:ext>
            </a:extLst>
          </p:cNvPr>
          <p:cNvSpPr>
            <a:spLocks noGrp="1"/>
          </p:cNvSpPr>
          <p:nvPr/>
        </p:nvSpPr>
        <p:spPr>
          <a:xfrm>
            <a:off x="70485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10</a:t>
            </a:r>
          </a:p>
        </p:txBody>
      </p:sp>
      <p:sp>
        <p:nvSpPr>
          <p:cNvPr id="11" name="Rectangle 10">
            <a:extLst>
              <a:ext uri="{FF2B5EF4-FFF2-40B4-BE49-F238E27FC236}">
                <a16:creationId xmlns:a16="http://schemas.microsoft.com/office/drawing/2014/main" id="{97E1BBCA-F9BF-47AE-8E66-A0234A4C355A}"/>
              </a:ext>
            </a:extLst>
          </p:cNvPr>
          <p:cNvSpPr>
            <a:spLocks noGrp="1"/>
          </p:cNvSpPr>
          <p:nvPr/>
        </p:nvSpPr>
        <p:spPr>
          <a:xfrm>
            <a:off x="140970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Train worlds</a:t>
            </a:r>
          </a:p>
        </p:txBody>
      </p:sp>
      <p:sp>
        <p:nvSpPr>
          <p:cNvPr id="12" name="Rectangle: Rounded Corners 11">
            <a:extLst>
              <a:ext uri="{FF2B5EF4-FFF2-40B4-BE49-F238E27FC236}">
                <a16:creationId xmlns:a16="http://schemas.microsoft.com/office/drawing/2014/main" id="{AC21F639-BF91-470C-8F7B-89BCBB596878}"/>
              </a:ext>
            </a:extLst>
          </p:cNvPr>
          <p:cNvSpPr>
            <a:spLocks noGrp="1"/>
          </p:cNvSpPr>
          <p:nvPr/>
        </p:nvSpPr>
        <p:spPr>
          <a:xfrm>
            <a:off x="337185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3" name="Rectangle 12">
            <a:extLst>
              <a:ext uri="{FF2B5EF4-FFF2-40B4-BE49-F238E27FC236}">
                <a16:creationId xmlns:a16="http://schemas.microsoft.com/office/drawing/2014/main" id="{1E7D828E-75B6-410B-8ECC-2488C92C1460}"/>
              </a:ext>
            </a:extLst>
          </p:cNvPr>
          <p:cNvSpPr>
            <a:spLocks noGrp="1"/>
          </p:cNvSpPr>
          <p:nvPr/>
        </p:nvSpPr>
        <p:spPr>
          <a:xfrm>
            <a:off x="354330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5</a:t>
            </a:r>
          </a:p>
        </p:txBody>
      </p:sp>
      <p:sp>
        <p:nvSpPr>
          <p:cNvPr id="14" name="Rectangle 13">
            <a:extLst>
              <a:ext uri="{FF2B5EF4-FFF2-40B4-BE49-F238E27FC236}">
                <a16:creationId xmlns:a16="http://schemas.microsoft.com/office/drawing/2014/main" id="{CC85BDBE-C1FE-4C0B-AF9C-B89E65138340}"/>
              </a:ext>
            </a:extLst>
          </p:cNvPr>
          <p:cNvSpPr>
            <a:spLocks noGrp="1"/>
          </p:cNvSpPr>
          <p:nvPr/>
        </p:nvSpPr>
        <p:spPr>
          <a:xfrm>
            <a:off x="424815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Validation worlds</a:t>
            </a:r>
          </a:p>
        </p:txBody>
      </p:sp>
      <p:sp>
        <p:nvSpPr>
          <p:cNvPr id="15" name="Rectangle: Rounded Corners 14">
            <a:extLst>
              <a:ext uri="{FF2B5EF4-FFF2-40B4-BE49-F238E27FC236}">
                <a16:creationId xmlns:a16="http://schemas.microsoft.com/office/drawing/2014/main" id="{CC6C869E-DE14-4873-80F4-5BF981415D17}"/>
              </a:ext>
            </a:extLst>
          </p:cNvPr>
          <p:cNvSpPr>
            <a:spLocks noGrp="1"/>
          </p:cNvSpPr>
          <p:nvPr/>
        </p:nvSpPr>
        <p:spPr>
          <a:xfrm>
            <a:off x="621030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6" name="Rectangle 15">
            <a:extLst>
              <a:ext uri="{FF2B5EF4-FFF2-40B4-BE49-F238E27FC236}">
                <a16:creationId xmlns:a16="http://schemas.microsoft.com/office/drawing/2014/main" id="{4EC15FB1-99DE-4FF7-B5F3-C04E35E6F1A7}"/>
              </a:ext>
            </a:extLst>
          </p:cNvPr>
          <p:cNvSpPr>
            <a:spLocks noGrp="1"/>
          </p:cNvSpPr>
          <p:nvPr/>
        </p:nvSpPr>
        <p:spPr>
          <a:xfrm>
            <a:off x="638175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5</a:t>
            </a:r>
          </a:p>
        </p:txBody>
      </p:sp>
      <p:sp>
        <p:nvSpPr>
          <p:cNvPr id="17" name="Rectangle 16">
            <a:extLst>
              <a:ext uri="{FF2B5EF4-FFF2-40B4-BE49-F238E27FC236}">
                <a16:creationId xmlns:a16="http://schemas.microsoft.com/office/drawing/2014/main" id="{031F6C7C-9185-4938-9B25-1B7FF5EDB99C}"/>
              </a:ext>
            </a:extLst>
          </p:cNvPr>
          <p:cNvSpPr>
            <a:spLocks noGrp="1"/>
          </p:cNvSpPr>
          <p:nvPr/>
        </p:nvSpPr>
        <p:spPr>
          <a:xfrm>
            <a:off x="708660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Untouched test worlds</a:t>
            </a:r>
          </a:p>
        </p:txBody>
      </p:sp>
      <p:sp>
        <p:nvSpPr>
          <p:cNvPr id="18" name="Rectangle: Rounded Corners 17">
            <a:extLst>
              <a:ext uri="{FF2B5EF4-FFF2-40B4-BE49-F238E27FC236}">
                <a16:creationId xmlns:a16="http://schemas.microsoft.com/office/drawing/2014/main" id="{D07D1727-C027-4430-90B0-241C7CFC0073}"/>
              </a:ext>
            </a:extLst>
          </p:cNvPr>
          <p:cNvSpPr>
            <a:spLocks noGrp="1"/>
          </p:cNvSpPr>
          <p:nvPr/>
        </p:nvSpPr>
        <p:spPr>
          <a:xfrm>
            <a:off x="9048750" y="2466975"/>
            <a:ext cx="2609850" cy="1104900"/>
          </a:xfrm>
          <a:prstGeom prst="roundRect">
            <a:avLst>
              <a:gd name="adj" fmla="val 6897"/>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8047D6A3-D110-46E6-95BB-37263E8D5F83}"/>
              </a:ext>
            </a:extLst>
          </p:cNvPr>
          <p:cNvSpPr>
            <a:spLocks noGrp="1"/>
          </p:cNvSpPr>
          <p:nvPr/>
        </p:nvSpPr>
        <p:spPr>
          <a:xfrm>
            <a:off x="9220200" y="2581275"/>
            <a:ext cx="590550"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3750" b="1">
                <a:solidFill>
                  <a:srgbClr val="187257"/>
                </a:solidFill>
              </a:rPr>
              <a:t>1</a:t>
            </a:r>
          </a:p>
        </p:txBody>
      </p:sp>
      <p:sp>
        <p:nvSpPr>
          <p:cNvPr id="20" name="Rectangle 19">
            <a:extLst>
              <a:ext uri="{FF2B5EF4-FFF2-40B4-BE49-F238E27FC236}">
                <a16:creationId xmlns:a16="http://schemas.microsoft.com/office/drawing/2014/main" id="{D6C4B709-DC76-4500-9DC4-9A8400732D4B}"/>
              </a:ext>
            </a:extLst>
          </p:cNvPr>
          <p:cNvSpPr>
            <a:spLocks noGrp="1"/>
          </p:cNvSpPr>
          <p:nvPr/>
        </p:nvSpPr>
        <p:spPr>
          <a:xfrm>
            <a:off x="9925050" y="2752725"/>
            <a:ext cx="154305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Demo world</a:t>
            </a:r>
          </a:p>
        </p:txBody>
      </p:sp>
      <p:sp>
        <p:nvSpPr>
          <p:cNvPr id="21" name="Rectangle: Rounded Corners 20">
            <a:extLst>
              <a:ext uri="{FF2B5EF4-FFF2-40B4-BE49-F238E27FC236}">
                <a16:creationId xmlns:a16="http://schemas.microsoft.com/office/drawing/2014/main" id="{9160B332-14A3-4335-B285-38D0DE88CDAF}"/>
              </a:ext>
            </a:extLst>
          </p:cNvPr>
          <p:cNvSpPr>
            <a:spLocks noGrp="1"/>
          </p:cNvSpPr>
          <p:nvPr/>
        </p:nvSpPr>
        <p:spPr>
          <a:xfrm>
            <a:off x="533400" y="3781425"/>
            <a:ext cx="5438775" cy="1476375"/>
          </a:xfrm>
          <a:prstGeom prst="roundRect">
            <a:avLst>
              <a:gd name="adj" fmla="val 5161"/>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352E04D8-8271-4953-A69D-E4208660EE58}"/>
              </a:ext>
            </a:extLst>
          </p:cNvPr>
          <p:cNvSpPr>
            <a:spLocks noGrp="1"/>
          </p:cNvSpPr>
          <p:nvPr/>
        </p:nvSpPr>
        <p:spPr>
          <a:xfrm>
            <a:off x="742950" y="39719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Gate 1: better prioritization</a:t>
            </a:r>
          </a:p>
        </p:txBody>
      </p:sp>
      <p:sp>
        <p:nvSpPr>
          <p:cNvPr id="23" name="Rectangle 22">
            <a:extLst>
              <a:ext uri="{FF2B5EF4-FFF2-40B4-BE49-F238E27FC236}">
                <a16:creationId xmlns:a16="http://schemas.microsoft.com/office/drawing/2014/main" id="{833ACACB-9542-4520-AAB3-EF1C3B333292}"/>
              </a:ext>
            </a:extLst>
          </p:cNvPr>
          <p:cNvSpPr>
            <a:spLocks noGrp="1"/>
          </p:cNvSpPr>
          <p:nvPr/>
        </p:nvSpPr>
        <p:spPr>
          <a:xfrm>
            <a:off x="742950" y="4581525"/>
            <a:ext cx="5019675" cy="5810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At a 5% review budget, precision must exceed the raw return-rate baseline.</a:t>
            </a:r>
          </a:p>
        </p:txBody>
      </p:sp>
      <p:sp>
        <p:nvSpPr>
          <p:cNvPr id="24" name="Rectangle: Rounded Corners 23">
            <a:extLst>
              <a:ext uri="{FF2B5EF4-FFF2-40B4-BE49-F238E27FC236}">
                <a16:creationId xmlns:a16="http://schemas.microsoft.com/office/drawing/2014/main" id="{E90C58DE-33F4-4260-8F6E-26A6DC9920DA}"/>
              </a:ext>
            </a:extLst>
          </p:cNvPr>
          <p:cNvSpPr>
            <a:spLocks noGrp="1"/>
          </p:cNvSpPr>
          <p:nvPr/>
        </p:nvSpPr>
        <p:spPr>
          <a:xfrm>
            <a:off x="6219825" y="3781425"/>
            <a:ext cx="5438775" cy="1476375"/>
          </a:xfrm>
          <a:prstGeom prst="roundRect">
            <a:avLst>
              <a:gd name="adj" fmla="val 5161"/>
            </a:avLst>
          </a:prstGeom>
          <a:solidFill>
            <a:srgbClr val="FFFFFF"/>
          </a:solidFill>
          <a:ln w="9525">
            <a:solidFill>
              <a:srgbClr val="D3DED1"/>
            </a:solidFill>
            <a:prstDash val="solid"/>
          </a:ln>
        </p:spPr>
        <p:txBody>
          <a:bodyPr/>
          <a:lstStyle/>
          <a:p>
            <a:endParaRPr lang="en-GB"/>
          </a:p>
        </p:txBody>
      </p:sp>
      <p:sp>
        <p:nvSpPr>
          <p:cNvPr id="25" name="Rectangle 24">
            <a:extLst>
              <a:ext uri="{FF2B5EF4-FFF2-40B4-BE49-F238E27FC236}">
                <a16:creationId xmlns:a16="http://schemas.microsoft.com/office/drawing/2014/main" id="{B56AF6EC-9CDC-45E1-B8E1-5FE5E1083193}"/>
              </a:ext>
            </a:extLst>
          </p:cNvPr>
          <p:cNvSpPr>
            <a:spLocks noGrp="1"/>
          </p:cNvSpPr>
          <p:nvPr/>
        </p:nvSpPr>
        <p:spPr>
          <a:xfrm>
            <a:off x="6429375" y="3971925"/>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Gate 2: protect benign groups</a:t>
            </a:r>
          </a:p>
        </p:txBody>
      </p:sp>
      <p:sp>
        <p:nvSpPr>
          <p:cNvPr id="26" name="Rectangle 25">
            <a:extLst>
              <a:ext uri="{FF2B5EF4-FFF2-40B4-BE49-F238E27FC236}">
                <a16:creationId xmlns:a16="http://schemas.microsoft.com/office/drawing/2014/main" id="{7A685B86-3129-4DC1-93F0-63EE7BBF0D19}"/>
              </a:ext>
            </a:extLst>
          </p:cNvPr>
          <p:cNvSpPr>
            <a:spLocks noGrp="1"/>
          </p:cNvSpPr>
          <p:nvPr/>
        </p:nvSpPr>
        <p:spPr>
          <a:xfrm>
            <a:off x="6429375" y="4581525"/>
            <a:ext cx="5019675" cy="5810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False-positive rate must be no worse in each of three benign segments.</a:t>
            </a:r>
          </a:p>
        </p:txBody>
      </p:sp>
      <p:sp>
        <p:nvSpPr>
          <p:cNvPr id="27" name="Rectangle: Rounded Corners 26">
            <a:extLst>
              <a:ext uri="{FF2B5EF4-FFF2-40B4-BE49-F238E27FC236}">
                <a16:creationId xmlns:a16="http://schemas.microsoft.com/office/drawing/2014/main" id="{FA2026E8-EA89-4A4C-8592-DF65E419837A}"/>
              </a:ext>
            </a:extLst>
          </p:cNvPr>
          <p:cNvSpPr>
            <a:spLocks noGrp="1"/>
          </p:cNvSpPr>
          <p:nvPr/>
        </p:nvSpPr>
        <p:spPr>
          <a:xfrm>
            <a:off x="533400" y="5467350"/>
            <a:ext cx="11125200" cy="666750"/>
          </a:xfrm>
          <a:prstGeom prst="roundRect">
            <a:avLst>
              <a:gd name="adj" fmla="val 11429"/>
            </a:avLst>
          </a:prstGeom>
          <a:solidFill>
            <a:srgbClr val="153C32"/>
          </a:solidFill>
          <a:ln w="9525">
            <a:solidFill>
              <a:srgbClr val="153C32"/>
            </a:solidFill>
            <a:prstDash val="solid"/>
          </a:ln>
        </p:spPr>
        <p:txBody>
          <a:bodyPr/>
          <a:lstStyle/>
          <a:p>
            <a:endParaRPr lang="en-GB"/>
          </a:p>
        </p:txBody>
      </p:sp>
      <p:sp>
        <p:nvSpPr>
          <p:cNvPr id="28" name="Rectangle 27">
            <a:extLst>
              <a:ext uri="{FF2B5EF4-FFF2-40B4-BE49-F238E27FC236}">
                <a16:creationId xmlns:a16="http://schemas.microsoft.com/office/drawing/2014/main" id="{98C83793-4628-4470-A2B5-DBA19FE2E84B}"/>
              </a:ext>
            </a:extLst>
          </p:cNvPr>
          <p:cNvSpPr>
            <a:spLocks noGrp="1"/>
          </p:cNvSpPr>
          <p:nvPr/>
        </p:nvSpPr>
        <p:spPr>
          <a:xfrm>
            <a:off x="742950" y="5648325"/>
            <a:ext cx="1070610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FFFFFF"/>
                </a:solidFill>
              </a:rPr>
              <a:t>PASS: promote the frozen selection   •   FAIL: disclose and serve the baseline</a:t>
            </a:r>
          </a:p>
        </p:txBody>
      </p:sp>
    </p:spTree>
    <p:extLst>
      <p:ext uri="{BB962C8B-B14F-4D97-AF65-F5344CB8AC3E}">
        <p14:creationId xmlns:p14="http://schemas.microsoft.com/office/powerpoint/2010/main" val="902570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3"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C073746-2085-4E0C-9F51-E079AB9B804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8919B06D-AC5C-40BC-8907-A197E371B0F2}"/>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UI / UX</a:t>
            </a:r>
          </a:p>
        </p:txBody>
      </p:sp>
      <p:sp>
        <p:nvSpPr>
          <p:cNvPr id="4" name="Rectangle 3">
            <a:extLst>
              <a:ext uri="{FF2B5EF4-FFF2-40B4-BE49-F238E27FC236}">
                <a16:creationId xmlns:a16="http://schemas.microsoft.com/office/drawing/2014/main" id="{F081F96B-8B77-4ABB-87F4-95B8BA870F81}"/>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Make the ranking easy to question.</a:t>
            </a:r>
          </a:p>
        </p:txBody>
      </p:sp>
      <p:sp>
        <p:nvSpPr>
          <p:cNvPr id="5" name="Rectangle 4">
            <a:extLst>
              <a:ext uri="{FF2B5EF4-FFF2-40B4-BE49-F238E27FC236}">
                <a16:creationId xmlns:a16="http://schemas.microsoft.com/office/drawing/2014/main" id="{411239FA-4EA9-4D7B-8497-FB3EB74F9685}"/>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Revised clickable wireframe • synthetic demonstration values • not a running ML product</a:t>
            </a:r>
          </a:p>
        </p:txBody>
      </p:sp>
      <p:sp>
        <p:nvSpPr>
          <p:cNvPr id="6" name="Rectangle 5">
            <a:extLst>
              <a:ext uri="{FF2B5EF4-FFF2-40B4-BE49-F238E27FC236}">
                <a16:creationId xmlns:a16="http://schemas.microsoft.com/office/drawing/2014/main" id="{B871F89D-BD79-4D4D-BEB3-097EC31D86E6}"/>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24F0CE46-5852-4246-929A-2162B653A6B0}"/>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7D7EABF8-B252-461D-B559-FB330E77892C}"/>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09</a:t>
            </a:r>
          </a:p>
        </p:txBody>
      </p:sp>
      <p:sp>
        <p:nvSpPr>
          <p:cNvPr id="9" name="Rectangle: Rounded Corners 8">
            <a:extLst>
              <a:ext uri="{FF2B5EF4-FFF2-40B4-BE49-F238E27FC236}">
                <a16:creationId xmlns:a16="http://schemas.microsoft.com/office/drawing/2014/main" id="{9AF08BC0-9B14-45B0-A2CE-A652300537E6}"/>
              </a:ext>
            </a:extLst>
          </p:cNvPr>
          <p:cNvSpPr>
            <a:spLocks noGrp="1"/>
          </p:cNvSpPr>
          <p:nvPr/>
        </p:nvSpPr>
        <p:spPr>
          <a:xfrm>
            <a:off x="533400" y="2409825"/>
            <a:ext cx="7334250" cy="3705225"/>
          </a:xfrm>
          <a:prstGeom prst="roundRect">
            <a:avLst>
              <a:gd name="adj" fmla="val 2057"/>
            </a:avLst>
          </a:prstGeom>
          <a:solidFill>
            <a:srgbClr val="FFFFFF"/>
          </a:solidFill>
          <a:ln w="9525">
            <a:solidFill>
              <a:srgbClr val="D3DED1"/>
            </a:solidFill>
            <a:prstDash val="solid"/>
          </a:ln>
        </p:spPr>
        <p:txBody>
          <a:bodyPr/>
          <a:lstStyle/>
          <a:p>
            <a:endParaRPr lang="en-GB"/>
          </a:p>
        </p:txBody>
      </p:sp>
      <p:pic>
        <p:nvPicPr>
          <p:cNvPr id="10" name="Picture 9"/>
          <p:cNvPicPr>
            <a:picLocks noChangeAspect="1"/>
          </p:cNvPicPr>
          <p:nvPr/>
        </p:nvPicPr>
        <p:blipFill>
          <a:blip r:embed="rId3"/>
          <a:stretch/>
        </p:blipFill>
        <p:spPr>
          <a:xfrm>
            <a:off x="1869298" y="2457450"/>
            <a:ext cx="4662453" cy="3600450"/>
          </a:xfrm>
          <a:prstGeom prst="rect">
            <a:avLst/>
          </a:prstGeom>
        </p:spPr>
      </p:pic>
      <p:sp>
        <p:nvSpPr>
          <p:cNvPr id="11" name="Rectangle 10">
            <a:extLst>
              <a:ext uri="{FF2B5EF4-FFF2-40B4-BE49-F238E27FC236}">
                <a16:creationId xmlns:a16="http://schemas.microsoft.com/office/drawing/2014/main" id="{ECD1AB7A-0E6E-4EE5-A959-4CEBE1B6664A}"/>
              </a:ext>
            </a:extLst>
          </p:cNvPr>
          <p:cNvSpPr>
            <a:spLocks noGrp="1"/>
          </p:cNvSpPr>
          <p:nvPr/>
        </p:nvSpPr>
        <p:spPr>
          <a:xfrm>
            <a:off x="8153400" y="246697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01</a:t>
            </a:r>
          </a:p>
        </p:txBody>
      </p:sp>
      <p:sp>
        <p:nvSpPr>
          <p:cNvPr id="12" name="Rectangle 11">
            <a:extLst>
              <a:ext uri="{FF2B5EF4-FFF2-40B4-BE49-F238E27FC236}">
                <a16:creationId xmlns:a16="http://schemas.microsoft.com/office/drawing/2014/main" id="{18512F73-3D6B-454C-B49C-A5B1993E088F}"/>
              </a:ext>
            </a:extLst>
          </p:cNvPr>
          <p:cNvSpPr>
            <a:spLocks noGrp="1"/>
          </p:cNvSpPr>
          <p:nvPr/>
        </p:nvSpPr>
        <p:spPr>
          <a:xfrm>
            <a:off x="8658225" y="246697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Explain the score</a:t>
            </a:r>
          </a:p>
        </p:txBody>
      </p:sp>
      <p:sp>
        <p:nvSpPr>
          <p:cNvPr id="13" name="Rectangle 12">
            <a:extLst>
              <a:ext uri="{FF2B5EF4-FFF2-40B4-BE49-F238E27FC236}">
                <a16:creationId xmlns:a16="http://schemas.microsoft.com/office/drawing/2014/main" id="{2B7C2963-CB53-4D5B-A2E4-FA9543B0EA7A}"/>
              </a:ext>
            </a:extLst>
          </p:cNvPr>
          <p:cNvSpPr>
            <a:spLocks noGrp="1"/>
          </p:cNvSpPr>
          <p:nvPr/>
        </p:nvSpPr>
        <p:spPr>
          <a:xfrm>
            <a:off x="8658225" y="280987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A percentile is not a probability.</a:t>
            </a:r>
          </a:p>
        </p:txBody>
      </p:sp>
      <p:sp>
        <p:nvSpPr>
          <p:cNvPr id="14" name="Rectangle 13">
            <a:extLst>
              <a:ext uri="{FF2B5EF4-FFF2-40B4-BE49-F238E27FC236}">
                <a16:creationId xmlns:a16="http://schemas.microsoft.com/office/drawing/2014/main" id="{A9F7D3C7-7BEB-4189-8083-3E5B09EEBF49}"/>
              </a:ext>
            </a:extLst>
          </p:cNvPr>
          <p:cNvSpPr>
            <a:spLocks noGrp="1"/>
          </p:cNvSpPr>
          <p:nvPr/>
        </p:nvSpPr>
        <p:spPr>
          <a:xfrm>
            <a:off x="8153400" y="340042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02</a:t>
            </a:r>
          </a:p>
        </p:txBody>
      </p:sp>
      <p:sp>
        <p:nvSpPr>
          <p:cNvPr id="15" name="Rectangle 14">
            <a:extLst>
              <a:ext uri="{FF2B5EF4-FFF2-40B4-BE49-F238E27FC236}">
                <a16:creationId xmlns:a16="http://schemas.microsoft.com/office/drawing/2014/main" id="{26C7CF47-5D94-456F-9BC1-A05BDDE124A5}"/>
              </a:ext>
            </a:extLst>
          </p:cNvPr>
          <p:cNvSpPr>
            <a:spLocks noGrp="1"/>
          </p:cNvSpPr>
          <p:nvPr/>
        </p:nvSpPr>
        <p:spPr>
          <a:xfrm>
            <a:off x="8658225" y="340042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Show product context</a:t>
            </a:r>
          </a:p>
        </p:txBody>
      </p:sp>
      <p:sp>
        <p:nvSpPr>
          <p:cNvPr id="16" name="Rectangle 15">
            <a:extLst>
              <a:ext uri="{FF2B5EF4-FFF2-40B4-BE49-F238E27FC236}">
                <a16:creationId xmlns:a16="http://schemas.microsoft.com/office/drawing/2014/main" id="{0627B37F-9439-4D79-BEF2-2AC511321356}"/>
              </a:ext>
            </a:extLst>
          </p:cNvPr>
          <p:cNvSpPr>
            <a:spLocks noGrp="1"/>
          </p:cNvSpPr>
          <p:nvPr/>
        </p:nvSpPr>
        <p:spPr>
          <a:xfrm>
            <a:off x="8658225" y="374332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Compare observed and expected returns.</a:t>
            </a:r>
          </a:p>
        </p:txBody>
      </p:sp>
      <p:sp>
        <p:nvSpPr>
          <p:cNvPr id="17" name="Rectangle 16">
            <a:extLst>
              <a:ext uri="{FF2B5EF4-FFF2-40B4-BE49-F238E27FC236}">
                <a16:creationId xmlns:a16="http://schemas.microsoft.com/office/drawing/2014/main" id="{26F210A0-7C0D-49AA-9643-7DAA2C4EA60D}"/>
              </a:ext>
            </a:extLst>
          </p:cNvPr>
          <p:cNvSpPr>
            <a:spLocks noGrp="1"/>
          </p:cNvSpPr>
          <p:nvPr/>
        </p:nvSpPr>
        <p:spPr>
          <a:xfrm>
            <a:off x="8153400" y="433387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03</a:t>
            </a:r>
          </a:p>
        </p:txBody>
      </p:sp>
      <p:sp>
        <p:nvSpPr>
          <p:cNvPr id="18" name="Rectangle 17">
            <a:extLst>
              <a:ext uri="{FF2B5EF4-FFF2-40B4-BE49-F238E27FC236}">
                <a16:creationId xmlns:a16="http://schemas.microsoft.com/office/drawing/2014/main" id="{0B97F993-CAED-4DB1-B238-753AC6CCD55F}"/>
              </a:ext>
            </a:extLst>
          </p:cNvPr>
          <p:cNvSpPr>
            <a:spLocks noGrp="1"/>
          </p:cNvSpPr>
          <p:nvPr/>
        </p:nvSpPr>
        <p:spPr>
          <a:xfrm>
            <a:off x="8658225" y="433387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Separate signals</a:t>
            </a:r>
          </a:p>
        </p:txBody>
      </p:sp>
      <p:sp>
        <p:nvSpPr>
          <p:cNvPr id="19" name="Rectangle 18">
            <a:extLst>
              <a:ext uri="{FF2B5EF4-FFF2-40B4-BE49-F238E27FC236}">
                <a16:creationId xmlns:a16="http://schemas.microsoft.com/office/drawing/2014/main" id="{B383F990-EEB9-49FA-A00C-1FF93005302D}"/>
              </a:ext>
            </a:extLst>
          </p:cNvPr>
          <p:cNvSpPr>
            <a:spLocks noGrp="1"/>
          </p:cNvSpPr>
          <p:nvPr/>
        </p:nvSpPr>
        <p:spPr>
          <a:xfrm>
            <a:off x="8658225" y="467677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Wardrobing stays independently labeled.</a:t>
            </a:r>
          </a:p>
        </p:txBody>
      </p:sp>
      <p:sp>
        <p:nvSpPr>
          <p:cNvPr id="20" name="Rectangle 19">
            <a:extLst>
              <a:ext uri="{FF2B5EF4-FFF2-40B4-BE49-F238E27FC236}">
                <a16:creationId xmlns:a16="http://schemas.microsoft.com/office/drawing/2014/main" id="{3B180988-71E3-4C51-9E24-22F30CE9CC01}"/>
              </a:ext>
            </a:extLst>
          </p:cNvPr>
          <p:cNvSpPr>
            <a:spLocks noGrp="1"/>
          </p:cNvSpPr>
          <p:nvPr/>
        </p:nvSpPr>
        <p:spPr>
          <a:xfrm>
            <a:off x="8153400" y="5267325"/>
            <a:ext cx="400050" cy="3429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87257"/>
                </a:solidFill>
              </a:rPr>
              <a:t>04</a:t>
            </a:r>
          </a:p>
        </p:txBody>
      </p:sp>
      <p:sp>
        <p:nvSpPr>
          <p:cNvPr id="21" name="Rectangle 20">
            <a:extLst>
              <a:ext uri="{FF2B5EF4-FFF2-40B4-BE49-F238E27FC236}">
                <a16:creationId xmlns:a16="http://schemas.microsoft.com/office/drawing/2014/main" id="{83D22D61-9E93-4002-A963-95A39EADE111}"/>
              </a:ext>
            </a:extLst>
          </p:cNvPr>
          <p:cNvSpPr>
            <a:spLocks noGrp="1"/>
          </p:cNvSpPr>
          <p:nvPr/>
        </p:nvSpPr>
        <p:spPr>
          <a:xfrm>
            <a:off x="8658225" y="5267325"/>
            <a:ext cx="29622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53C32"/>
                </a:solidFill>
              </a:rPr>
              <a:t>Record the review</a:t>
            </a:r>
          </a:p>
        </p:txBody>
      </p:sp>
      <p:sp>
        <p:nvSpPr>
          <p:cNvPr id="22" name="Rectangle 21">
            <a:extLst>
              <a:ext uri="{FF2B5EF4-FFF2-40B4-BE49-F238E27FC236}">
                <a16:creationId xmlns:a16="http://schemas.microsoft.com/office/drawing/2014/main" id="{A6EF583C-775B-4B9C-B363-D403BC94061B}"/>
              </a:ext>
            </a:extLst>
          </p:cNvPr>
          <p:cNvSpPr>
            <a:spLocks noGrp="1"/>
          </p:cNvSpPr>
          <p:nvPr/>
        </p:nvSpPr>
        <p:spPr>
          <a:xfrm>
            <a:off x="8658225" y="5610225"/>
            <a:ext cx="29622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Append-only notes preserve history.</a:t>
            </a:r>
          </a:p>
        </p:txBody>
      </p:sp>
    </p:spTree>
    <p:extLst>
      <p:ext uri="{BB962C8B-B14F-4D97-AF65-F5344CB8AC3E}">
        <p14:creationId xmlns:p14="http://schemas.microsoft.com/office/powerpoint/2010/main" val="206440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3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485B1F33-C864-4693-BC4D-AF0A8D626910}"/>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A4422181-E1F3-4AE5-8665-3E359C2923AA}"/>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TECHNOLOGY STACK</a:t>
            </a:r>
          </a:p>
        </p:txBody>
      </p:sp>
      <p:sp>
        <p:nvSpPr>
          <p:cNvPr id="4" name="Rectangle 3">
            <a:extLst>
              <a:ext uri="{FF2B5EF4-FFF2-40B4-BE49-F238E27FC236}">
                <a16:creationId xmlns:a16="http://schemas.microsoft.com/office/drawing/2014/main" id="{10003396-525C-4730-89D0-B2737A5A45F7}"/>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A small, familiar stack for the MVP.</a:t>
            </a:r>
          </a:p>
        </p:txBody>
      </p:sp>
      <p:sp>
        <p:nvSpPr>
          <p:cNvPr id="5" name="Rectangle 4">
            <a:extLst>
              <a:ext uri="{FF2B5EF4-FFF2-40B4-BE49-F238E27FC236}">
                <a16:creationId xmlns:a16="http://schemas.microsoft.com/office/drawing/2014/main" id="{C70DBC87-4718-4C80-8AD4-6E0DF466E510}"/>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Keep experimentation offline and the application runtime simple.</a:t>
            </a:r>
          </a:p>
        </p:txBody>
      </p:sp>
      <p:sp>
        <p:nvSpPr>
          <p:cNvPr id="6" name="Rectangle 5">
            <a:extLst>
              <a:ext uri="{FF2B5EF4-FFF2-40B4-BE49-F238E27FC236}">
                <a16:creationId xmlns:a16="http://schemas.microsoft.com/office/drawing/2014/main" id="{DCAE9563-6C20-494C-8931-451E31BE3F6F}"/>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BAF6DF3-042D-4A24-BD94-4DF0AAB05842}"/>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3A621D0C-FE0E-4165-862C-EA0489D3D24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10</a:t>
            </a:r>
          </a:p>
        </p:txBody>
      </p:sp>
      <p:sp>
        <p:nvSpPr>
          <p:cNvPr id="9" name="Rectangle 8">
            <a:extLst>
              <a:ext uri="{FF2B5EF4-FFF2-40B4-BE49-F238E27FC236}">
                <a16:creationId xmlns:a16="http://schemas.microsoft.com/office/drawing/2014/main" id="{1EDEB39F-0BDE-4E9B-AD55-508298AF0264}"/>
              </a:ext>
            </a:extLst>
          </p:cNvPr>
          <p:cNvSpPr>
            <a:spLocks noGrp="1"/>
          </p:cNvSpPr>
          <p:nvPr/>
        </p:nvSpPr>
        <p:spPr>
          <a:xfrm>
            <a:off x="533400" y="2438400"/>
            <a:ext cx="11125200" cy="571500"/>
          </a:xfrm>
          <a:prstGeom prst="rect">
            <a:avLst/>
          </a:prstGeom>
          <a:solidFill>
            <a:srgbClr val="FFFFFF"/>
          </a:solidFill>
          <a:ln w="9525">
            <a:solidFill>
              <a:srgbClr val="FFFFFF"/>
            </a:solidFill>
            <a:prstDash val="solid"/>
          </a:ln>
        </p:spPr>
        <p:txBody>
          <a:bodyPr/>
          <a:lstStyle/>
          <a:p>
            <a:endParaRPr lang="en-GB"/>
          </a:p>
        </p:txBody>
      </p:sp>
      <p:sp>
        <p:nvSpPr>
          <p:cNvPr id="10" name="Rectangle 9">
            <a:extLst>
              <a:ext uri="{FF2B5EF4-FFF2-40B4-BE49-F238E27FC236}">
                <a16:creationId xmlns:a16="http://schemas.microsoft.com/office/drawing/2014/main" id="{F7DE79A8-24EB-42EE-B7ED-38E4A9B8272B}"/>
              </a:ext>
            </a:extLst>
          </p:cNvPr>
          <p:cNvSpPr>
            <a:spLocks noGrp="1"/>
          </p:cNvSpPr>
          <p:nvPr/>
        </p:nvSpPr>
        <p:spPr>
          <a:xfrm>
            <a:off x="704850" y="25908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Data + features</a:t>
            </a:r>
          </a:p>
        </p:txBody>
      </p:sp>
      <p:sp>
        <p:nvSpPr>
          <p:cNvPr id="11" name="Rectangle 10">
            <a:extLst>
              <a:ext uri="{FF2B5EF4-FFF2-40B4-BE49-F238E27FC236}">
                <a16:creationId xmlns:a16="http://schemas.microsoft.com/office/drawing/2014/main" id="{FA7B69E7-A830-43B4-8D8A-8DD8E0DE4A97}"/>
              </a:ext>
            </a:extLst>
          </p:cNvPr>
          <p:cNvSpPr>
            <a:spLocks noGrp="1"/>
          </p:cNvSpPr>
          <p:nvPr/>
        </p:nvSpPr>
        <p:spPr>
          <a:xfrm>
            <a:off x="2914650" y="25908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Python · NumPy · pandas</a:t>
            </a:r>
          </a:p>
        </p:txBody>
      </p:sp>
      <p:sp>
        <p:nvSpPr>
          <p:cNvPr id="12" name="Rectangle 11">
            <a:extLst>
              <a:ext uri="{FF2B5EF4-FFF2-40B4-BE49-F238E27FC236}">
                <a16:creationId xmlns:a16="http://schemas.microsoft.com/office/drawing/2014/main" id="{94AE8D95-FB31-4E8C-BBF8-AED9E15E992E}"/>
              </a:ext>
            </a:extLst>
          </p:cNvPr>
          <p:cNvSpPr>
            <a:spLocks noGrp="1"/>
          </p:cNvSpPr>
          <p:nvPr/>
        </p:nvSpPr>
        <p:spPr>
          <a:xfrm>
            <a:off x="7334250" y="25908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Generate, validate and transform</a:t>
            </a:r>
          </a:p>
        </p:txBody>
      </p:sp>
      <p:sp>
        <p:nvSpPr>
          <p:cNvPr id="13" name="Rectangle 12">
            <a:extLst>
              <a:ext uri="{FF2B5EF4-FFF2-40B4-BE49-F238E27FC236}">
                <a16:creationId xmlns:a16="http://schemas.microsoft.com/office/drawing/2014/main" id="{9F113E13-7523-43F4-BCE3-9CDAC76949D8}"/>
              </a:ext>
            </a:extLst>
          </p:cNvPr>
          <p:cNvSpPr>
            <a:spLocks noGrp="1"/>
          </p:cNvSpPr>
          <p:nvPr/>
        </p:nvSpPr>
        <p:spPr>
          <a:xfrm>
            <a:off x="533400" y="3048000"/>
            <a:ext cx="11125200" cy="571500"/>
          </a:xfrm>
          <a:prstGeom prst="rect">
            <a:avLst/>
          </a:prstGeom>
          <a:solidFill>
            <a:srgbClr val="DDEBDD"/>
          </a:solidFill>
          <a:ln w="9525">
            <a:solidFill>
              <a:srgbClr val="DDEBDD"/>
            </a:solidFill>
            <a:prstDash val="solid"/>
          </a:ln>
        </p:spPr>
        <p:txBody>
          <a:bodyPr/>
          <a:lstStyle/>
          <a:p>
            <a:endParaRPr lang="en-GB"/>
          </a:p>
        </p:txBody>
      </p:sp>
      <p:sp>
        <p:nvSpPr>
          <p:cNvPr id="14" name="Rectangle 13">
            <a:extLst>
              <a:ext uri="{FF2B5EF4-FFF2-40B4-BE49-F238E27FC236}">
                <a16:creationId xmlns:a16="http://schemas.microsoft.com/office/drawing/2014/main" id="{4EF3308C-20A3-4470-8F55-8076234A84B8}"/>
              </a:ext>
            </a:extLst>
          </p:cNvPr>
          <p:cNvSpPr>
            <a:spLocks noGrp="1"/>
          </p:cNvSpPr>
          <p:nvPr/>
        </p:nvSpPr>
        <p:spPr>
          <a:xfrm>
            <a:off x="704850" y="32004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Models</a:t>
            </a:r>
          </a:p>
        </p:txBody>
      </p:sp>
      <p:sp>
        <p:nvSpPr>
          <p:cNvPr id="15" name="Rectangle 14">
            <a:extLst>
              <a:ext uri="{FF2B5EF4-FFF2-40B4-BE49-F238E27FC236}">
                <a16:creationId xmlns:a16="http://schemas.microsoft.com/office/drawing/2014/main" id="{1904AED3-E107-4068-9B8D-9BA2377A60E4}"/>
              </a:ext>
            </a:extLst>
          </p:cNvPr>
          <p:cNvSpPr>
            <a:spLocks noGrp="1"/>
          </p:cNvSpPr>
          <p:nvPr/>
        </p:nvSpPr>
        <p:spPr>
          <a:xfrm>
            <a:off x="2914650" y="32004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dirty="0">
                <a:solidFill>
                  <a:srgbClr val="153C32"/>
                </a:solidFill>
              </a:rPr>
              <a:t>scikit-learn</a:t>
            </a:r>
            <a:r>
              <a:rPr lang="en-US" sz="1425" b="1" dirty="0">
                <a:solidFill>
                  <a:srgbClr val="153C32"/>
                </a:solidFill>
              </a:rPr>
              <a:t>/</a:t>
            </a:r>
            <a:r>
              <a:rPr lang="en-US" sz="1425" b="1" dirty="0" err="1">
                <a:solidFill>
                  <a:srgbClr val="153C32"/>
                </a:solidFill>
              </a:rPr>
              <a:t>XGBoost</a:t>
            </a:r>
            <a:endParaRPr sz="1425" b="1" dirty="0">
              <a:solidFill>
                <a:srgbClr val="153C32"/>
              </a:solidFill>
            </a:endParaRPr>
          </a:p>
        </p:txBody>
      </p:sp>
      <p:sp>
        <p:nvSpPr>
          <p:cNvPr id="16" name="Rectangle 15">
            <a:extLst>
              <a:ext uri="{FF2B5EF4-FFF2-40B4-BE49-F238E27FC236}">
                <a16:creationId xmlns:a16="http://schemas.microsoft.com/office/drawing/2014/main" id="{BBD292C5-E642-45E7-ABEE-1E101972E75C}"/>
              </a:ext>
            </a:extLst>
          </p:cNvPr>
          <p:cNvSpPr>
            <a:spLocks noGrp="1"/>
          </p:cNvSpPr>
          <p:nvPr/>
        </p:nvSpPr>
        <p:spPr>
          <a:xfrm>
            <a:off x="7334250" y="32004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dirty="0">
                <a:solidFill>
                  <a:srgbClr val="61766A"/>
                </a:solidFill>
              </a:rPr>
              <a:t>Logistic regression · </a:t>
            </a:r>
            <a:r>
              <a:rPr lang="en-US" sz="1350" b="0" dirty="0">
                <a:solidFill>
                  <a:srgbClr val="61766A"/>
                </a:solidFill>
              </a:rPr>
              <a:t>X</a:t>
            </a:r>
            <a:r>
              <a:rPr sz="1350" b="0" dirty="0">
                <a:solidFill>
                  <a:srgbClr val="61766A"/>
                </a:solidFill>
              </a:rPr>
              <a:t>GB · Isolation Forest</a:t>
            </a:r>
          </a:p>
        </p:txBody>
      </p:sp>
      <p:sp>
        <p:nvSpPr>
          <p:cNvPr id="17" name="Rectangle 16">
            <a:extLst>
              <a:ext uri="{FF2B5EF4-FFF2-40B4-BE49-F238E27FC236}">
                <a16:creationId xmlns:a16="http://schemas.microsoft.com/office/drawing/2014/main" id="{64A2249A-7541-485D-B2AF-0FD95D22D1AC}"/>
              </a:ext>
            </a:extLst>
          </p:cNvPr>
          <p:cNvSpPr>
            <a:spLocks noGrp="1"/>
          </p:cNvSpPr>
          <p:nvPr/>
        </p:nvSpPr>
        <p:spPr>
          <a:xfrm>
            <a:off x="533400" y="3657600"/>
            <a:ext cx="11125200" cy="571500"/>
          </a:xfrm>
          <a:prstGeom prst="rect">
            <a:avLst/>
          </a:prstGeom>
          <a:solidFill>
            <a:srgbClr val="FFFFFF"/>
          </a:solidFill>
          <a:ln w="9525">
            <a:solidFill>
              <a:srgbClr val="FFFFFF"/>
            </a:solidFill>
            <a:prstDash val="solid"/>
          </a:ln>
        </p:spPr>
        <p:txBody>
          <a:bodyPr/>
          <a:lstStyle/>
          <a:p>
            <a:endParaRPr lang="en-GB"/>
          </a:p>
        </p:txBody>
      </p:sp>
      <p:sp>
        <p:nvSpPr>
          <p:cNvPr id="18" name="Rectangle 17">
            <a:extLst>
              <a:ext uri="{FF2B5EF4-FFF2-40B4-BE49-F238E27FC236}">
                <a16:creationId xmlns:a16="http://schemas.microsoft.com/office/drawing/2014/main" id="{9FF8D0FD-DE0D-4FC7-9753-E788B30BAD19}"/>
              </a:ext>
            </a:extLst>
          </p:cNvPr>
          <p:cNvSpPr>
            <a:spLocks noGrp="1"/>
          </p:cNvSpPr>
          <p:nvPr/>
        </p:nvSpPr>
        <p:spPr>
          <a:xfrm>
            <a:off x="704850" y="38100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API + execution</a:t>
            </a:r>
          </a:p>
        </p:txBody>
      </p:sp>
      <p:sp>
        <p:nvSpPr>
          <p:cNvPr id="19" name="Rectangle 18">
            <a:extLst>
              <a:ext uri="{FF2B5EF4-FFF2-40B4-BE49-F238E27FC236}">
                <a16:creationId xmlns:a16="http://schemas.microsoft.com/office/drawing/2014/main" id="{78494186-2C6D-4543-BF74-82FE24E68439}"/>
              </a:ext>
            </a:extLst>
          </p:cNvPr>
          <p:cNvSpPr>
            <a:spLocks noGrp="1"/>
          </p:cNvSpPr>
          <p:nvPr/>
        </p:nvSpPr>
        <p:spPr>
          <a:xfrm>
            <a:off x="2914650" y="38100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FastAPI · one worker</a:t>
            </a:r>
          </a:p>
        </p:txBody>
      </p:sp>
      <p:sp>
        <p:nvSpPr>
          <p:cNvPr id="20" name="Rectangle 19">
            <a:extLst>
              <a:ext uri="{FF2B5EF4-FFF2-40B4-BE49-F238E27FC236}">
                <a16:creationId xmlns:a16="http://schemas.microsoft.com/office/drawing/2014/main" id="{6C93DE7B-731B-4A44-B6FD-47EAB6B5DEA8}"/>
              </a:ext>
            </a:extLst>
          </p:cNvPr>
          <p:cNvSpPr>
            <a:spLocks noGrp="1"/>
          </p:cNvSpPr>
          <p:nvPr/>
        </p:nvSpPr>
        <p:spPr>
          <a:xfrm>
            <a:off x="7334250" y="38100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Typed contracts and durable run lifecycle</a:t>
            </a:r>
          </a:p>
        </p:txBody>
      </p:sp>
      <p:sp>
        <p:nvSpPr>
          <p:cNvPr id="21" name="Rectangle 20">
            <a:extLst>
              <a:ext uri="{FF2B5EF4-FFF2-40B4-BE49-F238E27FC236}">
                <a16:creationId xmlns:a16="http://schemas.microsoft.com/office/drawing/2014/main" id="{5631613F-3F4D-4615-9DC0-6505A44F636D}"/>
              </a:ext>
            </a:extLst>
          </p:cNvPr>
          <p:cNvSpPr>
            <a:spLocks noGrp="1"/>
          </p:cNvSpPr>
          <p:nvPr/>
        </p:nvSpPr>
        <p:spPr>
          <a:xfrm>
            <a:off x="533400" y="4267200"/>
            <a:ext cx="11125200" cy="571500"/>
          </a:xfrm>
          <a:prstGeom prst="rect">
            <a:avLst/>
          </a:prstGeom>
          <a:solidFill>
            <a:srgbClr val="DDEBDD"/>
          </a:solidFill>
          <a:ln w="9525">
            <a:solidFill>
              <a:srgbClr val="DDEBDD"/>
            </a:solidFill>
            <a:prstDash val="solid"/>
          </a:ln>
        </p:spPr>
        <p:txBody>
          <a:bodyPr/>
          <a:lstStyle/>
          <a:p>
            <a:endParaRPr lang="en-GB"/>
          </a:p>
        </p:txBody>
      </p:sp>
      <p:sp>
        <p:nvSpPr>
          <p:cNvPr id="22" name="Rectangle 21">
            <a:extLst>
              <a:ext uri="{FF2B5EF4-FFF2-40B4-BE49-F238E27FC236}">
                <a16:creationId xmlns:a16="http://schemas.microsoft.com/office/drawing/2014/main" id="{0BB30D62-2815-4175-B5BA-987027103814}"/>
              </a:ext>
            </a:extLst>
          </p:cNvPr>
          <p:cNvSpPr>
            <a:spLocks noGrp="1"/>
          </p:cNvSpPr>
          <p:nvPr/>
        </p:nvSpPr>
        <p:spPr>
          <a:xfrm>
            <a:off x="704850" y="44196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Analyst UI</a:t>
            </a:r>
          </a:p>
        </p:txBody>
      </p:sp>
      <p:sp>
        <p:nvSpPr>
          <p:cNvPr id="23" name="Rectangle 22">
            <a:extLst>
              <a:ext uri="{FF2B5EF4-FFF2-40B4-BE49-F238E27FC236}">
                <a16:creationId xmlns:a16="http://schemas.microsoft.com/office/drawing/2014/main" id="{507CEC19-4DD0-40B5-9B43-08EF89BDB1A9}"/>
              </a:ext>
            </a:extLst>
          </p:cNvPr>
          <p:cNvSpPr>
            <a:spLocks noGrp="1"/>
          </p:cNvSpPr>
          <p:nvPr/>
        </p:nvSpPr>
        <p:spPr>
          <a:xfrm>
            <a:off x="2914650" y="4430486"/>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React · Vite</a:t>
            </a:r>
          </a:p>
        </p:txBody>
      </p:sp>
      <p:sp>
        <p:nvSpPr>
          <p:cNvPr id="24" name="Rectangle 23">
            <a:extLst>
              <a:ext uri="{FF2B5EF4-FFF2-40B4-BE49-F238E27FC236}">
                <a16:creationId xmlns:a16="http://schemas.microsoft.com/office/drawing/2014/main" id="{039EB413-1778-4ECF-96E3-6B5FC56F36EC}"/>
              </a:ext>
            </a:extLst>
          </p:cNvPr>
          <p:cNvSpPr>
            <a:spLocks noGrp="1"/>
          </p:cNvSpPr>
          <p:nvPr/>
        </p:nvSpPr>
        <p:spPr>
          <a:xfrm>
            <a:off x="7334250" y="44196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Customer, product and evidence views</a:t>
            </a:r>
          </a:p>
        </p:txBody>
      </p:sp>
      <p:sp>
        <p:nvSpPr>
          <p:cNvPr id="25" name="Rectangle 24">
            <a:extLst>
              <a:ext uri="{FF2B5EF4-FFF2-40B4-BE49-F238E27FC236}">
                <a16:creationId xmlns:a16="http://schemas.microsoft.com/office/drawing/2014/main" id="{887AFE66-5049-4DD2-A1F4-9A6DD3684EFE}"/>
              </a:ext>
            </a:extLst>
          </p:cNvPr>
          <p:cNvSpPr>
            <a:spLocks noGrp="1"/>
          </p:cNvSpPr>
          <p:nvPr/>
        </p:nvSpPr>
        <p:spPr>
          <a:xfrm>
            <a:off x="533400" y="4876800"/>
            <a:ext cx="11125200" cy="571500"/>
          </a:xfrm>
          <a:prstGeom prst="rect">
            <a:avLst/>
          </a:prstGeom>
          <a:solidFill>
            <a:srgbClr val="FFFFFF"/>
          </a:solidFill>
          <a:ln w="9525">
            <a:solidFill>
              <a:srgbClr val="FFFFFF"/>
            </a:solidFill>
            <a:prstDash val="solid"/>
          </a:ln>
        </p:spPr>
        <p:txBody>
          <a:bodyPr/>
          <a:lstStyle/>
          <a:p>
            <a:endParaRPr lang="en-GB"/>
          </a:p>
        </p:txBody>
      </p:sp>
      <p:sp>
        <p:nvSpPr>
          <p:cNvPr id="26" name="Rectangle 25">
            <a:extLst>
              <a:ext uri="{FF2B5EF4-FFF2-40B4-BE49-F238E27FC236}">
                <a16:creationId xmlns:a16="http://schemas.microsoft.com/office/drawing/2014/main" id="{F0AEC526-EC2F-49C4-9424-762A649DEE51}"/>
              </a:ext>
            </a:extLst>
          </p:cNvPr>
          <p:cNvSpPr>
            <a:spLocks noGrp="1"/>
          </p:cNvSpPr>
          <p:nvPr/>
        </p:nvSpPr>
        <p:spPr>
          <a:xfrm>
            <a:off x="704850" y="5029200"/>
            <a:ext cx="212407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87257"/>
                </a:solidFill>
              </a:rPr>
              <a:t>Persistence</a:t>
            </a:r>
          </a:p>
        </p:txBody>
      </p:sp>
      <p:sp>
        <p:nvSpPr>
          <p:cNvPr id="27" name="Rectangle 26">
            <a:extLst>
              <a:ext uri="{FF2B5EF4-FFF2-40B4-BE49-F238E27FC236}">
                <a16:creationId xmlns:a16="http://schemas.microsoft.com/office/drawing/2014/main" id="{A29B9923-F4D1-4095-A5CE-5F6C3D269E3C}"/>
              </a:ext>
            </a:extLst>
          </p:cNvPr>
          <p:cNvSpPr>
            <a:spLocks noGrp="1"/>
          </p:cNvSpPr>
          <p:nvPr/>
        </p:nvSpPr>
        <p:spPr>
          <a:xfrm>
            <a:off x="2914650" y="5029200"/>
            <a:ext cx="4276725"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425" b="1">
                <a:solidFill>
                  <a:srgbClr val="153C32"/>
                </a:solidFill>
              </a:rPr>
              <a:t>PostgreSQL · Parquet · JSON · skops</a:t>
            </a:r>
          </a:p>
        </p:txBody>
      </p:sp>
      <p:sp>
        <p:nvSpPr>
          <p:cNvPr id="28" name="Rectangle 27">
            <a:extLst>
              <a:ext uri="{FF2B5EF4-FFF2-40B4-BE49-F238E27FC236}">
                <a16:creationId xmlns:a16="http://schemas.microsoft.com/office/drawing/2014/main" id="{66F4B926-A7C4-402D-A269-2CA966E1BC72}"/>
              </a:ext>
            </a:extLst>
          </p:cNvPr>
          <p:cNvSpPr>
            <a:spLocks noGrp="1"/>
          </p:cNvSpPr>
          <p:nvPr/>
        </p:nvSpPr>
        <p:spPr>
          <a:xfrm>
            <a:off x="7334250" y="5029200"/>
            <a:ext cx="4152900" cy="333375"/>
          </a:xfrm>
          <a:prstGeom prst="rect">
            <a:avLst/>
          </a:prstGeom>
          <a:solidFill>
            <a:srgbClr val="000000">
              <a:alpha val="0"/>
            </a:srgbClr>
          </a:solidFill>
          <a:ln w="9525">
            <a:solidFill>
              <a:srgbClr val="000000">
                <a:alpha val="0"/>
              </a:srgbClr>
            </a:solidFill>
            <a:prstDash val="solid"/>
          </a:ln>
        </p:spPr>
        <p:txBody>
          <a:bodyPr lIns="0" tIns="0" rIns="0" bIns="0" anchor="t"/>
          <a:lstStyle/>
          <a:p>
            <a:r>
              <a:rPr sz="1350" b="0">
                <a:solidFill>
                  <a:srgbClr val="61766A"/>
                </a:solidFill>
              </a:rPr>
              <a:t>Metadata, immutable results and model bundle</a:t>
            </a:r>
          </a:p>
        </p:txBody>
      </p:sp>
      <p:sp>
        <p:nvSpPr>
          <p:cNvPr id="29" name="Rectangle 28">
            <a:extLst>
              <a:ext uri="{FF2B5EF4-FFF2-40B4-BE49-F238E27FC236}">
                <a16:creationId xmlns:a16="http://schemas.microsoft.com/office/drawing/2014/main" id="{CF361B3A-DD88-4DCD-B735-4EDD8AD72A22}"/>
              </a:ext>
            </a:extLst>
          </p:cNvPr>
          <p:cNvSpPr>
            <a:spLocks noGrp="1"/>
          </p:cNvSpPr>
          <p:nvPr/>
        </p:nvSpPr>
        <p:spPr>
          <a:xfrm>
            <a:off x="533400" y="5762625"/>
            <a:ext cx="11125200" cy="3810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AI development assistance: Codex / Claude for specifications and coding. No runtime LLM dependency.</a:t>
            </a:r>
          </a:p>
        </p:txBody>
      </p:sp>
    </p:spTree>
    <p:extLst>
      <p:ext uri="{BB962C8B-B14F-4D97-AF65-F5344CB8AC3E}">
        <p14:creationId xmlns:p14="http://schemas.microsoft.com/office/powerpoint/2010/main" val="760853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32"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7E37266-D432-4C9A-8085-04E6407C3625}"/>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A5DA1FFF-2E41-4818-97BF-4E88501205FF}"/>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IMPLEMENTATION PLAN</a:t>
            </a:r>
          </a:p>
        </p:txBody>
      </p:sp>
      <p:sp>
        <p:nvSpPr>
          <p:cNvPr id="4" name="Rectangle 3">
            <a:extLst>
              <a:ext uri="{FF2B5EF4-FFF2-40B4-BE49-F238E27FC236}">
                <a16:creationId xmlns:a16="http://schemas.microsoft.com/office/drawing/2014/main" id="{A0D08834-57FA-436A-A2A4-E7ABA7AD0435}"/>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Deliver the end-to-end path before polishing.</a:t>
            </a:r>
          </a:p>
        </p:txBody>
      </p:sp>
      <p:sp>
        <p:nvSpPr>
          <p:cNvPr id="5" name="Rectangle 4">
            <a:extLst>
              <a:ext uri="{FF2B5EF4-FFF2-40B4-BE49-F238E27FC236}">
                <a16:creationId xmlns:a16="http://schemas.microsoft.com/office/drawing/2014/main" id="{0C77EC67-AC00-485F-A284-D8F9C96B446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Proposed schedule for a three-person team • owners to be assigned at the design review</a:t>
            </a:r>
          </a:p>
        </p:txBody>
      </p:sp>
      <p:sp>
        <p:nvSpPr>
          <p:cNvPr id="6" name="Rectangle 5">
            <a:extLst>
              <a:ext uri="{FF2B5EF4-FFF2-40B4-BE49-F238E27FC236}">
                <a16:creationId xmlns:a16="http://schemas.microsoft.com/office/drawing/2014/main" id="{BFFD4E26-A1FD-44D9-816D-8DB864A7431A}"/>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C0C49373-07F9-42E8-8A43-57245BCB67C1}"/>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F6AE607A-3401-485E-88BC-D98BCB3E27ED}"/>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11</a:t>
            </a:r>
          </a:p>
        </p:txBody>
      </p:sp>
      <p:sp>
        <p:nvSpPr>
          <p:cNvPr id="9" name="Rectangle: Rounded Corners 8">
            <a:extLst>
              <a:ext uri="{FF2B5EF4-FFF2-40B4-BE49-F238E27FC236}">
                <a16:creationId xmlns:a16="http://schemas.microsoft.com/office/drawing/2014/main" id="{43B2F6F2-FD83-4B9B-8291-5B76D0D79FBB}"/>
              </a:ext>
            </a:extLst>
          </p:cNvPr>
          <p:cNvSpPr>
            <a:spLocks noGrp="1"/>
          </p:cNvSpPr>
          <p:nvPr/>
        </p:nvSpPr>
        <p:spPr>
          <a:xfrm>
            <a:off x="533400"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90037223-132F-4F85-B493-7C0E645190BD}"/>
              </a:ext>
            </a:extLst>
          </p:cNvPr>
          <p:cNvSpPr>
            <a:spLocks noGrp="1"/>
          </p:cNvSpPr>
          <p:nvPr/>
        </p:nvSpPr>
        <p:spPr>
          <a:xfrm>
            <a:off x="68580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28 SEP–2 OCT</a:t>
            </a:r>
          </a:p>
        </p:txBody>
      </p:sp>
      <p:sp>
        <p:nvSpPr>
          <p:cNvPr id="11" name="Rectangle 10">
            <a:extLst>
              <a:ext uri="{FF2B5EF4-FFF2-40B4-BE49-F238E27FC236}">
                <a16:creationId xmlns:a16="http://schemas.microsoft.com/office/drawing/2014/main" id="{24E773AF-063B-4918-B532-5609CF7A2ECE}"/>
              </a:ext>
            </a:extLst>
          </p:cNvPr>
          <p:cNvSpPr>
            <a:spLocks noGrp="1"/>
          </p:cNvSpPr>
          <p:nvPr/>
        </p:nvSpPr>
        <p:spPr>
          <a:xfrm>
            <a:off x="68580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Bootstrap</a:t>
            </a:r>
          </a:p>
        </p:txBody>
      </p:sp>
      <p:sp>
        <p:nvSpPr>
          <p:cNvPr id="12" name="Rectangle 11">
            <a:extLst>
              <a:ext uri="{FF2B5EF4-FFF2-40B4-BE49-F238E27FC236}">
                <a16:creationId xmlns:a16="http://schemas.microsoft.com/office/drawing/2014/main" id="{CC6BAABF-6FB5-4AD3-AB9D-66E3B87B19E3}"/>
              </a:ext>
            </a:extLst>
          </p:cNvPr>
          <p:cNvSpPr>
            <a:spLocks noGrp="1"/>
          </p:cNvSpPr>
          <p:nvPr/>
        </p:nvSpPr>
        <p:spPr>
          <a:xfrm>
            <a:off x="68580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Environment, contracts, small world</a:t>
            </a:r>
          </a:p>
        </p:txBody>
      </p:sp>
      <p:sp>
        <p:nvSpPr>
          <p:cNvPr id="13" name="Rectangle: Rounded Corners 12">
            <a:extLst>
              <a:ext uri="{FF2B5EF4-FFF2-40B4-BE49-F238E27FC236}">
                <a16:creationId xmlns:a16="http://schemas.microsoft.com/office/drawing/2014/main" id="{CDD5E3C5-4D30-4BCE-B74B-768894457E91}"/>
              </a:ext>
            </a:extLst>
          </p:cNvPr>
          <p:cNvSpPr>
            <a:spLocks noGrp="1"/>
          </p:cNvSpPr>
          <p:nvPr/>
        </p:nvSpPr>
        <p:spPr>
          <a:xfrm>
            <a:off x="2790825"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F48CB4AA-E2B6-41AB-BF8A-583976F09C0F}"/>
              </a:ext>
            </a:extLst>
          </p:cNvPr>
          <p:cNvSpPr>
            <a:spLocks noGrp="1"/>
          </p:cNvSpPr>
          <p:nvPr/>
        </p:nvSpPr>
        <p:spPr>
          <a:xfrm>
            <a:off x="2943225"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5–9 OCT</a:t>
            </a:r>
          </a:p>
        </p:txBody>
      </p:sp>
      <p:sp>
        <p:nvSpPr>
          <p:cNvPr id="15" name="Rectangle 14">
            <a:extLst>
              <a:ext uri="{FF2B5EF4-FFF2-40B4-BE49-F238E27FC236}">
                <a16:creationId xmlns:a16="http://schemas.microsoft.com/office/drawing/2014/main" id="{FFA32A00-0386-4F58-9D5D-A080DFE59F7B}"/>
              </a:ext>
            </a:extLst>
          </p:cNvPr>
          <p:cNvSpPr>
            <a:spLocks noGrp="1"/>
          </p:cNvSpPr>
          <p:nvPr/>
        </p:nvSpPr>
        <p:spPr>
          <a:xfrm>
            <a:off x="2943225"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Data readiness</a:t>
            </a:r>
          </a:p>
        </p:txBody>
      </p:sp>
      <p:sp>
        <p:nvSpPr>
          <p:cNvPr id="16" name="Rectangle 15">
            <a:extLst>
              <a:ext uri="{FF2B5EF4-FFF2-40B4-BE49-F238E27FC236}">
                <a16:creationId xmlns:a16="http://schemas.microsoft.com/office/drawing/2014/main" id="{F4691852-5566-4BAF-A5A8-28358AA883CE}"/>
              </a:ext>
            </a:extLst>
          </p:cNvPr>
          <p:cNvSpPr>
            <a:spLocks noGrp="1"/>
          </p:cNvSpPr>
          <p:nvPr/>
        </p:nvSpPr>
        <p:spPr>
          <a:xfrm>
            <a:off x="2943225"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Generator, validation and features</a:t>
            </a:r>
          </a:p>
        </p:txBody>
      </p:sp>
      <p:sp>
        <p:nvSpPr>
          <p:cNvPr id="17" name="Rectangle: Rounded Corners 16">
            <a:extLst>
              <a:ext uri="{FF2B5EF4-FFF2-40B4-BE49-F238E27FC236}">
                <a16:creationId xmlns:a16="http://schemas.microsoft.com/office/drawing/2014/main" id="{ACC90E80-7291-4D7E-A41F-CB7BAE1B1DF9}"/>
              </a:ext>
            </a:extLst>
          </p:cNvPr>
          <p:cNvSpPr>
            <a:spLocks noGrp="1"/>
          </p:cNvSpPr>
          <p:nvPr/>
        </p:nvSpPr>
        <p:spPr>
          <a:xfrm>
            <a:off x="5048250" y="2562225"/>
            <a:ext cx="2095500" cy="2381250"/>
          </a:xfrm>
          <a:prstGeom prst="roundRect">
            <a:avLst>
              <a:gd name="adj" fmla="val 3636"/>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75FBB262-823D-4823-9755-9642E9D2D1DB}"/>
              </a:ext>
            </a:extLst>
          </p:cNvPr>
          <p:cNvSpPr>
            <a:spLocks noGrp="1"/>
          </p:cNvSpPr>
          <p:nvPr/>
        </p:nvSpPr>
        <p:spPr>
          <a:xfrm>
            <a:off x="520065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12–16 OCT</a:t>
            </a:r>
          </a:p>
        </p:txBody>
      </p:sp>
      <p:sp>
        <p:nvSpPr>
          <p:cNvPr id="19" name="Rectangle 18">
            <a:extLst>
              <a:ext uri="{FF2B5EF4-FFF2-40B4-BE49-F238E27FC236}">
                <a16:creationId xmlns:a16="http://schemas.microsoft.com/office/drawing/2014/main" id="{0F7BE9D8-C9F9-455E-9320-B73A5996FA55}"/>
              </a:ext>
            </a:extLst>
          </p:cNvPr>
          <p:cNvSpPr>
            <a:spLocks noGrp="1"/>
          </p:cNvSpPr>
          <p:nvPr/>
        </p:nvSpPr>
        <p:spPr>
          <a:xfrm>
            <a:off x="520065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Vertical slice</a:t>
            </a:r>
          </a:p>
        </p:txBody>
      </p:sp>
      <p:sp>
        <p:nvSpPr>
          <p:cNvPr id="20" name="Rectangle 19">
            <a:extLst>
              <a:ext uri="{FF2B5EF4-FFF2-40B4-BE49-F238E27FC236}">
                <a16:creationId xmlns:a16="http://schemas.microsoft.com/office/drawing/2014/main" id="{82F0319F-3280-42EE-A61E-F095A1DE5269}"/>
              </a:ext>
            </a:extLst>
          </p:cNvPr>
          <p:cNvSpPr>
            <a:spLocks noGrp="1"/>
          </p:cNvSpPr>
          <p:nvPr/>
        </p:nvSpPr>
        <p:spPr>
          <a:xfrm>
            <a:off x="520065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Baseline → API → analyst UI</a:t>
            </a:r>
          </a:p>
        </p:txBody>
      </p:sp>
      <p:sp>
        <p:nvSpPr>
          <p:cNvPr id="21" name="Rectangle: Rounded Corners 20">
            <a:extLst>
              <a:ext uri="{FF2B5EF4-FFF2-40B4-BE49-F238E27FC236}">
                <a16:creationId xmlns:a16="http://schemas.microsoft.com/office/drawing/2014/main" id="{7CBA06FB-E3B4-40AB-B5D4-FECC29F9E5EA}"/>
              </a:ext>
            </a:extLst>
          </p:cNvPr>
          <p:cNvSpPr>
            <a:spLocks noGrp="1"/>
          </p:cNvSpPr>
          <p:nvPr/>
        </p:nvSpPr>
        <p:spPr>
          <a:xfrm>
            <a:off x="7305675"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27C8144E-0480-42B4-85B2-DD958AB48971}"/>
              </a:ext>
            </a:extLst>
          </p:cNvPr>
          <p:cNvSpPr>
            <a:spLocks noGrp="1"/>
          </p:cNvSpPr>
          <p:nvPr/>
        </p:nvSpPr>
        <p:spPr>
          <a:xfrm>
            <a:off x="7458075"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19–23 OCT</a:t>
            </a:r>
          </a:p>
        </p:txBody>
      </p:sp>
      <p:sp>
        <p:nvSpPr>
          <p:cNvPr id="23" name="Rectangle 22">
            <a:extLst>
              <a:ext uri="{FF2B5EF4-FFF2-40B4-BE49-F238E27FC236}">
                <a16:creationId xmlns:a16="http://schemas.microsoft.com/office/drawing/2014/main" id="{7A7D7F7C-2832-4F21-B755-3DA02622C3CA}"/>
              </a:ext>
            </a:extLst>
          </p:cNvPr>
          <p:cNvSpPr>
            <a:spLocks noGrp="1"/>
          </p:cNvSpPr>
          <p:nvPr/>
        </p:nvSpPr>
        <p:spPr>
          <a:xfrm>
            <a:off x="7458075"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Model gate</a:t>
            </a:r>
          </a:p>
        </p:txBody>
      </p:sp>
      <p:sp>
        <p:nvSpPr>
          <p:cNvPr id="24" name="Rectangle 23">
            <a:extLst>
              <a:ext uri="{FF2B5EF4-FFF2-40B4-BE49-F238E27FC236}">
                <a16:creationId xmlns:a16="http://schemas.microsoft.com/office/drawing/2014/main" id="{02D4F8F1-D93A-40AD-BC6A-D493BFE2342D}"/>
              </a:ext>
            </a:extLst>
          </p:cNvPr>
          <p:cNvSpPr>
            <a:spLocks noGrp="1"/>
          </p:cNvSpPr>
          <p:nvPr/>
        </p:nvSpPr>
        <p:spPr>
          <a:xfrm>
            <a:off x="7458075"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Full experiment and held-out test</a:t>
            </a:r>
          </a:p>
        </p:txBody>
      </p:sp>
      <p:sp>
        <p:nvSpPr>
          <p:cNvPr id="25" name="Rectangle: Rounded Corners 24">
            <a:extLst>
              <a:ext uri="{FF2B5EF4-FFF2-40B4-BE49-F238E27FC236}">
                <a16:creationId xmlns:a16="http://schemas.microsoft.com/office/drawing/2014/main" id="{FC7606CF-74F6-42F0-A9E0-FBC61AAD272C}"/>
              </a:ext>
            </a:extLst>
          </p:cNvPr>
          <p:cNvSpPr>
            <a:spLocks noGrp="1"/>
          </p:cNvSpPr>
          <p:nvPr/>
        </p:nvSpPr>
        <p:spPr>
          <a:xfrm>
            <a:off x="9563100" y="2562225"/>
            <a:ext cx="2095500" cy="2381250"/>
          </a:xfrm>
          <a:prstGeom prst="roundRect">
            <a:avLst>
              <a:gd name="adj" fmla="val 3636"/>
            </a:avLst>
          </a:prstGeom>
          <a:solidFill>
            <a:srgbClr val="FFFFFF"/>
          </a:solidFill>
          <a:ln w="9525">
            <a:solidFill>
              <a:srgbClr val="D3DED1"/>
            </a:solidFill>
            <a:prstDash val="solid"/>
          </a:ln>
        </p:spPr>
        <p:txBody>
          <a:bodyPr/>
          <a:lstStyle/>
          <a:p>
            <a:endParaRPr lang="en-GB"/>
          </a:p>
        </p:txBody>
      </p:sp>
      <p:sp>
        <p:nvSpPr>
          <p:cNvPr id="26" name="Rectangle 25">
            <a:extLst>
              <a:ext uri="{FF2B5EF4-FFF2-40B4-BE49-F238E27FC236}">
                <a16:creationId xmlns:a16="http://schemas.microsoft.com/office/drawing/2014/main" id="{3835CDBD-CD20-4E6B-95D1-93A7582B61A6}"/>
              </a:ext>
            </a:extLst>
          </p:cNvPr>
          <p:cNvSpPr>
            <a:spLocks noGrp="1"/>
          </p:cNvSpPr>
          <p:nvPr/>
        </p:nvSpPr>
        <p:spPr>
          <a:xfrm>
            <a:off x="9715500" y="2733675"/>
            <a:ext cx="1790700" cy="3524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26–30 OCT</a:t>
            </a:r>
          </a:p>
        </p:txBody>
      </p:sp>
      <p:sp>
        <p:nvSpPr>
          <p:cNvPr id="27" name="Rectangle 26">
            <a:extLst>
              <a:ext uri="{FF2B5EF4-FFF2-40B4-BE49-F238E27FC236}">
                <a16:creationId xmlns:a16="http://schemas.microsoft.com/office/drawing/2014/main" id="{72E98402-D147-4436-B961-11E4EBAD6A0D}"/>
              </a:ext>
            </a:extLst>
          </p:cNvPr>
          <p:cNvSpPr>
            <a:spLocks noGrp="1"/>
          </p:cNvSpPr>
          <p:nvPr/>
        </p:nvSpPr>
        <p:spPr>
          <a:xfrm>
            <a:off x="9715500" y="3209925"/>
            <a:ext cx="1790700" cy="609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800" b="1">
                <a:solidFill>
                  <a:srgbClr val="153C32"/>
                </a:solidFill>
              </a:rPr>
              <a:t>Freeze + rehearse</a:t>
            </a:r>
          </a:p>
        </p:txBody>
      </p:sp>
      <p:sp>
        <p:nvSpPr>
          <p:cNvPr id="28" name="Rectangle 27">
            <a:extLst>
              <a:ext uri="{FF2B5EF4-FFF2-40B4-BE49-F238E27FC236}">
                <a16:creationId xmlns:a16="http://schemas.microsoft.com/office/drawing/2014/main" id="{167D0190-4C22-4DD1-A35B-0FD3F2278463}"/>
              </a:ext>
            </a:extLst>
          </p:cNvPr>
          <p:cNvSpPr>
            <a:spLocks noGrp="1"/>
          </p:cNvSpPr>
          <p:nvPr/>
        </p:nvSpPr>
        <p:spPr>
          <a:xfrm>
            <a:off x="9715500" y="3962400"/>
            <a:ext cx="1790700" cy="8382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Acceptance checks and demo recovery</a:t>
            </a:r>
          </a:p>
        </p:txBody>
      </p:sp>
      <p:sp>
        <p:nvSpPr>
          <p:cNvPr id="29" name="Rectangle: Rounded Corners 28">
            <a:extLst>
              <a:ext uri="{FF2B5EF4-FFF2-40B4-BE49-F238E27FC236}">
                <a16:creationId xmlns:a16="http://schemas.microsoft.com/office/drawing/2014/main" id="{A76F8249-E1BD-400F-8351-5C6F79CCC287}"/>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30" name="Rectangle 29">
            <a:extLst>
              <a:ext uri="{FF2B5EF4-FFF2-40B4-BE49-F238E27FC236}">
                <a16:creationId xmlns:a16="http://schemas.microsoft.com/office/drawing/2014/main" id="{935CBC89-20E3-466A-A6E6-52E5E19B0A36}"/>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Delivery checkpoints</a:t>
            </a:r>
          </a:p>
        </p:txBody>
      </p:sp>
      <p:sp>
        <p:nvSpPr>
          <p:cNvPr id="31" name="Rectangle 30">
            <a:extLst>
              <a:ext uri="{FF2B5EF4-FFF2-40B4-BE49-F238E27FC236}">
                <a16:creationId xmlns:a16="http://schemas.microsoft.com/office/drawing/2014/main" id="{4331F4E0-0B08-4D09-B910-DDCC503D29F7}"/>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9 Oct: data readiness  •  1–14 Nov: target demo window</a:t>
            </a:r>
          </a:p>
          <a:p>
            <a:r>
              <a:rPr sz="1575" b="0">
                <a:solidFill>
                  <a:srgbClr val="153C32"/>
                </a:solidFill>
              </a:rPr>
              <a:t>Protect the final week for testing and rehearsal.</a:t>
            </a:r>
          </a:p>
        </p:txBody>
      </p:sp>
    </p:spTree>
    <p:extLst>
      <p:ext uri="{BB962C8B-B14F-4D97-AF65-F5344CB8AC3E}">
        <p14:creationId xmlns:p14="http://schemas.microsoft.com/office/powerpoint/2010/main" val="1646709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EA4DA215-2CEB-4F64-B730-9F192DD82E04}"/>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B7D65969-4D8A-4D57-928F-340C6B56C23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FEASIBILITY &amp; RISKS</a:t>
            </a:r>
          </a:p>
        </p:txBody>
      </p:sp>
      <p:sp>
        <p:nvSpPr>
          <p:cNvPr id="4" name="Rectangle 3">
            <a:extLst>
              <a:ext uri="{FF2B5EF4-FFF2-40B4-BE49-F238E27FC236}">
                <a16:creationId xmlns:a16="http://schemas.microsoft.com/office/drawing/2014/main" id="{9575C93C-E15B-490D-B522-39B5985DB850}"/>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Make uncertainty visible and contain its impact.</a:t>
            </a:r>
          </a:p>
        </p:txBody>
      </p:sp>
      <p:sp>
        <p:nvSpPr>
          <p:cNvPr id="5" name="Rectangle 4">
            <a:extLst>
              <a:ext uri="{FF2B5EF4-FFF2-40B4-BE49-F238E27FC236}">
                <a16:creationId xmlns:a16="http://schemas.microsoft.com/office/drawing/2014/main" id="{661BBCDD-6CF5-47AA-973F-D972BBF23F3E}"/>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The design includes a working demonstration path even when ML results are disappointing.</a:t>
            </a:r>
          </a:p>
        </p:txBody>
      </p:sp>
      <p:sp>
        <p:nvSpPr>
          <p:cNvPr id="6" name="Rectangle 5">
            <a:extLst>
              <a:ext uri="{FF2B5EF4-FFF2-40B4-BE49-F238E27FC236}">
                <a16:creationId xmlns:a16="http://schemas.microsoft.com/office/drawing/2014/main" id="{07109508-5CA9-4907-BBF5-41CBBAB15E09}"/>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5209C6C6-065A-453D-81B3-370E6ACAAA18}"/>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1884EC64-E18F-4D3F-A9C4-D1F836B9167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12</a:t>
            </a:r>
          </a:p>
        </p:txBody>
      </p:sp>
      <p:sp>
        <p:nvSpPr>
          <p:cNvPr id="9" name="Rectangle: Rounded Corners 8">
            <a:extLst>
              <a:ext uri="{FF2B5EF4-FFF2-40B4-BE49-F238E27FC236}">
                <a16:creationId xmlns:a16="http://schemas.microsoft.com/office/drawing/2014/main" id="{8CF2246D-F9F5-4B17-BABD-296AD89EFA83}"/>
              </a:ext>
            </a:extLst>
          </p:cNvPr>
          <p:cNvSpPr>
            <a:spLocks noGrp="1"/>
          </p:cNvSpPr>
          <p:nvPr/>
        </p:nvSpPr>
        <p:spPr>
          <a:xfrm>
            <a:off x="533400" y="253365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778E9DEC-618A-418F-AD15-70BED6744E61}"/>
              </a:ext>
            </a:extLst>
          </p:cNvPr>
          <p:cNvSpPr>
            <a:spLocks noGrp="1"/>
          </p:cNvSpPr>
          <p:nvPr/>
        </p:nvSpPr>
        <p:spPr>
          <a:xfrm>
            <a:off x="733425" y="269557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Synthetic shortcuts</a:t>
            </a:r>
          </a:p>
        </p:txBody>
      </p:sp>
      <p:sp>
        <p:nvSpPr>
          <p:cNvPr id="11" name="Rectangle 10">
            <a:extLst>
              <a:ext uri="{FF2B5EF4-FFF2-40B4-BE49-F238E27FC236}">
                <a16:creationId xmlns:a16="http://schemas.microsoft.com/office/drawing/2014/main" id="{1EDEB4F8-AFA3-47ED-8D84-7A1C07FD908B}"/>
              </a:ext>
            </a:extLst>
          </p:cNvPr>
          <p:cNvSpPr>
            <a:spLocks noGrp="1"/>
          </p:cNvSpPr>
          <p:nvPr/>
        </p:nvSpPr>
        <p:spPr>
          <a:xfrm>
            <a:off x="733425" y="307657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 model learns generator artifacts.</a:t>
            </a:r>
          </a:p>
        </p:txBody>
      </p:sp>
      <p:sp>
        <p:nvSpPr>
          <p:cNvPr id="12" name="Rectangle 11">
            <a:extLst>
              <a:ext uri="{FF2B5EF4-FFF2-40B4-BE49-F238E27FC236}">
                <a16:creationId xmlns:a16="http://schemas.microsoft.com/office/drawing/2014/main" id="{343383BA-E54A-4952-82D6-55871C2AB320}"/>
              </a:ext>
            </a:extLst>
          </p:cNvPr>
          <p:cNvSpPr>
            <a:spLocks noGrp="1"/>
          </p:cNvSpPr>
          <p:nvPr/>
        </p:nvSpPr>
        <p:spPr>
          <a:xfrm>
            <a:off x="4143375" y="269557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13" name="Rectangle 12">
            <a:extLst>
              <a:ext uri="{FF2B5EF4-FFF2-40B4-BE49-F238E27FC236}">
                <a16:creationId xmlns:a16="http://schemas.microsoft.com/office/drawing/2014/main" id="{A8164952-D32E-4E40-9333-7C4E384471DB}"/>
              </a:ext>
            </a:extLst>
          </p:cNvPr>
          <p:cNvSpPr>
            <a:spLocks noGrp="1"/>
          </p:cNvSpPr>
          <p:nvPr/>
        </p:nvSpPr>
        <p:spPr>
          <a:xfrm>
            <a:off x="5457825" y="269557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Isolated truth, independent worlds, stress cases and explicit limits on real-world claims.</a:t>
            </a:r>
          </a:p>
        </p:txBody>
      </p:sp>
      <p:sp>
        <p:nvSpPr>
          <p:cNvPr id="14" name="Rectangle: Rounded Corners 13">
            <a:extLst>
              <a:ext uri="{FF2B5EF4-FFF2-40B4-BE49-F238E27FC236}">
                <a16:creationId xmlns:a16="http://schemas.microsoft.com/office/drawing/2014/main" id="{1CCBC449-2243-4F17-8F54-CCDE56B53586}"/>
              </a:ext>
            </a:extLst>
          </p:cNvPr>
          <p:cNvSpPr>
            <a:spLocks noGrp="1"/>
          </p:cNvSpPr>
          <p:nvPr/>
        </p:nvSpPr>
        <p:spPr>
          <a:xfrm>
            <a:off x="533400" y="373380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15" name="Rectangle 14">
            <a:extLst>
              <a:ext uri="{FF2B5EF4-FFF2-40B4-BE49-F238E27FC236}">
                <a16:creationId xmlns:a16="http://schemas.microsoft.com/office/drawing/2014/main" id="{A126014F-8113-43E9-8497-DDCCC588F178}"/>
              </a:ext>
            </a:extLst>
          </p:cNvPr>
          <p:cNvSpPr>
            <a:spLocks noGrp="1"/>
          </p:cNvSpPr>
          <p:nvPr/>
        </p:nvSpPr>
        <p:spPr>
          <a:xfrm>
            <a:off x="733425" y="389572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No candidate qualifies</a:t>
            </a:r>
          </a:p>
        </p:txBody>
      </p:sp>
      <p:sp>
        <p:nvSpPr>
          <p:cNvPr id="16" name="Rectangle 15">
            <a:extLst>
              <a:ext uri="{FF2B5EF4-FFF2-40B4-BE49-F238E27FC236}">
                <a16:creationId xmlns:a16="http://schemas.microsoft.com/office/drawing/2014/main" id="{EF56C949-DD10-404F-B350-DE6DDD36F800}"/>
              </a:ext>
            </a:extLst>
          </p:cNvPr>
          <p:cNvSpPr>
            <a:spLocks noGrp="1"/>
          </p:cNvSpPr>
          <p:nvPr/>
        </p:nvSpPr>
        <p:spPr>
          <a:xfrm>
            <a:off x="733425" y="427672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 complex model does not beat the baseline.</a:t>
            </a:r>
          </a:p>
        </p:txBody>
      </p:sp>
      <p:sp>
        <p:nvSpPr>
          <p:cNvPr id="17" name="Rectangle 16">
            <a:extLst>
              <a:ext uri="{FF2B5EF4-FFF2-40B4-BE49-F238E27FC236}">
                <a16:creationId xmlns:a16="http://schemas.microsoft.com/office/drawing/2014/main" id="{14BEB0FF-7BBC-4DEE-8191-2042B7BFC5DD}"/>
              </a:ext>
            </a:extLst>
          </p:cNvPr>
          <p:cNvSpPr>
            <a:spLocks noGrp="1"/>
          </p:cNvSpPr>
          <p:nvPr/>
        </p:nvSpPr>
        <p:spPr>
          <a:xfrm>
            <a:off x="4143375" y="389572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18" name="Rectangle 17">
            <a:extLst>
              <a:ext uri="{FF2B5EF4-FFF2-40B4-BE49-F238E27FC236}">
                <a16:creationId xmlns:a16="http://schemas.microsoft.com/office/drawing/2014/main" id="{2208559B-3A0B-49FF-809C-AABD15DB9178}"/>
              </a:ext>
            </a:extLst>
          </p:cNvPr>
          <p:cNvSpPr>
            <a:spLocks noGrp="1"/>
          </p:cNvSpPr>
          <p:nvPr/>
        </p:nvSpPr>
        <p:spPr>
          <a:xfrm>
            <a:off x="5457825" y="389572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Serve the baseline with the same evidence views; disclose the failed gate.</a:t>
            </a:r>
          </a:p>
        </p:txBody>
      </p:sp>
      <p:sp>
        <p:nvSpPr>
          <p:cNvPr id="19" name="Rectangle: Rounded Corners 18">
            <a:extLst>
              <a:ext uri="{FF2B5EF4-FFF2-40B4-BE49-F238E27FC236}">
                <a16:creationId xmlns:a16="http://schemas.microsoft.com/office/drawing/2014/main" id="{7C0348FE-C8AF-4D79-83AB-D9BDB2FA831C}"/>
              </a:ext>
            </a:extLst>
          </p:cNvPr>
          <p:cNvSpPr>
            <a:spLocks noGrp="1"/>
          </p:cNvSpPr>
          <p:nvPr/>
        </p:nvSpPr>
        <p:spPr>
          <a:xfrm>
            <a:off x="533400" y="4933950"/>
            <a:ext cx="11125200" cy="1057275"/>
          </a:xfrm>
          <a:prstGeom prst="roundRect">
            <a:avLst>
              <a:gd name="adj" fmla="val 7207"/>
            </a:avLst>
          </a:prstGeom>
          <a:solidFill>
            <a:srgbClr val="FFFFFF"/>
          </a:solidFill>
          <a:ln w="9525">
            <a:solidFill>
              <a:srgbClr val="D3DED1"/>
            </a:solidFill>
            <a:prstDash val="solid"/>
          </a:ln>
        </p:spPr>
        <p:txBody>
          <a:bodyPr/>
          <a:lstStyle/>
          <a:p>
            <a:endParaRPr lang="en-GB"/>
          </a:p>
        </p:txBody>
      </p:sp>
      <p:sp>
        <p:nvSpPr>
          <p:cNvPr id="20" name="Rectangle 19">
            <a:extLst>
              <a:ext uri="{FF2B5EF4-FFF2-40B4-BE49-F238E27FC236}">
                <a16:creationId xmlns:a16="http://schemas.microsoft.com/office/drawing/2014/main" id="{4112256E-681E-451D-837D-BD709E2CE09C}"/>
              </a:ext>
            </a:extLst>
          </p:cNvPr>
          <p:cNvSpPr>
            <a:spLocks noGrp="1"/>
          </p:cNvSpPr>
          <p:nvPr/>
        </p:nvSpPr>
        <p:spPr>
          <a:xfrm>
            <a:off x="733425" y="5095875"/>
            <a:ext cx="2543175" cy="3619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650" b="1">
                <a:solidFill>
                  <a:srgbClr val="153C32"/>
                </a:solidFill>
              </a:rPr>
              <a:t>Delivery or runtime failure</a:t>
            </a:r>
          </a:p>
        </p:txBody>
      </p:sp>
      <p:sp>
        <p:nvSpPr>
          <p:cNvPr id="21" name="Rectangle 20">
            <a:extLst>
              <a:ext uri="{FF2B5EF4-FFF2-40B4-BE49-F238E27FC236}">
                <a16:creationId xmlns:a16="http://schemas.microsoft.com/office/drawing/2014/main" id="{47EA0FD0-6A21-4975-9841-CF293CC04AC7}"/>
              </a:ext>
            </a:extLst>
          </p:cNvPr>
          <p:cNvSpPr>
            <a:spLocks noGrp="1"/>
          </p:cNvSpPr>
          <p:nvPr/>
        </p:nvSpPr>
        <p:spPr>
          <a:xfrm>
            <a:off x="733425" y="5476875"/>
            <a:ext cx="3171825"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Integration and long runs threaten the demo.</a:t>
            </a:r>
          </a:p>
        </p:txBody>
      </p:sp>
      <p:sp>
        <p:nvSpPr>
          <p:cNvPr id="22" name="Rectangle 21">
            <a:extLst>
              <a:ext uri="{FF2B5EF4-FFF2-40B4-BE49-F238E27FC236}">
                <a16:creationId xmlns:a16="http://schemas.microsoft.com/office/drawing/2014/main" id="{373C3DFF-6C43-4DD0-A113-ABF1B7A95A31}"/>
              </a:ext>
            </a:extLst>
          </p:cNvPr>
          <p:cNvSpPr>
            <a:spLocks noGrp="1"/>
          </p:cNvSpPr>
          <p:nvPr/>
        </p:nvSpPr>
        <p:spPr>
          <a:xfrm>
            <a:off x="4143375" y="5095875"/>
            <a:ext cx="1190625" cy="2286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75" b="1">
                <a:solidFill>
                  <a:srgbClr val="187257"/>
                </a:solidFill>
              </a:rPr>
              <a:t>RESPONSE</a:t>
            </a:r>
          </a:p>
        </p:txBody>
      </p:sp>
      <p:sp>
        <p:nvSpPr>
          <p:cNvPr id="23" name="Rectangle 22">
            <a:extLst>
              <a:ext uri="{FF2B5EF4-FFF2-40B4-BE49-F238E27FC236}">
                <a16:creationId xmlns:a16="http://schemas.microsoft.com/office/drawing/2014/main" id="{C288FB2A-BEF0-42A4-9209-43673A96123E}"/>
              </a:ext>
            </a:extLst>
          </p:cNvPr>
          <p:cNvSpPr>
            <a:spLocks noGrp="1"/>
          </p:cNvSpPr>
          <p:nvPr/>
        </p:nvSpPr>
        <p:spPr>
          <a:xfrm>
            <a:off x="5457825" y="5095875"/>
            <a:ext cx="5962650" cy="7810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Baseline vertical slice, one worker, immutable artifacts and a reserved rehearsal week.</a:t>
            </a:r>
          </a:p>
        </p:txBody>
      </p:sp>
    </p:spTree>
    <p:extLst>
      <p:ext uri="{BB962C8B-B14F-4D97-AF65-F5344CB8AC3E}">
        <p14:creationId xmlns:p14="http://schemas.microsoft.com/office/powerpoint/2010/main" val="726852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153C32"/>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2D6CF1DC-3A0C-4AA5-A84F-8A9F6CCDB036}"/>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DDEBDD"/>
                </a:solidFill>
              </a:rPr>
              <a:t>ARAI  /  XHACK 2026</a:t>
            </a:r>
          </a:p>
        </p:txBody>
      </p:sp>
      <p:sp>
        <p:nvSpPr>
          <p:cNvPr id="3" name="Rectangle 2">
            <a:extLst>
              <a:ext uri="{FF2B5EF4-FFF2-40B4-BE49-F238E27FC236}">
                <a16:creationId xmlns:a16="http://schemas.microsoft.com/office/drawing/2014/main" id="{6AAD4FEB-3ECC-4FBA-BD0A-19D62DAE46E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DDEBDD"/>
                </a:solidFill>
              </a:rPr>
              <a:t>DESIGN REVIEW OUTCOME</a:t>
            </a:r>
          </a:p>
        </p:txBody>
      </p:sp>
      <p:sp>
        <p:nvSpPr>
          <p:cNvPr id="4" name="Rectangle 3">
            <a:extLst>
              <a:ext uri="{FF2B5EF4-FFF2-40B4-BE49-F238E27FC236}">
                <a16:creationId xmlns:a16="http://schemas.microsoft.com/office/drawing/2014/main" id="{792FF770-D03A-41B8-B6D4-2E53C16D1403}"/>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FFFFFF"/>
                </a:solidFill>
              </a:rPr>
              <a:t>A clear baseline. A bounded build.</a:t>
            </a:r>
          </a:p>
        </p:txBody>
      </p:sp>
      <p:sp>
        <p:nvSpPr>
          <p:cNvPr id="5" name="Rectangle 4">
            <a:extLst>
              <a:ext uri="{FF2B5EF4-FFF2-40B4-BE49-F238E27FC236}">
                <a16:creationId xmlns:a16="http://schemas.microsoft.com/office/drawing/2014/main" id="{8C2899C9-4DE2-4437-8BC4-CCE8E36D21D7}"/>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DDEBDD"/>
                </a:solidFill>
              </a:rPr>
              <a:t>Ready to move from specification into implementation.</a:t>
            </a:r>
          </a:p>
        </p:txBody>
      </p:sp>
      <p:sp>
        <p:nvSpPr>
          <p:cNvPr id="6" name="Rectangle 5">
            <a:extLst>
              <a:ext uri="{FF2B5EF4-FFF2-40B4-BE49-F238E27FC236}">
                <a16:creationId xmlns:a16="http://schemas.microsoft.com/office/drawing/2014/main" id="{1B170756-0A08-48D7-980D-3743E910A540}"/>
              </a:ext>
            </a:extLst>
          </p:cNvPr>
          <p:cNvSpPr>
            <a:spLocks noGrp="1"/>
          </p:cNvSpPr>
          <p:nvPr/>
        </p:nvSpPr>
        <p:spPr>
          <a:xfrm>
            <a:off x="533400" y="6334125"/>
            <a:ext cx="11125200" cy="9525"/>
          </a:xfrm>
          <a:prstGeom prst="rect">
            <a:avLst/>
          </a:prstGeom>
          <a:solidFill>
            <a:srgbClr val="396052"/>
          </a:solidFill>
          <a:ln w="9525">
            <a:solidFill>
              <a:srgbClr val="396052"/>
            </a:solidFill>
            <a:prstDash val="solid"/>
          </a:ln>
        </p:spPr>
        <p:txBody>
          <a:bodyPr/>
          <a:lstStyle/>
          <a:p>
            <a:endParaRPr lang="en-GB"/>
          </a:p>
        </p:txBody>
      </p:sp>
      <p:sp>
        <p:nvSpPr>
          <p:cNvPr id="7" name="Rectangle 6">
            <a:extLst>
              <a:ext uri="{FF2B5EF4-FFF2-40B4-BE49-F238E27FC236}">
                <a16:creationId xmlns:a16="http://schemas.microsoft.com/office/drawing/2014/main" id="{EE548870-9EEE-431F-B8E6-B93E303E8470}"/>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DDEBDD"/>
                </a:solidFill>
              </a:rPr>
              <a:t>DESIGN PRESENTATION  •  28 SEPTEMBER 2026</a:t>
            </a:r>
          </a:p>
        </p:txBody>
      </p:sp>
      <p:sp>
        <p:nvSpPr>
          <p:cNvPr id="8" name="Rectangle 7">
            <a:extLst>
              <a:ext uri="{FF2B5EF4-FFF2-40B4-BE49-F238E27FC236}">
                <a16:creationId xmlns:a16="http://schemas.microsoft.com/office/drawing/2014/main" id="{14B29102-51BC-43A5-B27F-1FFCA8AE6C44}"/>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DDEBDD"/>
                </a:solidFill>
              </a:rPr>
              <a:t>13</a:t>
            </a:r>
          </a:p>
        </p:txBody>
      </p:sp>
      <p:sp>
        <p:nvSpPr>
          <p:cNvPr id="9" name="Rectangle: Rounded Corners 8">
            <a:extLst>
              <a:ext uri="{FF2B5EF4-FFF2-40B4-BE49-F238E27FC236}">
                <a16:creationId xmlns:a16="http://schemas.microsoft.com/office/drawing/2014/main" id="{069E53B9-775A-49A2-AB8C-7AE7766382FF}"/>
              </a:ext>
            </a:extLst>
          </p:cNvPr>
          <p:cNvSpPr>
            <a:spLocks noGrp="1"/>
          </p:cNvSpPr>
          <p:nvPr/>
        </p:nvSpPr>
        <p:spPr>
          <a:xfrm>
            <a:off x="533400"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0" name="Rectangle 9">
            <a:extLst>
              <a:ext uri="{FF2B5EF4-FFF2-40B4-BE49-F238E27FC236}">
                <a16:creationId xmlns:a16="http://schemas.microsoft.com/office/drawing/2014/main" id="{25A43C89-0890-468E-A78B-CAB2C5B0EE8A}"/>
              </a:ext>
            </a:extLst>
          </p:cNvPr>
          <p:cNvSpPr>
            <a:spLocks noGrp="1"/>
          </p:cNvSpPr>
          <p:nvPr/>
        </p:nvSpPr>
        <p:spPr>
          <a:xfrm>
            <a:off x="742950"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16</a:t>
            </a:r>
          </a:p>
        </p:txBody>
      </p:sp>
      <p:sp>
        <p:nvSpPr>
          <p:cNvPr id="11" name="Rectangle 10">
            <a:extLst>
              <a:ext uri="{FF2B5EF4-FFF2-40B4-BE49-F238E27FC236}">
                <a16:creationId xmlns:a16="http://schemas.microsoft.com/office/drawing/2014/main" id="{05CF4FEA-6FCB-4BDB-B501-8B1C60847849}"/>
              </a:ext>
            </a:extLst>
          </p:cNvPr>
          <p:cNvSpPr>
            <a:spLocks noGrp="1"/>
          </p:cNvSpPr>
          <p:nvPr/>
        </p:nvSpPr>
        <p:spPr>
          <a:xfrm>
            <a:off x="742950"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Component specifications</a:t>
            </a:r>
          </a:p>
        </p:txBody>
      </p:sp>
      <p:sp>
        <p:nvSpPr>
          <p:cNvPr id="12" name="Rectangle: Rounded Corners 11">
            <a:extLst>
              <a:ext uri="{FF2B5EF4-FFF2-40B4-BE49-F238E27FC236}">
                <a16:creationId xmlns:a16="http://schemas.microsoft.com/office/drawing/2014/main" id="{5CBB2E55-48CE-49AB-B25D-B2FF1A224384}"/>
              </a:ext>
            </a:extLst>
          </p:cNvPr>
          <p:cNvSpPr>
            <a:spLocks noGrp="1"/>
          </p:cNvSpPr>
          <p:nvPr/>
        </p:nvSpPr>
        <p:spPr>
          <a:xfrm>
            <a:off x="4314825"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3" name="Rectangle 12">
            <a:extLst>
              <a:ext uri="{FF2B5EF4-FFF2-40B4-BE49-F238E27FC236}">
                <a16:creationId xmlns:a16="http://schemas.microsoft.com/office/drawing/2014/main" id="{A36EB428-7917-4F33-9F16-7A624277E651}"/>
              </a:ext>
            </a:extLst>
          </p:cNvPr>
          <p:cNvSpPr>
            <a:spLocks noGrp="1"/>
          </p:cNvSpPr>
          <p:nvPr/>
        </p:nvSpPr>
        <p:spPr>
          <a:xfrm>
            <a:off x="4524375"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90</a:t>
            </a:r>
          </a:p>
        </p:txBody>
      </p:sp>
      <p:sp>
        <p:nvSpPr>
          <p:cNvPr id="14" name="Rectangle 13">
            <a:extLst>
              <a:ext uri="{FF2B5EF4-FFF2-40B4-BE49-F238E27FC236}">
                <a16:creationId xmlns:a16="http://schemas.microsoft.com/office/drawing/2014/main" id="{A21B1EC1-2DBE-40BA-8D20-265C5900FDF3}"/>
              </a:ext>
            </a:extLst>
          </p:cNvPr>
          <p:cNvSpPr>
            <a:spLocks noGrp="1"/>
          </p:cNvSpPr>
          <p:nvPr/>
        </p:nvSpPr>
        <p:spPr>
          <a:xfrm>
            <a:off x="4524375"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Defined acceptance criteria</a:t>
            </a:r>
          </a:p>
        </p:txBody>
      </p:sp>
      <p:sp>
        <p:nvSpPr>
          <p:cNvPr id="15" name="Rectangle: Rounded Corners 14">
            <a:extLst>
              <a:ext uri="{FF2B5EF4-FFF2-40B4-BE49-F238E27FC236}">
                <a16:creationId xmlns:a16="http://schemas.microsoft.com/office/drawing/2014/main" id="{059A0A24-5BD0-4B73-9C68-8A0D7CCEA66C}"/>
              </a:ext>
            </a:extLst>
          </p:cNvPr>
          <p:cNvSpPr>
            <a:spLocks noGrp="1"/>
          </p:cNvSpPr>
          <p:nvPr/>
        </p:nvSpPr>
        <p:spPr>
          <a:xfrm>
            <a:off x="8096250" y="2628900"/>
            <a:ext cx="3562350" cy="1466850"/>
          </a:xfrm>
          <a:prstGeom prst="roundRect">
            <a:avLst>
              <a:gd name="adj" fmla="val 5195"/>
            </a:avLst>
          </a:prstGeom>
          <a:solidFill>
            <a:srgbClr val="234C3F"/>
          </a:solidFill>
          <a:ln w="9525">
            <a:solidFill>
              <a:srgbClr val="396052"/>
            </a:solidFill>
            <a:prstDash val="solid"/>
          </a:ln>
        </p:spPr>
        <p:txBody>
          <a:bodyPr/>
          <a:lstStyle/>
          <a:p>
            <a:endParaRPr lang="en-GB"/>
          </a:p>
        </p:txBody>
      </p:sp>
      <p:sp>
        <p:nvSpPr>
          <p:cNvPr id="16" name="Rectangle 15">
            <a:extLst>
              <a:ext uri="{FF2B5EF4-FFF2-40B4-BE49-F238E27FC236}">
                <a16:creationId xmlns:a16="http://schemas.microsoft.com/office/drawing/2014/main" id="{1495AC44-CAD8-4F62-B352-F66842A7894B}"/>
              </a:ext>
            </a:extLst>
          </p:cNvPr>
          <p:cNvSpPr>
            <a:spLocks noGrp="1"/>
          </p:cNvSpPr>
          <p:nvPr/>
        </p:nvSpPr>
        <p:spPr>
          <a:xfrm>
            <a:off x="8305800" y="2724150"/>
            <a:ext cx="3114675" cy="685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4275" b="1">
                <a:solidFill>
                  <a:srgbClr val="FFFFFF"/>
                </a:solidFill>
              </a:rPr>
              <a:t>1</a:t>
            </a:r>
          </a:p>
        </p:txBody>
      </p:sp>
      <p:sp>
        <p:nvSpPr>
          <p:cNvPr id="17" name="Rectangle 16">
            <a:extLst>
              <a:ext uri="{FF2B5EF4-FFF2-40B4-BE49-F238E27FC236}">
                <a16:creationId xmlns:a16="http://schemas.microsoft.com/office/drawing/2014/main" id="{83811D24-C177-4593-922E-E888F4292E47}"/>
              </a:ext>
            </a:extLst>
          </p:cNvPr>
          <p:cNvSpPr>
            <a:spLocks noGrp="1"/>
          </p:cNvSpPr>
          <p:nvPr/>
        </p:nvSpPr>
        <p:spPr>
          <a:xfrm>
            <a:off x="8305800" y="3524250"/>
            <a:ext cx="3143250" cy="4191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DDEBDD"/>
                </a:solidFill>
              </a:rPr>
              <a:t>Portable clickable wireframe</a:t>
            </a:r>
          </a:p>
        </p:txBody>
      </p:sp>
      <p:sp>
        <p:nvSpPr>
          <p:cNvPr id="18" name="Rectangle 17">
            <a:extLst>
              <a:ext uri="{FF2B5EF4-FFF2-40B4-BE49-F238E27FC236}">
                <a16:creationId xmlns:a16="http://schemas.microsoft.com/office/drawing/2014/main" id="{3A016DF5-378E-4447-965E-7ED371B5E9B5}"/>
              </a:ext>
            </a:extLst>
          </p:cNvPr>
          <p:cNvSpPr>
            <a:spLocks noGrp="1"/>
          </p:cNvSpPr>
          <p:nvPr/>
        </p:nvSpPr>
        <p:spPr>
          <a:xfrm>
            <a:off x="533400" y="4505325"/>
            <a:ext cx="11125200" cy="523875"/>
          </a:xfrm>
          <a:prstGeom prst="rect">
            <a:avLst/>
          </a:prstGeom>
          <a:solidFill>
            <a:srgbClr val="000000">
              <a:alpha val="0"/>
            </a:srgbClr>
          </a:solidFill>
          <a:ln w="9525">
            <a:solidFill>
              <a:srgbClr val="000000">
                <a:alpha val="0"/>
              </a:srgbClr>
            </a:solidFill>
            <a:prstDash val="solid"/>
          </a:ln>
        </p:spPr>
        <p:txBody>
          <a:bodyPr lIns="0" tIns="0" rIns="0" bIns="0" anchor="t"/>
          <a:lstStyle/>
          <a:p>
            <a:r>
              <a:rPr sz="2025" b="1">
                <a:solidFill>
                  <a:srgbClr val="FFFFFF"/>
                </a:solidFill>
              </a:rPr>
              <a:t>TODAY: align on scope, architecture, owners and demo date.</a:t>
            </a:r>
          </a:p>
        </p:txBody>
      </p:sp>
      <p:sp>
        <p:nvSpPr>
          <p:cNvPr id="19" name="Rectangle 18">
            <a:extLst>
              <a:ext uri="{FF2B5EF4-FFF2-40B4-BE49-F238E27FC236}">
                <a16:creationId xmlns:a16="http://schemas.microsoft.com/office/drawing/2014/main" id="{F1F33B72-2B19-428C-A571-3ADE146C4EF6}"/>
              </a:ext>
            </a:extLst>
          </p:cNvPr>
          <p:cNvSpPr>
            <a:spLocks noGrp="1"/>
          </p:cNvSpPr>
          <p:nvPr/>
        </p:nvSpPr>
        <p:spPr>
          <a:xfrm>
            <a:off x="533400" y="5276850"/>
            <a:ext cx="11125200" cy="628650"/>
          </a:xfrm>
          <a:prstGeom prst="rect">
            <a:avLst/>
          </a:prstGeom>
          <a:solidFill>
            <a:srgbClr val="000000">
              <a:alpha val="0"/>
            </a:srgbClr>
          </a:solidFill>
          <a:ln w="9525">
            <a:solidFill>
              <a:srgbClr val="000000">
                <a:alpha val="0"/>
              </a:srgbClr>
            </a:solidFill>
            <a:prstDash val="solid"/>
          </a:ln>
        </p:spPr>
        <p:txBody>
          <a:bodyPr lIns="0" tIns="0" rIns="0" bIns="0" anchor="t"/>
          <a:lstStyle/>
          <a:p>
            <a:r>
              <a:rPr sz="2025" b="0">
                <a:solidFill>
                  <a:srgbClr val="DDEBDD"/>
                </a:solidFill>
              </a:rPr>
              <a:t>NEXT: bootstrap a small world and prove the baseline-to-UI path.</a:t>
            </a:r>
          </a:p>
        </p:txBody>
      </p:sp>
    </p:spTree>
    <p:extLst>
      <p:ext uri="{BB962C8B-B14F-4D97-AF65-F5344CB8AC3E}">
        <p14:creationId xmlns:p14="http://schemas.microsoft.com/office/powerpoint/2010/main" val="1086823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5F6EF"/>
        </a:solidFill>
        <a:effectLst/>
      </p:bgPr>
    </p:bg>
    <p:spTree>
      <p:nvGrpSpPr>
        <p:cNvPr id="1" name=""/>
        <p:cNvGrpSpPr/>
        <p:nvPr/>
      </p:nvGrpSpPr>
      <p:grpSpPr>
        <a:xfrm>
          <a:off x="0" y="0"/>
          <a:ext cx="0" cy="0"/>
          <a:chOff x="0" y="0"/>
          <a:chExt cx="0" cy="0"/>
        </a:xfrm>
      </p:grpSpPr>
      <p:sp>
        <p:nvSpPr>
          <p:cNvPr id="24"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E339BD53-56B1-40A1-9C46-722823616CBA}"/>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395B272D-9A91-459F-8C65-4D89065F979C}"/>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FEATURE DESIGN</a:t>
            </a:r>
          </a:p>
        </p:txBody>
      </p:sp>
      <p:sp>
        <p:nvSpPr>
          <p:cNvPr id="4" name="Rectangle 3">
            <a:extLst>
              <a:ext uri="{FF2B5EF4-FFF2-40B4-BE49-F238E27FC236}">
                <a16:creationId xmlns:a16="http://schemas.microsoft.com/office/drawing/2014/main" id="{F6D87F57-28C7-423A-AF30-430E1E8BC458}"/>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Compare customers with their product context.</a:t>
            </a:r>
          </a:p>
        </p:txBody>
      </p:sp>
      <p:sp>
        <p:nvSpPr>
          <p:cNvPr id="5" name="Rectangle 4">
            <a:extLst>
              <a:ext uri="{FF2B5EF4-FFF2-40B4-BE49-F238E27FC236}">
                <a16:creationId xmlns:a16="http://schemas.microsoft.com/office/drawing/2014/main" id="{C86DD40B-D37D-4011-9C62-A67485FBF074}"/>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Eighteen numeric features support one overall investigation ranking.</a:t>
            </a:r>
          </a:p>
        </p:txBody>
      </p:sp>
      <p:sp>
        <p:nvSpPr>
          <p:cNvPr id="6" name="Rectangle 5">
            <a:extLst>
              <a:ext uri="{FF2B5EF4-FFF2-40B4-BE49-F238E27FC236}">
                <a16:creationId xmlns:a16="http://schemas.microsoft.com/office/drawing/2014/main" id="{9515D9CD-53CB-43C3-B4DA-EB0A9EA1F2EE}"/>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891DA30-E876-44C4-ACDA-140394C8A24D}"/>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BA6F8F83-EAF5-4A27-BB25-AF058CAF86C1}"/>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14</a:t>
            </a:r>
          </a:p>
        </p:txBody>
      </p:sp>
      <p:sp>
        <p:nvSpPr>
          <p:cNvPr id="9" name="Rectangle: Rounded Corners 8">
            <a:extLst>
              <a:ext uri="{FF2B5EF4-FFF2-40B4-BE49-F238E27FC236}">
                <a16:creationId xmlns:a16="http://schemas.microsoft.com/office/drawing/2014/main" id="{135CAF60-7880-4010-8045-335CCF36845C}"/>
              </a:ext>
            </a:extLst>
          </p:cNvPr>
          <p:cNvSpPr>
            <a:spLocks noGrp="1"/>
          </p:cNvSpPr>
          <p:nvPr/>
        </p:nvSpPr>
        <p:spPr>
          <a:xfrm>
            <a:off x="533400" y="2533650"/>
            <a:ext cx="5438775" cy="1714500"/>
          </a:xfrm>
          <a:prstGeom prst="roundRect">
            <a:avLst>
              <a:gd name="adj" fmla="val 4444"/>
            </a:avLst>
          </a:prstGeom>
          <a:solidFill>
            <a:srgbClr val="DDEBDD"/>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B3923AC5-0183-4478-AA8B-7893D0C54303}"/>
              </a:ext>
            </a:extLst>
          </p:cNvPr>
          <p:cNvSpPr>
            <a:spLocks noGrp="1"/>
          </p:cNvSpPr>
          <p:nvPr/>
        </p:nvSpPr>
        <p:spPr>
          <a:xfrm>
            <a:off x="742950" y="27241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High returns + high peer returns</a:t>
            </a:r>
          </a:p>
        </p:txBody>
      </p:sp>
      <p:sp>
        <p:nvSpPr>
          <p:cNvPr id="11" name="Rectangle 10">
            <a:extLst>
              <a:ext uri="{FF2B5EF4-FFF2-40B4-BE49-F238E27FC236}">
                <a16:creationId xmlns:a16="http://schemas.microsoft.com/office/drawing/2014/main" id="{0F259797-9B1C-4692-A78C-2C948D80B2A7}"/>
              </a:ext>
            </a:extLst>
          </p:cNvPr>
          <p:cNvSpPr>
            <a:spLocks noGrp="1"/>
          </p:cNvSpPr>
          <p:nvPr/>
        </p:nvSpPr>
        <p:spPr>
          <a:xfrm>
            <a:off x="742950" y="3333750"/>
            <a:ext cx="5019675" cy="8191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Product fit or quality may explain the behavior. Inspect style and SKU evidence.</a:t>
            </a:r>
          </a:p>
        </p:txBody>
      </p:sp>
      <p:sp>
        <p:nvSpPr>
          <p:cNvPr id="12" name="Rectangle: Rounded Corners 11">
            <a:extLst>
              <a:ext uri="{FF2B5EF4-FFF2-40B4-BE49-F238E27FC236}">
                <a16:creationId xmlns:a16="http://schemas.microsoft.com/office/drawing/2014/main" id="{77D58B72-4639-40BB-BB2B-9931B1E30A00}"/>
              </a:ext>
            </a:extLst>
          </p:cNvPr>
          <p:cNvSpPr>
            <a:spLocks noGrp="1"/>
          </p:cNvSpPr>
          <p:nvPr/>
        </p:nvSpPr>
        <p:spPr>
          <a:xfrm>
            <a:off x="6219825" y="2533650"/>
            <a:ext cx="5438775" cy="1714500"/>
          </a:xfrm>
          <a:prstGeom prst="roundRect">
            <a:avLst>
              <a:gd name="adj" fmla="val 4444"/>
            </a:avLst>
          </a:prstGeom>
          <a:solidFill>
            <a:srgbClr val="FFFFFF"/>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3C3830BF-1347-45F5-8F53-EC611B50E7AC}"/>
              </a:ext>
            </a:extLst>
          </p:cNvPr>
          <p:cNvSpPr>
            <a:spLocks noGrp="1"/>
          </p:cNvSpPr>
          <p:nvPr/>
        </p:nvSpPr>
        <p:spPr>
          <a:xfrm>
            <a:off x="6429375" y="2724150"/>
            <a:ext cx="5019675"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High returns + low peer returns</a:t>
            </a:r>
          </a:p>
        </p:txBody>
      </p:sp>
      <p:sp>
        <p:nvSpPr>
          <p:cNvPr id="14" name="Rectangle 13">
            <a:extLst>
              <a:ext uri="{FF2B5EF4-FFF2-40B4-BE49-F238E27FC236}">
                <a16:creationId xmlns:a16="http://schemas.microsoft.com/office/drawing/2014/main" id="{3BF11535-130A-4ECB-801B-A4E468E31049}"/>
              </a:ext>
            </a:extLst>
          </p:cNvPr>
          <p:cNvSpPr>
            <a:spLocks noGrp="1"/>
          </p:cNvSpPr>
          <p:nvPr/>
        </p:nvSpPr>
        <p:spPr>
          <a:xfrm>
            <a:off x="6429375" y="3333750"/>
            <a:ext cx="5019675" cy="8191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An unexplained excess is an investigation signal, not proof of intent.</a:t>
            </a:r>
          </a:p>
        </p:txBody>
      </p:sp>
      <p:sp>
        <p:nvSpPr>
          <p:cNvPr id="15" name="Rectangle: Rounded Corners 14">
            <a:extLst>
              <a:ext uri="{FF2B5EF4-FFF2-40B4-BE49-F238E27FC236}">
                <a16:creationId xmlns:a16="http://schemas.microsoft.com/office/drawing/2014/main" id="{D5E95B8C-26D1-4B16-AD74-A7C88EFAB089}"/>
              </a:ext>
            </a:extLst>
          </p:cNvPr>
          <p:cNvSpPr>
            <a:spLocks noGrp="1"/>
          </p:cNvSpPr>
          <p:nvPr/>
        </p:nvSpPr>
        <p:spPr>
          <a:xfrm>
            <a:off x="53340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546121E8-58CF-4D9C-A2C5-DE1033BA5CD3}"/>
              </a:ext>
            </a:extLst>
          </p:cNvPr>
          <p:cNvSpPr>
            <a:spLocks noGrp="1"/>
          </p:cNvSpPr>
          <p:nvPr/>
        </p:nvSpPr>
        <p:spPr>
          <a:xfrm>
            <a:off x="68580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Mature observations</a:t>
            </a:r>
          </a:p>
        </p:txBody>
      </p:sp>
      <p:sp>
        <p:nvSpPr>
          <p:cNvPr id="17" name="Rectangle 16">
            <a:extLst>
              <a:ext uri="{FF2B5EF4-FFF2-40B4-BE49-F238E27FC236}">
                <a16:creationId xmlns:a16="http://schemas.microsoft.com/office/drawing/2014/main" id="{7890849F-9C84-419E-9526-2A1B4AE24FDA}"/>
              </a:ext>
            </a:extLst>
          </p:cNvPr>
          <p:cNvSpPr>
            <a:spLocks noGrp="1"/>
          </p:cNvSpPr>
          <p:nvPr/>
        </p:nvSpPr>
        <p:spPr>
          <a:xfrm>
            <a:off x="68580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Captured return window elapsed; at least 3 mature sale lines to rank.</a:t>
            </a:r>
          </a:p>
        </p:txBody>
      </p:sp>
      <p:sp>
        <p:nvSpPr>
          <p:cNvPr id="18" name="Rectangle: Rounded Corners 17">
            <a:extLst>
              <a:ext uri="{FF2B5EF4-FFF2-40B4-BE49-F238E27FC236}">
                <a16:creationId xmlns:a16="http://schemas.microsoft.com/office/drawing/2014/main" id="{B8C4061E-C4B4-40C5-8E68-8043A2556453}"/>
              </a:ext>
            </a:extLst>
          </p:cNvPr>
          <p:cNvSpPr>
            <a:spLocks noGrp="1"/>
          </p:cNvSpPr>
          <p:nvPr/>
        </p:nvSpPr>
        <p:spPr>
          <a:xfrm>
            <a:off x="432435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19" name="Rectangle 18">
            <a:extLst>
              <a:ext uri="{FF2B5EF4-FFF2-40B4-BE49-F238E27FC236}">
                <a16:creationId xmlns:a16="http://schemas.microsoft.com/office/drawing/2014/main" id="{3DC864AD-0CCE-4112-908D-7BA20C4838D4}"/>
              </a:ext>
            </a:extLst>
          </p:cNvPr>
          <p:cNvSpPr>
            <a:spLocks noGrp="1"/>
          </p:cNvSpPr>
          <p:nvPr/>
        </p:nvSpPr>
        <p:spPr>
          <a:xfrm>
            <a:off x="447675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Self-excluded expectation</a:t>
            </a:r>
          </a:p>
        </p:txBody>
      </p:sp>
      <p:sp>
        <p:nvSpPr>
          <p:cNvPr id="20" name="Rectangle 19">
            <a:extLst>
              <a:ext uri="{FF2B5EF4-FFF2-40B4-BE49-F238E27FC236}">
                <a16:creationId xmlns:a16="http://schemas.microsoft.com/office/drawing/2014/main" id="{8A49FB38-A8A9-482C-9466-6F09F2AC737F}"/>
              </a:ext>
            </a:extLst>
          </p:cNvPr>
          <p:cNvSpPr>
            <a:spLocks noGrp="1"/>
          </p:cNvSpPr>
          <p:nvPr/>
        </p:nvSpPr>
        <p:spPr>
          <a:xfrm>
            <a:off x="447675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Category → style → SKU smoothing; customer excluded; k = 20.</a:t>
            </a:r>
          </a:p>
        </p:txBody>
      </p:sp>
      <p:sp>
        <p:nvSpPr>
          <p:cNvPr id="21" name="Rectangle: Rounded Corners 20">
            <a:extLst>
              <a:ext uri="{FF2B5EF4-FFF2-40B4-BE49-F238E27FC236}">
                <a16:creationId xmlns:a16="http://schemas.microsoft.com/office/drawing/2014/main" id="{8CDC39D0-BF22-4CCA-9D76-70C47D958106}"/>
              </a:ext>
            </a:extLst>
          </p:cNvPr>
          <p:cNvSpPr>
            <a:spLocks noGrp="1"/>
          </p:cNvSpPr>
          <p:nvPr/>
        </p:nvSpPr>
        <p:spPr>
          <a:xfrm>
            <a:off x="8115300" y="4533900"/>
            <a:ext cx="3543300" cy="1419225"/>
          </a:xfrm>
          <a:prstGeom prst="roundRect">
            <a:avLst>
              <a:gd name="adj" fmla="val 5369"/>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AED2E971-E13E-4030-808E-C356321365B1}"/>
              </a:ext>
            </a:extLst>
          </p:cNvPr>
          <p:cNvSpPr>
            <a:spLocks noGrp="1"/>
          </p:cNvSpPr>
          <p:nvPr/>
        </p:nvSpPr>
        <p:spPr>
          <a:xfrm>
            <a:off x="8267700" y="4648200"/>
            <a:ext cx="3238500" cy="3048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1">
                <a:solidFill>
                  <a:srgbClr val="153C32"/>
                </a:solidFill>
              </a:rPr>
              <a:t>Relationship safeguards</a:t>
            </a:r>
          </a:p>
        </p:txBody>
      </p:sp>
      <p:sp>
        <p:nvSpPr>
          <p:cNvPr id="23" name="Rectangle 22">
            <a:extLst>
              <a:ext uri="{FF2B5EF4-FFF2-40B4-BE49-F238E27FC236}">
                <a16:creationId xmlns:a16="http://schemas.microsoft.com/office/drawing/2014/main" id="{4E764588-FBBE-4AF9-8C29-F45B784B340C}"/>
              </a:ext>
            </a:extLst>
          </p:cNvPr>
          <p:cNvSpPr>
            <a:spLocks noGrp="1"/>
          </p:cNvSpPr>
          <p:nvPr/>
        </p:nvSpPr>
        <p:spPr>
          <a:xfrm>
            <a:off x="8267700" y="5000625"/>
            <a:ext cx="3238500" cy="8858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75" b="0">
                <a:solidFill>
                  <a:srgbClr val="61766A"/>
                </a:solidFill>
              </a:rPr>
              <a:t>At least 2 identifier types; exclude identifiers with fanout &gt; 25.</a:t>
            </a:r>
          </a:p>
        </p:txBody>
      </p:sp>
    </p:spTree>
    <p:extLst>
      <p:ext uri="{BB962C8B-B14F-4D97-AF65-F5344CB8AC3E}">
        <p14:creationId xmlns:p14="http://schemas.microsoft.com/office/powerpoint/2010/main" val="159577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5F6EF"/>
        </a:solidFill>
        <a:effectLst/>
      </p:bgPr>
    </p:bg>
    <p:spTree>
      <p:nvGrpSpPr>
        <p:cNvPr id="1" name=""/>
        <p:cNvGrpSpPr/>
        <p:nvPr/>
      </p:nvGrpSpPr>
      <p:grpSpPr>
        <a:xfrm>
          <a:off x="0" y="0"/>
          <a:ext cx="0" cy="0"/>
          <a:chOff x="0" y="0"/>
          <a:chExt cx="0" cy="0"/>
        </a:xfrm>
      </p:grpSpPr>
      <p:sp>
        <p:nvSpPr>
          <p:cNvPr id="21"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815D37A5-4309-4E81-8275-FC669D883574}"/>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1A50571D-C1A3-4B8E-85BE-6C304D5803FC}"/>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MODEL DESIGN</a:t>
            </a:r>
          </a:p>
        </p:txBody>
      </p:sp>
      <p:sp>
        <p:nvSpPr>
          <p:cNvPr id="4" name="Rectangle 3">
            <a:extLst>
              <a:ext uri="{FF2B5EF4-FFF2-40B4-BE49-F238E27FC236}">
                <a16:creationId xmlns:a16="http://schemas.microsoft.com/office/drawing/2014/main" id="{9040EAB4-E024-4607-9007-93EB760C830A}"/>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Five candidates. One frozen selection rule.</a:t>
            </a:r>
          </a:p>
        </p:txBody>
      </p:sp>
      <p:sp>
        <p:nvSpPr>
          <p:cNvPr id="5" name="Rectangle 4">
            <a:extLst>
              <a:ext uri="{FF2B5EF4-FFF2-40B4-BE49-F238E27FC236}">
                <a16:creationId xmlns:a16="http://schemas.microsoft.com/office/drawing/2014/main" id="{508B1C57-85AC-4AAB-ADEF-1EC66C13228D}"/>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Simple supervised and unsupervised approaches share the same evaluation population.</a:t>
            </a:r>
          </a:p>
        </p:txBody>
      </p:sp>
      <p:sp>
        <p:nvSpPr>
          <p:cNvPr id="6" name="Rectangle 5">
            <a:extLst>
              <a:ext uri="{FF2B5EF4-FFF2-40B4-BE49-F238E27FC236}">
                <a16:creationId xmlns:a16="http://schemas.microsoft.com/office/drawing/2014/main" id="{D32F7D82-8EC8-4DA6-AAFC-DAB1E12B04B0}"/>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E718BAD3-66A4-46C7-AAAC-59267AC18B4C}"/>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6AD2D0B1-FD90-4B49-9B69-7BF604DE7653}"/>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15</a:t>
            </a:r>
          </a:p>
        </p:txBody>
      </p:sp>
      <p:sp>
        <p:nvSpPr>
          <p:cNvPr id="9" name="Rectangle: Rounded Corners 8">
            <a:extLst>
              <a:ext uri="{FF2B5EF4-FFF2-40B4-BE49-F238E27FC236}">
                <a16:creationId xmlns:a16="http://schemas.microsoft.com/office/drawing/2014/main" id="{0C1023E1-C986-42DA-8947-F1225EEE4CA4}"/>
              </a:ext>
            </a:extLst>
          </p:cNvPr>
          <p:cNvSpPr>
            <a:spLocks noGrp="1"/>
          </p:cNvSpPr>
          <p:nvPr/>
        </p:nvSpPr>
        <p:spPr>
          <a:xfrm>
            <a:off x="533400" y="2514600"/>
            <a:ext cx="354330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3DF5A9C8-1560-4F7E-866B-5BB63B76B919}"/>
              </a:ext>
            </a:extLst>
          </p:cNvPr>
          <p:cNvSpPr>
            <a:spLocks noGrp="1"/>
          </p:cNvSpPr>
          <p:nvPr/>
        </p:nvSpPr>
        <p:spPr>
          <a:xfrm>
            <a:off x="74295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1 × Logistic regression</a:t>
            </a:r>
          </a:p>
        </p:txBody>
      </p:sp>
      <p:sp>
        <p:nvSpPr>
          <p:cNvPr id="11" name="Rectangle 10">
            <a:extLst>
              <a:ext uri="{FF2B5EF4-FFF2-40B4-BE49-F238E27FC236}">
                <a16:creationId xmlns:a16="http://schemas.microsoft.com/office/drawing/2014/main" id="{3B560AB3-F9F7-4853-BF7B-3B913A396164}"/>
              </a:ext>
            </a:extLst>
          </p:cNvPr>
          <p:cNvSpPr>
            <a:spLocks noGrp="1"/>
          </p:cNvSpPr>
          <p:nvPr/>
        </p:nvSpPr>
        <p:spPr>
          <a:xfrm>
            <a:off x="74295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Scaled features</a:t>
            </a:r>
          </a:p>
          <a:p>
            <a:r>
              <a:rPr sz="1500" b="0">
                <a:solidFill>
                  <a:srgbClr val="61766A"/>
                </a:solidFill>
              </a:rPr>
              <a:t>C = 1 · lbfgs</a:t>
            </a:r>
          </a:p>
          <a:p>
            <a:r>
              <a:rPr sz="1500" b="0">
                <a:solidFill>
                  <a:srgbClr val="61766A"/>
                </a:solidFill>
              </a:rPr>
              <a:t>max_iter = 1,000</a:t>
            </a:r>
          </a:p>
        </p:txBody>
      </p:sp>
      <p:sp>
        <p:nvSpPr>
          <p:cNvPr id="12" name="Rectangle: Rounded Corners 11">
            <a:extLst>
              <a:ext uri="{FF2B5EF4-FFF2-40B4-BE49-F238E27FC236}">
                <a16:creationId xmlns:a16="http://schemas.microsoft.com/office/drawing/2014/main" id="{EB40B058-CFB7-416D-8691-BE8C880E5209}"/>
              </a:ext>
            </a:extLst>
          </p:cNvPr>
          <p:cNvSpPr>
            <a:spLocks noGrp="1"/>
          </p:cNvSpPr>
          <p:nvPr/>
        </p:nvSpPr>
        <p:spPr>
          <a:xfrm>
            <a:off x="4324350" y="2514600"/>
            <a:ext cx="3543300" cy="2190750"/>
          </a:xfrm>
          <a:prstGeom prst="roundRect">
            <a:avLst>
              <a:gd name="adj" fmla="val 3478"/>
            </a:avLst>
          </a:prstGeom>
          <a:solidFill>
            <a:srgbClr val="DDEBDD"/>
          </a:solidFill>
          <a:ln w="9525">
            <a:solidFill>
              <a:srgbClr val="D3DED1"/>
            </a:solidFill>
            <a:prstDash val="solid"/>
          </a:ln>
        </p:spPr>
        <p:txBody>
          <a:bodyPr/>
          <a:lstStyle/>
          <a:p>
            <a:endParaRPr lang="en-GB"/>
          </a:p>
        </p:txBody>
      </p:sp>
      <p:sp>
        <p:nvSpPr>
          <p:cNvPr id="13" name="Rectangle 12">
            <a:extLst>
              <a:ext uri="{FF2B5EF4-FFF2-40B4-BE49-F238E27FC236}">
                <a16:creationId xmlns:a16="http://schemas.microsoft.com/office/drawing/2014/main" id="{551F6AD5-C4A5-4105-8054-B630359D9720}"/>
              </a:ext>
            </a:extLst>
          </p:cNvPr>
          <p:cNvSpPr>
            <a:spLocks noGrp="1"/>
          </p:cNvSpPr>
          <p:nvPr/>
        </p:nvSpPr>
        <p:spPr>
          <a:xfrm>
            <a:off x="453390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2 × Histogram boosting</a:t>
            </a:r>
          </a:p>
        </p:txBody>
      </p:sp>
      <p:sp>
        <p:nvSpPr>
          <p:cNvPr id="14" name="Rectangle 13">
            <a:extLst>
              <a:ext uri="{FF2B5EF4-FFF2-40B4-BE49-F238E27FC236}">
                <a16:creationId xmlns:a16="http://schemas.microsoft.com/office/drawing/2014/main" id="{E419D6BE-6157-4DA5-BB7E-65CCA0C270AA}"/>
              </a:ext>
            </a:extLst>
          </p:cNvPr>
          <p:cNvSpPr>
            <a:spLocks noGrp="1"/>
          </p:cNvSpPr>
          <p:nvPr/>
        </p:nvSpPr>
        <p:spPr>
          <a:xfrm>
            <a:off x="453390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15 or 31 leaves</a:t>
            </a:r>
          </a:p>
          <a:p>
            <a:r>
              <a:rPr sz="1500" b="0">
                <a:solidFill>
                  <a:srgbClr val="61766A"/>
                </a:solidFill>
              </a:rPr>
              <a:t>200 iterations · learning rate 0.05</a:t>
            </a:r>
          </a:p>
          <a:p>
            <a:r>
              <a:rPr sz="1500" b="0">
                <a:solidFill>
                  <a:srgbClr val="61766A"/>
                </a:solidFill>
              </a:rPr>
              <a:t>min leaf = 50 · L2 = 1</a:t>
            </a:r>
          </a:p>
        </p:txBody>
      </p:sp>
      <p:sp>
        <p:nvSpPr>
          <p:cNvPr id="15" name="Rectangle: Rounded Corners 14">
            <a:extLst>
              <a:ext uri="{FF2B5EF4-FFF2-40B4-BE49-F238E27FC236}">
                <a16:creationId xmlns:a16="http://schemas.microsoft.com/office/drawing/2014/main" id="{9F8B7076-2909-4990-8CD9-72F6FE55AF37}"/>
              </a:ext>
            </a:extLst>
          </p:cNvPr>
          <p:cNvSpPr>
            <a:spLocks noGrp="1"/>
          </p:cNvSpPr>
          <p:nvPr/>
        </p:nvSpPr>
        <p:spPr>
          <a:xfrm>
            <a:off x="8115300" y="2514600"/>
            <a:ext cx="354330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6" name="Rectangle 15">
            <a:extLst>
              <a:ext uri="{FF2B5EF4-FFF2-40B4-BE49-F238E27FC236}">
                <a16:creationId xmlns:a16="http://schemas.microsoft.com/office/drawing/2014/main" id="{FD166DBB-CB35-48B6-86F6-9426043FC9C9}"/>
              </a:ext>
            </a:extLst>
          </p:cNvPr>
          <p:cNvSpPr>
            <a:spLocks noGrp="1"/>
          </p:cNvSpPr>
          <p:nvPr/>
        </p:nvSpPr>
        <p:spPr>
          <a:xfrm>
            <a:off x="8324850" y="2705100"/>
            <a:ext cx="31242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2 × Isolation Forest</a:t>
            </a:r>
          </a:p>
        </p:txBody>
      </p:sp>
      <p:sp>
        <p:nvSpPr>
          <p:cNvPr id="17" name="Rectangle 16">
            <a:extLst>
              <a:ext uri="{FF2B5EF4-FFF2-40B4-BE49-F238E27FC236}">
                <a16:creationId xmlns:a16="http://schemas.microsoft.com/office/drawing/2014/main" id="{4B312871-D9C0-4475-BD6E-F852062533BC}"/>
              </a:ext>
            </a:extLst>
          </p:cNvPr>
          <p:cNvSpPr>
            <a:spLocks noGrp="1"/>
          </p:cNvSpPr>
          <p:nvPr/>
        </p:nvSpPr>
        <p:spPr>
          <a:xfrm>
            <a:off x="8324850" y="3314700"/>
            <a:ext cx="312420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300 trees</a:t>
            </a:r>
          </a:p>
          <a:p>
            <a:r>
              <a:rPr sz="1500" b="0">
                <a:solidFill>
                  <a:srgbClr val="61766A"/>
                </a:solidFill>
              </a:rPr>
              <a:t>max_samples = 256 or 1,024</a:t>
            </a:r>
          </a:p>
          <a:p>
            <a:r>
              <a:rPr sz="1500" b="0">
                <a:solidFill>
                  <a:srgbClr val="61766A"/>
                </a:solidFill>
              </a:rPr>
              <a:t>contamination = auto</a:t>
            </a:r>
          </a:p>
        </p:txBody>
      </p:sp>
      <p:sp>
        <p:nvSpPr>
          <p:cNvPr id="18" name="Rectangle: Rounded Corners 17">
            <a:extLst>
              <a:ext uri="{FF2B5EF4-FFF2-40B4-BE49-F238E27FC236}">
                <a16:creationId xmlns:a16="http://schemas.microsoft.com/office/drawing/2014/main" id="{7B74FC77-9EEB-4AD6-9EC6-4A0A86DB9F08}"/>
              </a:ext>
            </a:extLst>
          </p:cNvPr>
          <p:cNvSpPr>
            <a:spLocks noGrp="1"/>
          </p:cNvSpPr>
          <p:nvPr/>
        </p:nvSpPr>
        <p:spPr>
          <a:xfrm>
            <a:off x="533400" y="51720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19" name="Rectangle 18">
            <a:extLst>
              <a:ext uri="{FF2B5EF4-FFF2-40B4-BE49-F238E27FC236}">
                <a16:creationId xmlns:a16="http://schemas.microsoft.com/office/drawing/2014/main" id="{1DD014ED-AD25-449E-9AFD-E695D737E28C}"/>
              </a:ext>
            </a:extLst>
          </p:cNvPr>
          <p:cNvSpPr>
            <a:spLocks noGrp="1"/>
          </p:cNvSpPr>
          <p:nvPr/>
        </p:nvSpPr>
        <p:spPr>
          <a:xfrm>
            <a:off x="742950" y="53149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Score interpretation</a:t>
            </a:r>
          </a:p>
        </p:txBody>
      </p:sp>
      <p:sp>
        <p:nvSpPr>
          <p:cNvPr id="20" name="Rectangle 19">
            <a:extLst>
              <a:ext uri="{FF2B5EF4-FFF2-40B4-BE49-F238E27FC236}">
                <a16:creationId xmlns:a16="http://schemas.microsoft.com/office/drawing/2014/main" id="{0844BC60-6853-4851-B5C7-66C1A202C5DB}"/>
              </a:ext>
            </a:extLst>
          </p:cNvPr>
          <p:cNvSpPr>
            <a:spLocks noGrp="1"/>
          </p:cNvSpPr>
          <p:nvPr/>
        </p:nvSpPr>
        <p:spPr>
          <a:xfrm>
            <a:off x="3333750" y="53149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Percentiles use stored training references. They are not calibrated abuse probabilities.</a:t>
            </a:r>
          </a:p>
        </p:txBody>
      </p:sp>
    </p:spTree>
    <p:extLst>
      <p:ext uri="{BB962C8B-B14F-4D97-AF65-F5344CB8AC3E}">
        <p14:creationId xmlns:p14="http://schemas.microsoft.com/office/powerpoint/2010/main" val="1528709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6EF"/>
        </a:solidFill>
        <a:effectLst/>
      </p:bgPr>
    </p:bg>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5EFE895C-1933-4B8E-A357-2BDA42C5EFD9}"/>
              </a:ext>
            </a:extLst>
          </p:cNvPr>
          <p:cNvSpPr>
            <a:spLocks noGrp="1"/>
          </p:cNvSpPr>
          <p:nvPr>
            <p:ph type="sldNum" idx="12"/>
          </p:nvPr>
        </p:nvSpPr>
        <p:spPr>
          <a:xfrm>
            <a:off x="1524000" y="1122363"/>
            <a:ext cx="9144000" cy="2387600"/>
          </a:xfrm>
        </p:spPr>
        <p:txBody>
          <a:bodyPr/>
          <a:lstStyle/>
          <a:p>
            <a:endParaRPr/>
          </a:p>
        </p:txBody>
      </p:sp>
      <p:sp>
        <p:nvSpPr>
          <p:cNvPr id="2" name="Rectangle 1">
            <a:extLst>
              <a:ext uri="{FF2B5EF4-FFF2-40B4-BE49-F238E27FC236}">
                <a16:creationId xmlns:a16="http://schemas.microsoft.com/office/drawing/2014/main" id="{73E4D71E-D7F2-4348-96CC-F266154A58FB}"/>
              </a:ext>
            </a:extLst>
          </p:cNvPr>
          <p:cNvSpPr>
            <a:spLocks noGrp="1"/>
          </p:cNvSpPr>
          <p:nvPr/>
        </p:nvSpPr>
        <p:spPr>
          <a:xfrm>
            <a:off x="533400" y="266700"/>
            <a:ext cx="666750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1">
                <a:solidFill>
                  <a:srgbClr val="187257"/>
                </a:solidFill>
              </a:rPr>
              <a:t>ARAI  /  XHACK 2026</a:t>
            </a:r>
          </a:p>
        </p:txBody>
      </p:sp>
      <p:sp>
        <p:nvSpPr>
          <p:cNvPr id="3" name="Rectangle 2">
            <a:extLst>
              <a:ext uri="{FF2B5EF4-FFF2-40B4-BE49-F238E27FC236}">
                <a16:creationId xmlns:a16="http://schemas.microsoft.com/office/drawing/2014/main" id="{DBE593DE-E51D-4010-A400-C75F6C2CE331}"/>
              </a:ext>
            </a:extLst>
          </p:cNvPr>
          <p:cNvSpPr>
            <a:spLocks noGrp="1"/>
          </p:cNvSpPr>
          <p:nvPr/>
        </p:nvSpPr>
        <p:spPr>
          <a:xfrm>
            <a:off x="8743950" y="266700"/>
            <a:ext cx="29146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050" b="0">
                <a:solidFill>
                  <a:srgbClr val="61766A"/>
                </a:solidFill>
              </a:rPr>
              <a:t>BACKUP / SERVING DESIGN</a:t>
            </a:r>
          </a:p>
        </p:txBody>
      </p:sp>
      <p:sp>
        <p:nvSpPr>
          <p:cNvPr id="4" name="Rectangle 3">
            <a:extLst>
              <a:ext uri="{FF2B5EF4-FFF2-40B4-BE49-F238E27FC236}">
                <a16:creationId xmlns:a16="http://schemas.microsoft.com/office/drawing/2014/main" id="{67D478AE-C690-417E-B541-E3C1625C3E22}"/>
              </a:ext>
            </a:extLst>
          </p:cNvPr>
          <p:cNvSpPr>
            <a:spLocks noGrp="1"/>
          </p:cNvSpPr>
          <p:nvPr/>
        </p:nvSpPr>
        <p:spPr>
          <a:xfrm>
            <a:off x="533400" y="781050"/>
            <a:ext cx="11125200" cy="971550"/>
          </a:xfrm>
          <a:prstGeom prst="rect">
            <a:avLst/>
          </a:prstGeom>
          <a:solidFill>
            <a:srgbClr val="000000">
              <a:alpha val="0"/>
            </a:srgbClr>
          </a:solidFill>
          <a:ln w="9525">
            <a:solidFill>
              <a:srgbClr val="000000">
                <a:alpha val="0"/>
              </a:srgbClr>
            </a:solidFill>
            <a:prstDash val="solid"/>
          </a:ln>
        </p:spPr>
        <p:txBody>
          <a:bodyPr lIns="0" tIns="0" rIns="0" bIns="0" anchor="t"/>
          <a:lstStyle/>
          <a:p>
            <a:r>
              <a:rPr sz="3150" b="1">
                <a:solidFill>
                  <a:srgbClr val="153C32"/>
                </a:solidFill>
              </a:rPr>
              <a:t>Every result belongs to a reproducible run.</a:t>
            </a:r>
          </a:p>
        </p:txBody>
      </p:sp>
      <p:sp>
        <p:nvSpPr>
          <p:cNvPr id="5" name="Rectangle 4">
            <a:extLst>
              <a:ext uri="{FF2B5EF4-FFF2-40B4-BE49-F238E27FC236}">
                <a16:creationId xmlns:a16="http://schemas.microsoft.com/office/drawing/2014/main" id="{F005EC6F-4E53-4034-9FA1-910F035C5553}"/>
              </a:ext>
            </a:extLst>
          </p:cNvPr>
          <p:cNvSpPr>
            <a:spLocks noGrp="1"/>
          </p:cNvSpPr>
          <p:nvPr/>
        </p:nvSpPr>
        <p:spPr>
          <a:xfrm>
            <a:off x="533400" y="1781175"/>
            <a:ext cx="11125200" cy="5143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61766A"/>
                </a:solidFill>
              </a:rPr>
              <a:t>A portable local deployment is the first supported delivery target.</a:t>
            </a:r>
          </a:p>
        </p:txBody>
      </p:sp>
      <p:sp>
        <p:nvSpPr>
          <p:cNvPr id="6" name="Rectangle 5">
            <a:extLst>
              <a:ext uri="{FF2B5EF4-FFF2-40B4-BE49-F238E27FC236}">
                <a16:creationId xmlns:a16="http://schemas.microsoft.com/office/drawing/2014/main" id="{17F4C6DC-27C1-49BE-8F43-17329B783AA1}"/>
              </a:ext>
            </a:extLst>
          </p:cNvPr>
          <p:cNvSpPr>
            <a:spLocks noGrp="1"/>
          </p:cNvSpPr>
          <p:nvPr/>
        </p:nvSpPr>
        <p:spPr>
          <a:xfrm>
            <a:off x="533400" y="6334125"/>
            <a:ext cx="11125200" cy="9525"/>
          </a:xfrm>
          <a:prstGeom prst="rect">
            <a:avLst/>
          </a:prstGeom>
          <a:solidFill>
            <a:srgbClr val="D3DED1"/>
          </a:solidFill>
          <a:ln w="9525">
            <a:solidFill>
              <a:srgbClr val="D3DED1"/>
            </a:solidFill>
            <a:prstDash val="solid"/>
          </a:ln>
        </p:spPr>
        <p:txBody>
          <a:bodyPr/>
          <a:lstStyle/>
          <a:p>
            <a:endParaRPr lang="en-GB"/>
          </a:p>
        </p:txBody>
      </p:sp>
      <p:sp>
        <p:nvSpPr>
          <p:cNvPr id="7" name="Rectangle 6">
            <a:extLst>
              <a:ext uri="{FF2B5EF4-FFF2-40B4-BE49-F238E27FC236}">
                <a16:creationId xmlns:a16="http://schemas.microsoft.com/office/drawing/2014/main" id="{FAD77A8A-2EC7-47F9-A6D9-E78B4A5FE7D8}"/>
              </a:ext>
            </a:extLst>
          </p:cNvPr>
          <p:cNvSpPr>
            <a:spLocks noGrp="1"/>
          </p:cNvSpPr>
          <p:nvPr/>
        </p:nvSpPr>
        <p:spPr>
          <a:xfrm>
            <a:off x="533400" y="6496050"/>
            <a:ext cx="9429750" cy="190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900" b="0">
                <a:solidFill>
                  <a:srgbClr val="61766A"/>
                </a:solidFill>
              </a:rPr>
              <a:t>DESIGN PRESENTATION  •  28 SEPTEMBER 2026</a:t>
            </a:r>
          </a:p>
        </p:txBody>
      </p:sp>
      <p:sp>
        <p:nvSpPr>
          <p:cNvPr id="8" name="Rectangle 7">
            <a:extLst>
              <a:ext uri="{FF2B5EF4-FFF2-40B4-BE49-F238E27FC236}">
                <a16:creationId xmlns:a16="http://schemas.microsoft.com/office/drawing/2014/main" id="{64CA7079-B881-4C95-8775-EAD92E95E345}"/>
              </a:ext>
            </a:extLst>
          </p:cNvPr>
          <p:cNvSpPr>
            <a:spLocks noGrp="1"/>
          </p:cNvSpPr>
          <p:nvPr/>
        </p:nvSpPr>
        <p:spPr>
          <a:xfrm>
            <a:off x="11144250" y="6467475"/>
            <a:ext cx="514350" cy="238125"/>
          </a:xfrm>
          <a:prstGeom prst="rect">
            <a:avLst/>
          </a:prstGeom>
          <a:solidFill>
            <a:srgbClr val="000000">
              <a:alpha val="0"/>
            </a:srgbClr>
          </a:solidFill>
          <a:ln w="9525">
            <a:solidFill>
              <a:srgbClr val="000000">
                <a:alpha val="0"/>
              </a:srgbClr>
            </a:solidFill>
            <a:prstDash val="solid"/>
          </a:ln>
        </p:spPr>
        <p:txBody>
          <a:bodyPr lIns="0" tIns="0" rIns="0" bIns="0" anchor="t"/>
          <a:lstStyle/>
          <a:p>
            <a:r>
              <a:rPr sz="1200" b="1">
                <a:solidFill>
                  <a:srgbClr val="187257"/>
                </a:solidFill>
              </a:rPr>
              <a:t>16</a:t>
            </a:r>
          </a:p>
        </p:txBody>
      </p:sp>
      <p:sp>
        <p:nvSpPr>
          <p:cNvPr id="9" name="Rectangle: Rounded Corners 8">
            <a:extLst>
              <a:ext uri="{FF2B5EF4-FFF2-40B4-BE49-F238E27FC236}">
                <a16:creationId xmlns:a16="http://schemas.microsoft.com/office/drawing/2014/main" id="{05DC3CEC-A667-4820-B616-F4C6B4E9E4F0}"/>
              </a:ext>
            </a:extLst>
          </p:cNvPr>
          <p:cNvSpPr>
            <a:spLocks noGrp="1"/>
          </p:cNvSpPr>
          <p:nvPr/>
        </p:nvSpPr>
        <p:spPr>
          <a:xfrm>
            <a:off x="53340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0" name="Rectangle 9">
            <a:extLst>
              <a:ext uri="{FF2B5EF4-FFF2-40B4-BE49-F238E27FC236}">
                <a16:creationId xmlns:a16="http://schemas.microsoft.com/office/drawing/2014/main" id="{E3465B94-E5A7-40ED-8960-EAA62801AA74}"/>
              </a:ext>
            </a:extLst>
          </p:cNvPr>
          <p:cNvSpPr>
            <a:spLocks noGrp="1"/>
          </p:cNvSpPr>
          <p:nvPr/>
        </p:nvSpPr>
        <p:spPr>
          <a:xfrm>
            <a:off x="74295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Register</a:t>
            </a:r>
          </a:p>
        </p:txBody>
      </p:sp>
      <p:sp>
        <p:nvSpPr>
          <p:cNvPr id="11" name="Rectangle 10">
            <a:extLst>
              <a:ext uri="{FF2B5EF4-FFF2-40B4-BE49-F238E27FC236}">
                <a16:creationId xmlns:a16="http://schemas.microsoft.com/office/drawing/2014/main" id="{2433CF57-DA4F-4D8D-8E5A-926521382503}"/>
              </a:ext>
            </a:extLst>
          </p:cNvPr>
          <p:cNvSpPr>
            <a:spLocks noGrp="1"/>
          </p:cNvSpPr>
          <p:nvPr/>
        </p:nvSpPr>
        <p:spPr>
          <a:xfrm>
            <a:off x="74295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Seven CSVs + manifest; validate schema and hashes</a:t>
            </a:r>
          </a:p>
        </p:txBody>
      </p:sp>
      <p:sp>
        <p:nvSpPr>
          <p:cNvPr id="12" name="Arrow: Right 11">
            <a:extLst>
              <a:ext uri="{FF2B5EF4-FFF2-40B4-BE49-F238E27FC236}">
                <a16:creationId xmlns:a16="http://schemas.microsoft.com/office/drawing/2014/main" id="{9A5FAE82-708D-4E9F-9505-FB995EE61FC1}"/>
              </a:ext>
            </a:extLst>
          </p:cNvPr>
          <p:cNvSpPr>
            <a:spLocks noGrp="1"/>
          </p:cNvSpPr>
          <p:nvPr/>
        </p:nvSpPr>
        <p:spPr>
          <a:xfrm>
            <a:off x="3181350" y="3571875"/>
            <a:ext cx="152400" cy="171450"/>
          </a:xfrm>
          <a:prstGeom prst="rightArrow">
            <a:avLst/>
          </a:prstGeom>
          <a:solidFill>
            <a:srgbClr val="187257"/>
          </a:solidFill>
          <a:ln w="0">
            <a:solidFill>
              <a:srgbClr val="187257"/>
            </a:solidFill>
          </a:ln>
        </p:spPr>
        <p:txBody>
          <a:bodyPr/>
          <a:lstStyle/>
          <a:p>
            <a:endParaRPr lang="en-GB"/>
          </a:p>
        </p:txBody>
      </p:sp>
      <p:sp>
        <p:nvSpPr>
          <p:cNvPr id="13" name="Rectangle: Rounded Corners 12">
            <a:extLst>
              <a:ext uri="{FF2B5EF4-FFF2-40B4-BE49-F238E27FC236}">
                <a16:creationId xmlns:a16="http://schemas.microsoft.com/office/drawing/2014/main" id="{CA24ABCB-84D7-4773-BBB2-3D4825F97A15}"/>
              </a:ext>
            </a:extLst>
          </p:cNvPr>
          <p:cNvSpPr>
            <a:spLocks noGrp="1"/>
          </p:cNvSpPr>
          <p:nvPr/>
        </p:nvSpPr>
        <p:spPr>
          <a:xfrm>
            <a:off x="337185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14" name="Rectangle 13">
            <a:extLst>
              <a:ext uri="{FF2B5EF4-FFF2-40B4-BE49-F238E27FC236}">
                <a16:creationId xmlns:a16="http://schemas.microsoft.com/office/drawing/2014/main" id="{70300410-3381-44A2-8807-4E0FC4AB677A}"/>
              </a:ext>
            </a:extLst>
          </p:cNvPr>
          <p:cNvSpPr>
            <a:spLocks noGrp="1"/>
          </p:cNvSpPr>
          <p:nvPr/>
        </p:nvSpPr>
        <p:spPr>
          <a:xfrm>
            <a:off x="358140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Submit</a:t>
            </a:r>
          </a:p>
        </p:txBody>
      </p:sp>
      <p:sp>
        <p:nvSpPr>
          <p:cNvPr id="15" name="Rectangle 14">
            <a:extLst>
              <a:ext uri="{FF2B5EF4-FFF2-40B4-BE49-F238E27FC236}">
                <a16:creationId xmlns:a16="http://schemas.microsoft.com/office/drawing/2014/main" id="{588034C9-4B0B-437D-BA01-532AB7C09366}"/>
              </a:ext>
            </a:extLst>
          </p:cNvPr>
          <p:cNvSpPr>
            <a:spLocks noGrp="1"/>
          </p:cNvSpPr>
          <p:nvPr/>
        </p:nvSpPr>
        <p:spPr>
          <a:xfrm>
            <a:off x="358140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Dataset and model identity; idempotent request</a:t>
            </a:r>
          </a:p>
        </p:txBody>
      </p:sp>
      <p:sp>
        <p:nvSpPr>
          <p:cNvPr id="16" name="Arrow: Right 15">
            <a:extLst>
              <a:ext uri="{FF2B5EF4-FFF2-40B4-BE49-F238E27FC236}">
                <a16:creationId xmlns:a16="http://schemas.microsoft.com/office/drawing/2014/main" id="{3E22AD84-AEDE-4E2E-ACC8-F78CE06DF199}"/>
              </a:ext>
            </a:extLst>
          </p:cNvPr>
          <p:cNvSpPr>
            <a:spLocks noGrp="1"/>
          </p:cNvSpPr>
          <p:nvPr/>
        </p:nvSpPr>
        <p:spPr>
          <a:xfrm>
            <a:off x="6019800" y="3571875"/>
            <a:ext cx="152400" cy="171450"/>
          </a:xfrm>
          <a:prstGeom prst="rightArrow">
            <a:avLst/>
          </a:prstGeom>
          <a:solidFill>
            <a:srgbClr val="187257"/>
          </a:solidFill>
          <a:ln w="0">
            <a:solidFill>
              <a:srgbClr val="187257"/>
            </a:solidFill>
          </a:ln>
        </p:spPr>
        <p:txBody>
          <a:bodyPr/>
          <a:lstStyle/>
          <a:p>
            <a:endParaRPr lang="en-GB"/>
          </a:p>
        </p:txBody>
      </p:sp>
      <p:sp>
        <p:nvSpPr>
          <p:cNvPr id="17" name="Rectangle: Rounded Corners 16">
            <a:extLst>
              <a:ext uri="{FF2B5EF4-FFF2-40B4-BE49-F238E27FC236}">
                <a16:creationId xmlns:a16="http://schemas.microsoft.com/office/drawing/2014/main" id="{4EB2A63D-4F7F-4004-9E6E-3656532BFF9B}"/>
              </a:ext>
            </a:extLst>
          </p:cNvPr>
          <p:cNvSpPr>
            <a:spLocks noGrp="1"/>
          </p:cNvSpPr>
          <p:nvPr/>
        </p:nvSpPr>
        <p:spPr>
          <a:xfrm>
            <a:off x="6210300" y="2590800"/>
            <a:ext cx="2609850" cy="2190750"/>
          </a:xfrm>
          <a:prstGeom prst="roundRect">
            <a:avLst>
              <a:gd name="adj" fmla="val 3478"/>
            </a:avLst>
          </a:prstGeom>
          <a:solidFill>
            <a:srgbClr val="DDEBDD"/>
          </a:solidFill>
          <a:ln w="9525">
            <a:solidFill>
              <a:srgbClr val="D3DED1"/>
            </a:solidFill>
            <a:prstDash val="solid"/>
          </a:ln>
        </p:spPr>
        <p:txBody>
          <a:bodyPr/>
          <a:lstStyle/>
          <a:p>
            <a:endParaRPr lang="en-GB"/>
          </a:p>
        </p:txBody>
      </p:sp>
      <p:sp>
        <p:nvSpPr>
          <p:cNvPr id="18" name="Rectangle 17">
            <a:extLst>
              <a:ext uri="{FF2B5EF4-FFF2-40B4-BE49-F238E27FC236}">
                <a16:creationId xmlns:a16="http://schemas.microsoft.com/office/drawing/2014/main" id="{06B38B59-FA07-479B-8035-46E5821DD882}"/>
              </a:ext>
            </a:extLst>
          </p:cNvPr>
          <p:cNvSpPr>
            <a:spLocks noGrp="1"/>
          </p:cNvSpPr>
          <p:nvPr/>
        </p:nvSpPr>
        <p:spPr>
          <a:xfrm>
            <a:off x="641985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Execute</a:t>
            </a:r>
          </a:p>
        </p:txBody>
      </p:sp>
      <p:sp>
        <p:nvSpPr>
          <p:cNvPr id="19" name="Rectangle 18">
            <a:extLst>
              <a:ext uri="{FF2B5EF4-FFF2-40B4-BE49-F238E27FC236}">
                <a16:creationId xmlns:a16="http://schemas.microsoft.com/office/drawing/2014/main" id="{890CF81F-B720-4541-9F77-D972AC47EDAD}"/>
              </a:ext>
            </a:extLst>
          </p:cNvPr>
          <p:cNvSpPr>
            <a:spLocks noGrp="1"/>
          </p:cNvSpPr>
          <p:nvPr/>
        </p:nvSpPr>
        <p:spPr>
          <a:xfrm>
            <a:off x="641985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One worker; frozen features and bundle; atomic publication</a:t>
            </a:r>
          </a:p>
        </p:txBody>
      </p:sp>
      <p:sp>
        <p:nvSpPr>
          <p:cNvPr id="20" name="Arrow: Right 19">
            <a:extLst>
              <a:ext uri="{FF2B5EF4-FFF2-40B4-BE49-F238E27FC236}">
                <a16:creationId xmlns:a16="http://schemas.microsoft.com/office/drawing/2014/main" id="{8FB99638-CF1F-4310-9D02-A104FFF0902C}"/>
              </a:ext>
            </a:extLst>
          </p:cNvPr>
          <p:cNvSpPr>
            <a:spLocks noGrp="1"/>
          </p:cNvSpPr>
          <p:nvPr/>
        </p:nvSpPr>
        <p:spPr>
          <a:xfrm>
            <a:off x="8858250" y="3571875"/>
            <a:ext cx="152400" cy="171450"/>
          </a:xfrm>
          <a:prstGeom prst="rightArrow">
            <a:avLst/>
          </a:prstGeom>
          <a:solidFill>
            <a:srgbClr val="187257"/>
          </a:solidFill>
          <a:ln w="0">
            <a:solidFill>
              <a:srgbClr val="187257"/>
            </a:solidFill>
          </a:ln>
        </p:spPr>
        <p:txBody>
          <a:bodyPr/>
          <a:lstStyle/>
          <a:p>
            <a:endParaRPr lang="en-GB"/>
          </a:p>
        </p:txBody>
      </p:sp>
      <p:sp>
        <p:nvSpPr>
          <p:cNvPr id="21" name="Rectangle: Rounded Corners 20">
            <a:extLst>
              <a:ext uri="{FF2B5EF4-FFF2-40B4-BE49-F238E27FC236}">
                <a16:creationId xmlns:a16="http://schemas.microsoft.com/office/drawing/2014/main" id="{F353CD30-CA55-4CD9-97AF-D2A9470917A5}"/>
              </a:ext>
            </a:extLst>
          </p:cNvPr>
          <p:cNvSpPr>
            <a:spLocks noGrp="1"/>
          </p:cNvSpPr>
          <p:nvPr/>
        </p:nvSpPr>
        <p:spPr>
          <a:xfrm>
            <a:off x="9048750" y="2590800"/>
            <a:ext cx="2609850" cy="2190750"/>
          </a:xfrm>
          <a:prstGeom prst="roundRect">
            <a:avLst>
              <a:gd name="adj" fmla="val 3478"/>
            </a:avLst>
          </a:prstGeom>
          <a:solidFill>
            <a:srgbClr val="FFFFFF"/>
          </a:solidFill>
          <a:ln w="9525">
            <a:solidFill>
              <a:srgbClr val="D3DED1"/>
            </a:solidFill>
            <a:prstDash val="solid"/>
          </a:ln>
        </p:spPr>
        <p:txBody>
          <a:bodyPr/>
          <a:lstStyle/>
          <a:p>
            <a:endParaRPr lang="en-GB"/>
          </a:p>
        </p:txBody>
      </p:sp>
      <p:sp>
        <p:nvSpPr>
          <p:cNvPr id="22" name="Rectangle 21">
            <a:extLst>
              <a:ext uri="{FF2B5EF4-FFF2-40B4-BE49-F238E27FC236}">
                <a16:creationId xmlns:a16="http://schemas.microsoft.com/office/drawing/2014/main" id="{06B35618-685C-40E5-A914-FB64F1427A07}"/>
              </a:ext>
            </a:extLst>
          </p:cNvPr>
          <p:cNvSpPr>
            <a:spLocks noGrp="1"/>
          </p:cNvSpPr>
          <p:nvPr/>
        </p:nvSpPr>
        <p:spPr>
          <a:xfrm>
            <a:off x="9258300" y="2781300"/>
            <a:ext cx="219075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725" b="1">
                <a:solidFill>
                  <a:srgbClr val="153C32"/>
                </a:solidFill>
              </a:rPr>
              <a:t>Review</a:t>
            </a:r>
          </a:p>
        </p:txBody>
      </p:sp>
      <p:sp>
        <p:nvSpPr>
          <p:cNvPr id="23" name="Rectangle 22">
            <a:extLst>
              <a:ext uri="{FF2B5EF4-FFF2-40B4-BE49-F238E27FC236}">
                <a16:creationId xmlns:a16="http://schemas.microsoft.com/office/drawing/2014/main" id="{F6AA388A-B1F2-4361-A43D-7E2EC96BBB92}"/>
              </a:ext>
            </a:extLst>
          </p:cNvPr>
          <p:cNvSpPr>
            <a:spLocks noGrp="1"/>
          </p:cNvSpPr>
          <p:nvPr/>
        </p:nvSpPr>
        <p:spPr>
          <a:xfrm>
            <a:off x="9258300" y="3390900"/>
            <a:ext cx="2190750" cy="12954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00" b="0">
                <a:solidFill>
                  <a:srgbClr val="61766A"/>
                </a:solidFill>
              </a:rPr>
              <a:t>Immutable outputs with append-only analyst notes</a:t>
            </a:r>
          </a:p>
        </p:txBody>
      </p:sp>
      <p:sp>
        <p:nvSpPr>
          <p:cNvPr id="24" name="Rectangle: Rounded Corners 23">
            <a:extLst>
              <a:ext uri="{FF2B5EF4-FFF2-40B4-BE49-F238E27FC236}">
                <a16:creationId xmlns:a16="http://schemas.microsoft.com/office/drawing/2014/main" id="{A237D26C-3138-40B5-AE09-42500A4BCFA4}"/>
              </a:ext>
            </a:extLst>
          </p:cNvPr>
          <p:cNvSpPr>
            <a:spLocks noGrp="1"/>
          </p:cNvSpPr>
          <p:nvPr/>
        </p:nvSpPr>
        <p:spPr>
          <a:xfrm>
            <a:off x="533400" y="5286375"/>
            <a:ext cx="11125200" cy="847725"/>
          </a:xfrm>
          <a:prstGeom prst="roundRect">
            <a:avLst>
              <a:gd name="adj" fmla="val 8989"/>
            </a:avLst>
          </a:prstGeom>
          <a:solidFill>
            <a:srgbClr val="DDEBDD"/>
          </a:solidFill>
          <a:ln w="9525">
            <a:solidFill>
              <a:srgbClr val="DDEBDD"/>
            </a:solidFill>
            <a:prstDash val="solid"/>
          </a:ln>
        </p:spPr>
        <p:txBody>
          <a:bodyPr/>
          <a:lstStyle/>
          <a:p>
            <a:endParaRPr lang="en-GB"/>
          </a:p>
        </p:txBody>
      </p:sp>
      <p:sp>
        <p:nvSpPr>
          <p:cNvPr id="25" name="Rectangle 24">
            <a:extLst>
              <a:ext uri="{FF2B5EF4-FFF2-40B4-BE49-F238E27FC236}">
                <a16:creationId xmlns:a16="http://schemas.microsoft.com/office/drawing/2014/main" id="{BC6AE914-7FDA-40FF-B3AE-87C52E1D0609}"/>
              </a:ext>
            </a:extLst>
          </p:cNvPr>
          <p:cNvSpPr>
            <a:spLocks noGrp="1"/>
          </p:cNvSpPr>
          <p:nvPr/>
        </p:nvSpPr>
        <p:spPr>
          <a:xfrm>
            <a:off x="742950" y="5429250"/>
            <a:ext cx="2476500" cy="55245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1">
                <a:solidFill>
                  <a:srgbClr val="187257"/>
                </a:solidFill>
              </a:rPr>
              <a:t>Operational safeguards</a:t>
            </a:r>
          </a:p>
        </p:txBody>
      </p:sp>
      <p:sp>
        <p:nvSpPr>
          <p:cNvPr id="26" name="Rectangle 25">
            <a:extLst>
              <a:ext uri="{FF2B5EF4-FFF2-40B4-BE49-F238E27FC236}">
                <a16:creationId xmlns:a16="http://schemas.microsoft.com/office/drawing/2014/main" id="{5AC58030-BDCB-4C96-AB58-6A39AB1035AB}"/>
              </a:ext>
            </a:extLst>
          </p:cNvPr>
          <p:cNvSpPr>
            <a:spLocks noGrp="1"/>
          </p:cNvSpPr>
          <p:nvPr/>
        </p:nvSpPr>
        <p:spPr>
          <a:xfrm>
            <a:off x="3333750" y="5429250"/>
            <a:ext cx="8096250" cy="571500"/>
          </a:xfrm>
          <a:prstGeom prst="rect">
            <a:avLst/>
          </a:prstGeom>
          <a:solidFill>
            <a:srgbClr val="000000">
              <a:alpha val="0"/>
            </a:srgbClr>
          </a:solidFill>
          <a:ln w="9525">
            <a:solidFill>
              <a:srgbClr val="000000">
                <a:alpha val="0"/>
              </a:srgbClr>
            </a:solidFill>
            <a:prstDash val="solid"/>
          </a:ln>
        </p:spPr>
        <p:txBody>
          <a:bodyPr lIns="0" tIns="0" rIns="0" bIns="0" anchor="t"/>
          <a:lstStyle/>
          <a:p>
            <a:r>
              <a:rPr sz="1575" b="0">
                <a:solidFill>
                  <a:srgbClr val="153C32"/>
                </a:solidFill>
              </a:rPr>
              <a:t>Durable run states, retry and crash recovery, versioned artifacts, externalized configuration.</a:t>
            </a:r>
          </a:p>
        </p:txBody>
      </p:sp>
    </p:spTree>
    <p:extLst>
      <p:ext uri="{BB962C8B-B14F-4D97-AF65-F5344CB8AC3E}">
        <p14:creationId xmlns:p14="http://schemas.microsoft.com/office/powerpoint/2010/main" val="36056605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3352</Words>
  <Application>Microsoft Office PowerPoint</Application>
  <DocSecurity>0</DocSecurity>
  <PresentationFormat>Widescreen</PresentationFormat>
  <Paragraphs>388</Paragraphs>
  <Slides>16</Slides>
  <Notes>16</Notes>
  <HiddenSlides>3</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Pragatheeswaran Chandrasekaran</cp:lastModifiedBy>
  <cp:revision>2</cp:revision>
  <dcterms:created xsi:type="dcterms:W3CDTF">2026-09-26T17:42:50Z</dcterms:created>
  <dcterms:modified xsi:type="dcterms:W3CDTF">2026-09-28T10:35:43Z</dcterms:modified>
</cp:coreProperties>
</file>